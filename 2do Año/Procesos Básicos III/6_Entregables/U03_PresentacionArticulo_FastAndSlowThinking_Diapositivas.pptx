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 experimento" id="{bb5c2cf5-dc4e-a4ed-5a27-684ffc3da75a}">
          <p14:sldIdLst>
            <p14:sldId id="256"/>
            <p14:sldId id="257"/>
            <p14:sldId id="258"/>
            <p14:sldId id="259"/>
          </p14:sldIdLst>
        </p14:section>
        <p14:section name="Propuesta y aciertos" id="{5a0703af-ef70-8753-9b07-9c7d8817794e}">
          <p14:sldIdLst>
            <p14:sldId id="260"/>
            <p14:sldId id="261"/>
            <p14:sldId id="262"/>
          </p14:sldIdLst>
        </p14:section>
        <p14:section name="Críticas teóricas" id="{b873d0fa-bee3-9d28-cfce-fd2a0e343d9f}">
          <p14:sldIdLst>
            <p14:sldId id="263"/>
            <p14:sldId id="264"/>
          </p14:sldIdLst>
        </p14:section>
        <p14:section name="Cierre" id="{353b8072-4536-0dd9-3c42-eba93df7c1fc}">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2A3F"/>
                </a:solidFill>
                <a:latin typeface="+mn-lt"/>
              </a:defRPr>
            </a:pPr>
            <a:r>
              <a:rPr sz="1400" b="0" i="0" u="none" strike="noStrike">
                <a:solidFill>
                  <a:srgbClr val="262A3F"/>
                </a:solidFill>
                <a:latin typeface="+mn-lt"/>
              </a:rPr>
              <a:t>Acierto en tareas de sesgo (%)</a:t>
            </a:r>
          </a:p>
        </c:rich>
      </c:tx>
      <c:layout/>
      <c:overlay val="0"/>
    </c:title>
    <c:autoTitleDeleted val="0"/>
    <c:plotArea>
      <c:layout/>
      <c:barChart>
        <c:barDir val="col"/>
        <c:grouping val="clustered"/>
        <c:varyColors val="0"/>
        <c:ser>
          <c:idx val="0"/>
          <c:order val="0"/>
          <c:tx>
            <c:strRef>
              <c:f>Sheet1!$B$1</c:f>
              <c:strCache>
                <c:ptCount val="1"/>
                <c:pt idx="0">
                  <c:v>Acierto en tareas de sesgo</c:v>
                </c:pt>
              </c:strCache>
            </c:strRef>
          </c:tx>
          <c:spPr>
            <a:solidFill>
              <a:srgbClr val="2A8C82"/>
            </a:solidFill>
            <a:effectLst/>
          </c:spPr>
          <c:invertIfNegative val="0"/>
          <c:dLbls>
            <c:numFmt formatCode="0&quot;%&quot;" sourceLinked="0"/>
            <c:txPr>
              <a:bodyPr/>
              <a:lstStyle/>
              <a:p>
                <a:pPr>
                  <a:defRPr b="1" i="0" strike="noStrike" sz="1600" u="none">
                    <a:solidFill>
                      <a:srgbClr val="262A3F"/>
                    </a:solidFill>
                    <a:latin typeface="+mn-lt"/>
                  </a:defRPr>
                </a:pPr>
              </a:p>
            </c:txPr>
            <c:showLegendKey val="0"/>
            <c:showVal val="1"/>
            <c:showCatName val="0"/>
            <c:showSerName val="0"/>
            <c:showPercent val="0"/>
            <c:showBubbleSize val="0"/>
            <c:showLeaderLines val="0"/>
          </c:dLbls>
          <c:dPt>
            <c:idx val="0"/>
            <c:invertIfNegative val="0"/>
            <c:bubble3D val="0"/>
            <c:spPr>
              <a:solidFill>
                <a:srgbClr val="2A8C82"/>
              </a:solidFill>
              <a:effectLst/>
            </c:spPr>
          </c:dPt>
          <c:dPt>
            <c:idx val="1"/>
            <c:invertIfNegative val="0"/>
            <c:bubble3D val="0"/>
            <c:spPr>
              <a:solidFill>
                <a:srgbClr val="E9A23B"/>
              </a:solidFill>
              <a:effectLst/>
            </c:spPr>
          </c:dPt>
          <c:cat>
            <c:multiLvlStrRef>
              <c:f>Sheet1!$A$2:$A$3</c:f>
              <c:multiLvlStrCache>
                <c:ptCount val="2"/>
                <c:lvl>
                  <c:pt idx="0">
                    <c:v>Sin restricción</c:v>
                  </c:pt>
                  <c:pt idx="1">
                    <c:v>Sin poder deliberar</c:v>
                  </c:pt>
                </c:lvl>
              </c:multiLvlStrCache>
            </c:multiLvlStrRef>
          </c:cat>
          <c:val>
            <c:numRef>
              <c:f>Sheet1!$B$2:$B$3</c:f>
              <c:numCache>
                <c:formatCode>General</c:formatCode>
                <c:ptCount val="2"/>
                <c:pt idx="0">
                  <c:v>62</c:v>
                </c:pt>
                <c:pt idx="1">
                  <c:v>52</c:v>
                </c:pt>
              </c:numCache>
            </c:numRef>
          </c:val>
        </c:ser>
        <c:dLbls>
          <c:numFmt formatCode="0&quot;%&quot;" sourceLinked="0"/>
          <c:txPr>
            <a:bodyPr/>
            <a:lstStyle/>
            <a:p>
              <a:pPr>
                <a:defRPr b="1" i="0" strike="noStrike" sz="1600" u="none">
                  <a:solidFill>
                    <a:srgbClr val="262A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262A3F"/>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1 · 0:15 (parte 1: 2:00)
Buenas tardes. Vamos a presentar Advancing theorizing about fast-and-slow thinking, de Wim De Neys, publicado en 2023 en Behavioral and Brain Sciences. Yo les cuento cómo se investigó; después vienen la propuesta, los aciertos y las críticas.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1 · 0:30
Todos conocemos la idea de los dos sistemas: el sistema 1, intuitivo, rápido y sin esfuerzo, y el sistema 2, deliberado, lento y costoso. De Neys cuestiona dos supuestos. La exclusividad: que la respuesta correcta solo la da el sistema 2, que tiene que corregir una intuición equivocada. Y el mecanismo de cambio: cómo sabe una persona, sola, cuándo dejar la intuición y ponerse a pensar.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1 · 0:45
El artículo es una revisión teórica, pero se apoya en un tipo de experimento. Por ejemplo: "Un bate y una pelota cuestan 1,10 dólares. El bate cuesta 1 dólar más que la pelota. ¿Cuánto cuesta la pelota?". La respuesta que salta es 10 centavos; la correcta es 5.
En el paradigma de dos respuestas, la persona responde dos veces. Primero, con presión de tiempo y haciendo a la vez una tarea de memoria, para que no pueda deliberar. Después, sin límite. Se miden el tiempo y la confianza, y se comparan problemas con conflicto, como este, y sin conflicto.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1 · 0:30
Tres resultados. Uno: impedir la deliberación baja el acierto mucho menos de lo esperado, de un 62 % a un 52 % (Lawson et al., 2020, como se citó en De Neys, 2023a). Dos: quienes aciertan al final ya acertaban en la respuesta intuitiva. Tres: incluso quienes se equivocan tardan más y confían menos cuando hay conflicto.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2 · 0:35 (parte 2: 2:00)
A partir de esos resultados, De Neys propone un modelo. El sistema 1 activa varias intuiciones de distinta fuerza, incluida la lógica. Un monitoreo intuitivo compara esas fuerzas: si son parecidas, la incertidumbre es alta y, pasado un umbral, se activa el sistema 2. La deliberación puede corregir, pero también solo justificar. Y una retroalimentación ajusta las intuiciones y apaga la deliberación. Conclusión: todo modelo dual viable tiene que ser no exclusivo.
[NO LEER] Si preguntan por la fórmula (ejemplo nuestro, no del texto): U = 1 − |I1 − I2|. Si la intuición "10 centavos" tiene fuerza 0,8 y la de "5 centavos" 0,3, U = 1 − 0,5 = 0,5. Si las dos valen 0,6, U = 1 − 0 = 1: máxima incertidumbre, y ahí se activa el sistema 2.
Si preguntan por qué los modelos anteriores no explican el cambio: si el sistema 2 vigila al 1, ya tendría que estar activo para detectar el conflicto; y un "sistema 3" que los compare lleva a una regresión infinita (De Neys, 2023a, pp.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2 · 1:25
El primer acierto es que hace explícito un supuesto que vimos en la materia: el de la teoría heurístico-analítica de Evans. Para Evans hay un estadio heurístico, preconsciente, que selecciona la información relevante, y uno analítico, donde se deduce. Los sesgos se atribuyen al primero y la competencia, al segundo (Valiña y Martín, 2014, pp. 19-20, 22). Esa es justamente la exclusividad, y De Neys muestra lo que a Evans le faltaba: qué hace que intervenga lo analítico. Además, que deliberar a veces solo justifique la intuición coincide con Evans: "las personas cometen errores en razonamiento porque piensan selectivamente" (Valiña y Martín, 2014, p. 20). Por ejemplo, alguien puede deliberar solo para encontrar razones a favor de los 10 centavos.
Hay un segundo aporte. A Tversky y Kahneman se les criticó que su teoría es más descriptiva que explicativa (Pérez Echeverría y Bautista, 2014, p. 18). De Neys, en cambio, propone un mecanismo —fuerza de las intuiciones, incertidumbre, umbral y retroalimentación— del que salen preguntas que se pueden poner a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3 · 2:00
El segundo acierto es la idea más original del modelo: que la respuesta lógica pueda volverse intuitiva con el aprendizaje. Es lo que vimos en razonamiento probabilístico.
Fischbein distingue intuiciones primarias, que surgen de la experiencia y se parecen a los sesgos de Tversky y Kahneman, de intuiciones secundarias, que se logran por instrucción y esfuerzo deliberado. Hogarth agrega que la intuición se puede y se debe educar hasta acercarse a la norma estadística (Pérez Echeverría y Bautista, 2014, pp. 7-8, 18). Y los expertos convierten lo deliberado en tácito: automatizan decisiones que antes les costaban (p. 20). Lo que para el novato es un problema, para el experto es un ejercicio (Pérez Echeverría, 2014, p. 16). Pensemos en un estudiante que al principio calcula una probabilidad paso a paso y, con práctica, la estima de un vistazo. La "intuición lógica" de De Neys sería, en estos términos, una intuición secundaria.
El otro acierto es metodológico. Pérez Echeverría critica que los heurísticos, que son implícitos, se estudiaran con tareas que piden respuestas declarativas, y pide la convergencia de métodos diversos (Pérez Echeverría y Bautista, 2014, pp. 18-19). De Neys combina cuatro: tiempos de respuesta, confianza, respuestas bajo carga y justificaciones. Y sus datos muestran justamente que lo implícito cuesta declararse: las respuestas correctas intuitivas son difíciles de justificar, a diferencia de las deliberadas (De Neys, 2023a, p. 12).
Pero el modelo también tiene puntos débiles, y de eso van a hablar mis compañeros.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4 · 2:00
La primera crítica es cómo separa el modelo la intuición de la deliberación. El propio De Neys reconoce que no existe un umbral que las separe, así que nunca se puede descartar algo de deliberación en la respuesta rápida (De Neys, 2023a, p. 5). Pensemos en el bate y la pelota: si alguien responde en dos segundos, ¿cómo sabemos que no pensó un poco? Y todo su argumento depende de que esa primera respuesta sea pura intuición.
En la materia vimos que la relación entre lo implícito y lo explícito es más un continuo que una dicotomía (Pérez Echeverría y Bautista, 2014, pp. 18-19), y que la diferencia entre lo deliberado y lo tácito es cuestión de grado (p. 19). Si es así, un modelo que enciende o apaga el sistema 2 al cruzar un umbral traza una frontera que la evidencia no permite trazar.
La segunda crítica: el modelo sigue siendo verbal. No fija valores para la fuerza de las intuiciones ni para el umbral (De Neys, 2023a, pp. 12, 14). Entonces puede explicar cualquier resultado después de que ocurre: si alguien acierta, su intuición lógica era fuerte; si se equivoca, era débil.
Es la misma crítica que se le hizo a Tversky y Kahneman: no se puede saber a priori qué heurístico va a actuar (Pérez Echeverría y Bautista, 2014, pp. 17-18). De Neys propone un mecanismo, pero todavía no uno que permita predecir.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5 · 1:20 (parte 5: 2:00)
La segunda crítica apunta a las tareas: toda la evidencia viene de problemas de laboratorio, bien definidos y con poco contenido, como el del bate y la pelota.
En solución de problemas, la investigación hizo el mismo camino: empezó con problemas sin contenido, que daban más control (Postigo Angón, 2014, p. 8), hasta que el enfoque de expertos y novatos mostró que resolver bien depende del conocimiento del dominio (Pérez Echeverría, 2014, p. 13). Y Pérez Echeverría advierte que estas tareas son muy artificiales y que quizás las normas matemáticas no son el mejor modelo (Pérez Echeverría y Bautista, 2014, p. 16). Entonces, ¿qué pasa con el modelo en los problemas mal definidos de la vida cotidiana, donde no hay respuesta correcta contra la cual medir? El autor lo admite como límite (De Neys, 2023b, p. 68).
Además, que la lógica se automatice tiene poca evidencia directa (De Neys, 2023a, p. 13), y el autor no usa la tradición de Fischbein, que podría darle sustento.
[NO LEER] Si preguntan qué sería "acertar" fuera del laboratorio: Evans distingue la racionalidad de proceso, ajustarse a una norma como la lógica, de la racionalidad de propósito, alcanzar los propios objetivos (Valiña y Martín, 2014, p. 21). En la vida cotidiana importa la segunda, y el modelo solo mide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EXPOSITOR/A 5 · 0:40
En síntesis: el artículo muestra que la exclusividad y el mecanismo de cambio son el mismo problema, y propone un modelo que conserva la distinción entre intuición y deliberación. Sus límites: es verbal, la automatización está poco probada y las tareas son artificiales.
Y les preguntamos: ¿les pasó que algo que al principio tenían que pensar con esfuerzo, después les saliera "solo"? Por ejemplo, en estadística. Esa respuesta automática, ¿es una intuición, como dice De Neys, o sigue siendo pensamiento deliberado, pero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no se expone. Queda a la vista durante el debate si el docente pregunta por las fuentes.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697480"/>
            <a:ext cx="8046720" cy="54864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ph idx="101" type="body" hasCustomPrompt="1"/>
          </p:nvPr>
        </p:nvSpPr>
        <p:spPr>
          <a:xfrm>
            <a:off x="457200" y="4727448"/>
            <a:ext cx="7772400" cy="274320"/>
          </a:xfrm>
          <a:prstGeom prst="rect">
            <a:avLst/>
          </a:prstGeom>
          <a:noFill/>
          <a:ln/>
        </p:spPr>
        <p:txBody>
          <a:bodyPr wrap="square" rtlCol="0"/>
          <a:lstStyle>
            <a:lvl1pPr indent="0" marL="0">
              <a:buNone/>
              <a:defRPr lang="en-US" sz="1000" i="1" dirty="0">
                <a:solidFill>
                  <a:schemeClr val="tx2"/>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8229600"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a de rol"/>
          <p:cNvSpPr/>
          <p:nvPr/>
        </p:nvSpPr>
        <p:spPr>
          <a:xfrm>
            <a:off x="457200" y="201168"/>
            <a:ext cx="3877056" cy="274320"/>
          </a:xfrm>
          <a:prstGeom prst="roundRect">
            <a:avLst>
              <a:gd name="adj" fmla="val 50000"/>
            </a:avLst>
          </a:prstGeom>
          <a:solidFill>
            <a:srgbClr val="E9A23B"/>
          </a:solidFill>
          <a:ln w="12700">
            <a:solidFill>
              <a:srgbClr val="E9A23B"/>
            </a:solidFill>
            <a:prstDash val="solid"/>
          </a:ln>
        </p:spPr>
      </p:sp>
      <p:sp>
        <p:nvSpPr>
          <p:cNvPr id="3" name="Texto de etiqueta"/>
          <p:cNvSpPr txBox="1"/>
          <p:nvPr/>
        </p:nvSpPr>
        <p:spPr>
          <a:xfrm>
            <a:off x="457200" y="201168"/>
            <a:ext cx="3877056" cy="274320"/>
          </a:xfrm>
          <a:prstGeom prst="rect">
            <a:avLst/>
          </a:prstGeom>
          <a:noFill/>
          <a:ln/>
        </p:spPr>
        <p:txBody>
          <a:bodyPr wrap="square" lIns="0" tIns="0" rIns="0" bIns="0" rtlCol="0" anchor="ctr"/>
          <a:lstStyle/>
          <a:p>
            <a:pPr algn="ctr" indent="0" marL="0">
              <a:buNone/>
            </a:pPr>
            <a:r>
              <a:rPr lang="en-US" sz="1100" b="1" spc="150" kern="0" dirty="0">
                <a:solidFill>
                  <a:schemeClr val="tx1"/>
                </a:solidFill>
              </a:rPr>
              <a:t>PROCESOS BÁSICOS III · PENSAMIENTO</a:t>
            </a:r>
            <a:endParaRPr lang="en-US" sz="1100" dirty="0"/>
          </a:p>
        </p:txBody>
      </p:sp>
      <p:sp>
        <p:nvSpPr>
          <p:cNvPr id="4" name="Text 0"/>
          <p:cNvSpPr/>
          <p:nvPr>
            <p:ph idx="100" type="title" hasCustomPrompt="1"/>
          </p:nvPr>
        </p:nvSpPr>
        <p:spPr>
          <a:xfrm>
            <a:off x="548640" y="1234440"/>
            <a:ext cx="8046720" cy="1371600"/>
          </a:xfrm>
          <a:prstGeom prst="rect">
            <a:avLst/>
          </a:prstGeom>
          <a:noFill/>
          <a:ln/>
        </p:spPr>
        <p:txBody>
          <a:bodyPr wrap="square" lIns="0" tIns="0" rIns="0" bIns="0" rtlCol="0" anchor="t"/>
          <a:lstStyle/>
          <a:p>
            <a:pPr algn="l" indent="0" marL="0">
              <a:buNone/>
            </a:pPr>
            <a:r>
              <a:rPr lang="en-US" sz="3600" b="1" dirty="0">
                <a:solidFill>
                  <a:schemeClr val="bg1"/>
                </a:solidFill>
              </a:rPr>
              <a:t>Advancing theorizing about</a:t>
            </a:r>
            <a:endParaRPr lang="en-US" sz="3600" dirty="0"/>
          </a:p>
          <a:p>
            <a:pPr algn="l" indent="0" marL="0">
              <a:buNone/>
            </a:pPr>
            <a:r>
              <a:rPr lang="en-US" sz="3600" b="1" dirty="0">
                <a:solidFill>
                  <a:schemeClr val="bg1"/>
                </a:solidFill>
              </a:rPr>
              <a:t>fast-and-slow thinking</a:t>
            </a:r>
            <a:endParaRPr lang="en-US" sz="3600" dirty="0"/>
          </a:p>
        </p:txBody>
      </p:sp>
      <p:sp>
        <p:nvSpPr>
          <p:cNvPr id="5" name="Text 0"/>
          <p:cNvSpPr/>
          <p:nvPr>
            <p:ph idx="101" type="body" hasCustomPrompt="1"/>
          </p:nvPr>
        </p:nvSpPr>
        <p:spPr>
          <a:xfrm>
            <a:off x="548640" y="2697480"/>
            <a:ext cx="8046720" cy="548640"/>
          </a:xfrm>
          <a:prstGeom prst="rect">
            <a:avLst/>
          </a:prstGeom>
          <a:noFill/>
          <a:ln/>
        </p:spPr>
        <p:txBody>
          <a:bodyPr wrap="square" lIns="0" tIns="0" rIns="0" bIns="0" rtlCol="0"/>
          <a:lstStyle/>
          <a:p>
            <a:pPr algn="l" indent="0" marL="0">
              <a:buNone/>
            </a:pPr>
            <a:r>
              <a:rPr lang="en-US" sz="1600" dirty="0">
                <a:solidFill>
                  <a:schemeClr val="accent6"/>
                </a:solidFill>
              </a:rPr>
              <a:t>De Neys (2023) · Behavioral and Brain Sciences, 46, e111</a:t>
            </a:r>
            <a:endParaRPr lang="en-US" sz="1600" dirty="0"/>
          </a:p>
        </p:txBody>
      </p:sp>
      <p:sp>
        <p:nvSpPr>
          <p:cNvPr id="6" name="Rol 1"/>
          <p:cNvSpPr/>
          <p:nvPr/>
        </p:nvSpPr>
        <p:spPr>
          <a:xfrm>
            <a:off x="548640" y="3886200"/>
            <a:ext cx="566928" cy="566928"/>
          </a:xfrm>
          <a:prstGeom prst="ellipse">
            <a:avLst/>
          </a:prstGeom>
          <a:solidFill>
            <a:srgbClr val="E9A23B"/>
          </a:solidFill>
          <a:ln w="12700">
            <a:solidFill>
              <a:srgbClr val="E9A23B"/>
            </a:solidFill>
            <a:prstDash val="solid"/>
          </a:ln>
        </p:spPr>
      </p:sp>
      <p:sp>
        <p:nvSpPr>
          <p:cNvPr id="7" name="Text 5"/>
          <p:cNvSpPr txBox="1"/>
          <p:nvPr/>
        </p:nvSpPr>
        <p:spPr>
          <a:xfrm>
            <a:off x="548640" y="388620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Text 6"/>
          <p:cNvSpPr txBox="1"/>
          <p:nvPr/>
        </p:nvSpPr>
        <p:spPr>
          <a:xfrm>
            <a:off x="1234440" y="3886200"/>
            <a:ext cx="1828800" cy="566928"/>
          </a:xfrm>
          <a:prstGeom prst="rect">
            <a:avLst/>
          </a:prstGeom>
          <a:noFill/>
          <a:ln/>
        </p:spPr>
        <p:txBody>
          <a:bodyPr wrap="square" lIns="0" tIns="0" rIns="0" bIns="0" rtlCol="0" anchor="ctr"/>
          <a:lstStyle/>
          <a:p>
            <a:pPr indent="0" marL="0">
              <a:buNone/>
            </a:pPr>
            <a:r>
              <a:rPr lang="en-US" sz="1500" dirty="0">
                <a:solidFill>
                  <a:schemeClr val="bg1"/>
                </a:solidFill>
              </a:rPr>
              <a:t>El experimento</a:t>
            </a:r>
            <a:endParaRPr lang="en-US" sz="1500" dirty="0"/>
          </a:p>
        </p:txBody>
      </p:sp>
      <p:sp>
        <p:nvSpPr>
          <p:cNvPr id="9" name="Rol 2 · 3"/>
          <p:cNvSpPr/>
          <p:nvPr/>
        </p:nvSpPr>
        <p:spPr>
          <a:xfrm>
            <a:off x="3246120" y="3886200"/>
            <a:ext cx="566928" cy="566928"/>
          </a:xfrm>
          <a:prstGeom prst="ellipse">
            <a:avLst/>
          </a:prstGeom>
          <a:solidFill>
            <a:srgbClr val="2A8C82"/>
          </a:solidFill>
          <a:ln w="12700">
            <a:solidFill>
              <a:srgbClr val="2A8C82"/>
            </a:solidFill>
            <a:prstDash val="solid"/>
          </a:ln>
        </p:spPr>
      </p:sp>
      <p:sp>
        <p:nvSpPr>
          <p:cNvPr id="10" name="Text 8"/>
          <p:cNvSpPr txBox="1"/>
          <p:nvPr/>
        </p:nvSpPr>
        <p:spPr>
          <a:xfrm>
            <a:off x="3246120" y="3886200"/>
            <a:ext cx="566928" cy="566928"/>
          </a:xfrm>
          <a:prstGeom prst="rect">
            <a:avLst/>
          </a:prstGeom>
          <a:noFill/>
          <a:ln/>
        </p:spPr>
        <p:txBody>
          <a:bodyPr wrap="square" lIns="0" tIns="0" rIns="0" bIns="0" rtlCol="0" anchor="ctr"/>
          <a:lstStyle/>
          <a:p>
            <a:pPr algn="ctr" indent="0" marL="0">
              <a:buNone/>
            </a:pPr>
            <a:r>
              <a:rPr lang="en-US" sz="1100" b="1" dirty="0">
                <a:solidFill>
                  <a:schemeClr val="tx1"/>
                </a:solidFill>
              </a:rPr>
              <a:t>2 · 3</a:t>
            </a:r>
            <a:endParaRPr lang="en-US" sz="1100" dirty="0"/>
          </a:p>
        </p:txBody>
      </p:sp>
      <p:sp>
        <p:nvSpPr>
          <p:cNvPr id="11" name="Text 9"/>
          <p:cNvSpPr txBox="1"/>
          <p:nvPr/>
        </p:nvSpPr>
        <p:spPr>
          <a:xfrm>
            <a:off x="3931920" y="3886200"/>
            <a:ext cx="1828800" cy="566928"/>
          </a:xfrm>
          <a:prstGeom prst="rect">
            <a:avLst/>
          </a:prstGeom>
          <a:noFill/>
          <a:ln/>
        </p:spPr>
        <p:txBody>
          <a:bodyPr wrap="square" lIns="0" tIns="0" rIns="0" bIns="0" rtlCol="0" anchor="ctr"/>
          <a:lstStyle/>
          <a:p>
            <a:pPr indent="0" marL="0">
              <a:buNone/>
            </a:pPr>
            <a:r>
              <a:rPr lang="en-US" sz="1500" dirty="0">
                <a:solidFill>
                  <a:schemeClr val="bg1"/>
                </a:solidFill>
              </a:rPr>
              <a:t>Propuesta y aciertos</a:t>
            </a:r>
            <a:endParaRPr lang="en-US" sz="1500" dirty="0"/>
          </a:p>
        </p:txBody>
      </p:sp>
      <p:sp>
        <p:nvSpPr>
          <p:cNvPr id="12" name="Rol 4 · 5"/>
          <p:cNvSpPr/>
          <p:nvPr/>
        </p:nvSpPr>
        <p:spPr>
          <a:xfrm>
            <a:off x="5943600" y="3886200"/>
            <a:ext cx="566928" cy="566928"/>
          </a:xfrm>
          <a:prstGeom prst="ellipse">
            <a:avLst/>
          </a:prstGeom>
          <a:solidFill>
            <a:srgbClr val="D2553F"/>
          </a:solidFill>
          <a:ln w="12700">
            <a:solidFill>
              <a:srgbClr val="D2553F"/>
            </a:solidFill>
            <a:prstDash val="solid"/>
          </a:ln>
        </p:spPr>
      </p:sp>
      <p:sp>
        <p:nvSpPr>
          <p:cNvPr id="13" name="Text 11"/>
          <p:cNvSpPr txBox="1"/>
          <p:nvPr/>
        </p:nvSpPr>
        <p:spPr>
          <a:xfrm>
            <a:off x="5943600" y="3886200"/>
            <a:ext cx="566928" cy="566928"/>
          </a:xfrm>
          <a:prstGeom prst="rect">
            <a:avLst/>
          </a:prstGeom>
          <a:noFill/>
          <a:ln/>
        </p:spPr>
        <p:txBody>
          <a:bodyPr wrap="square" lIns="0" tIns="0" rIns="0" bIns="0" rtlCol="0" anchor="ctr"/>
          <a:lstStyle/>
          <a:p>
            <a:pPr algn="ctr" indent="0" marL="0">
              <a:buNone/>
            </a:pPr>
            <a:r>
              <a:rPr lang="en-US" sz="1100" b="1" dirty="0">
                <a:solidFill>
                  <a:schemeClr val="tx1"/>
                </a:solidFill>
              </a:rPr>
              <a:t>4 · 5</a:t>
            </a:r>
            <a:endParaRPr lang="en-US" sz="1100" dirty="0"/>
          </a:p>
        </p:txBody>
      </p:sp>
      <p:sp>
        <p:nvSpPr>
          <p:cNvPr id="14" name="Text 12"/>
          <p:cNvSpPr txBox="1"/>
          <p:nvPr/>
        </p:nvSpPr>
        <p:spPr>
          <a:xfrm>
            <a:off x="6629400" y="3886200"/>
            <a:ext cx="1828800" cy="566928"/>
          </a:xfrm>
          <a:prstGeom prst="rect">
            <a:avLst/>
          </a:prstGeom>
          <a:noFill/>
          <a:ln/>
        </p:spPr>
        <p:txBody>
          <a:bodyPr wrap="square" lIns="0" tIns="0" rIns="0" bIns="0" rtlCol="0" anchor="ctr"/>
          <a:lstStyle/>
          <a:p>
            <a:pPr indent="0" marL="0">
              <a:buNone/>
            </a:pPr>
            <a:r>
              <a:rPr lang="en-US" sz="1500" dirty="0">
                <a:solidFill>
                  <a:schemeClr val="bg1"/>
                </a:solidFill>
              </a:rPr>
              <a:t>Críticas teóricas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tiqueta de rol"/>
          <p:cNvSpPr/>
          <p:nvPr/>
        </p:nvSpPr>
        <p:spPr>
          <a:xfrm>
            <a:off x="457200" y="201168"/>
            <a:ext cx="1865376" cy="274320"/>
          </a:xfrm>
          <a:prstGeom prst="roundRect">
            <a:avLst>
              <a:gd name="adj" fmla="val 50000"/>
            </a:avLst>
          </a:prstGeom>
          <a:solidFill>
            <a:srgbClr val="E9A23B"/>
          </a:solidFill>
          <a:ln w="12700">
            <a:solidFill>
              <a:srgbClr val="E9A23B"/>
            </a:solidFill>
            <a:prstDash val="solid"/>
          </a:ln>
        </p:spPr>
      </p:sp>
      <p:sp>
        <p:nvSpPr>
          <p:cNvPr id="3" name="Texto de etiqueta"/>
          <p:cNvSpPr txBox="1"/>
          <p:nvPr/>
        </p:nvSpPr>
        <p:spPr>
          <a:xfrm>
            <a:off x="457200" y="201168"/>
            <a:ext cx="1865376"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EL EXPERIMENTO</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Dos sistemas, dos supuestos en duda</a:t>
            </a:r>
            <a:endParaRPr lang="en-US" sz="2800" dirty="0"/>
          </a:p>
        </p:txBody>
      </p:sp>
      <p:sp>
        <p:nvSpPr>
          <p:cNvPr id="5" name="Sistema 1"/>
          <p:cNvSpPr/>
          <p:nvPr/>
        </p:nvSpPr>
        <p:spPr>
          <a:xfrm>
            <a:off x="457200" y="1417320"/>
            <a:ext cx="3566160" cy="1280160"/>
          </a:xfrm>
          <a:prstGeom prst="roundRect">
            <a:avLst>
              <a:gd name="adj" fmla="val 5714"/>
            </a:avLst>
          </a:prstGeom>
          <a:solidFill>
            <a:srgbClr val="F1F2F6"/>
          </a:solidFill>
          <a:ln w="12700">
            <a:solidFill>
              <a:srgbClr val="F1F2F6"/>
            </a:solidFill>
            <a:prstDash val="solid"/>
          </a:ln>
        </p:spPr>
      </p:sp>
      <p:pic>
        <p:nvPicPr>
          <p:cNvPr id="6" name="Image 0" descr="Sistema 1">    </p:cNvPr>
          <p:cNvPicPr>
            <a:picLocks noChangeAspect="1"/>
          </p:cNvPicPr>
          <p:nvPr/>
        </p:nvPicPr>
        <p:blipFill>
          <a:blip r:embed="rId1"/>
          <a:stretch>
            <a:fillRect/>
          </a:stretch>
        </p:blipFill>
        <p:spPr>
          <a:xfrm>
            <a:off x="685800" y="1801368"/>
            <a:ext cx="502920" cy="502920"/>
          </a:xfrm>
          <a:prstGeom prst="rect">
            <a:avLst/>
          </a:prstGeom>
        </p:spPr>
      </p:pic>
      <p:sp>
        <p:nvSpPr>
          <p:cNvPr id="7" name="Text 4"/>
          <p:cNvSpPr txBox="1"/>
          <p:nvPr/>
        </p:nvSpPr>
        <p:spPr>
          <a:xfrm>
            <a:off x="1417320" y="1645920"/>
            <a:ext cx="24688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Sistema 1</a:t>
            </a:r>
            <a:endParaRPr lang="en-US" sz="2000" dirty="0"/>
          </a:p>
        </p:txBody>
      </p:sp>
      <p:sp>
        <p:nvSpPr>
          <p:cNvPr id="8" name="Text 5"/>
          <p:cNvSpPr txBox="1"/>
          <p:nvPr/>
        </p:nvSpPr>
        <p:spPr>
          <a:xfrm>
            <a:off x="1417320" y="2075688"/>
            <a:ext cx="2514600" cy="411480"/>
          </a:xfrm>
          <a:prstGeom prst="rect">
            <a:avLst/>
          </a:prstGeom>
          <a:noFill/>
          <a:ln/>
        </p:spPr>
        <p:txBody>
          <a:bodyPr wrap="square" lIns="0" tIns="0" rIns="0" bIns="0" rtlCol="0" anchor="ctr"/>
          <a:lstStyle/>
          <a:p>
            <a:pPr indent="0" marL="0">
              <a:buNone/>
            </a:pPr>
            <a:r>
              <a:rPr lang="en-US" sz="1500" dirty="0">
                <a:solidFill>
                  <a:schemeClr val="tx2"/>
                </a:solidFill>
              </a:rPr>
              <a:t>Intuitivo · rápido · sin esfuerzo</a:t>
            </a:r>
            <a:endParaRPr lang="en-US" sz="1500" dirty="0"/>
          </a:p>
        </p:txBody>
      </p:sp>
      <p:sp>
        <p:nvSpPr>
          <p:cNvPr id="9" name="Sistema 2"/>
          <p:cNvSpPr/>
          <p:nvPr/>
        </p:nvSpPr>
        <p:spPr>
          <a:xfrm>
            <a:off x="457200" y="2926080"/>
            <a:ext cx="3566160" cy="1280160"/>
          </a:xfrm>
          <a:prstGeom prst="roundRect">
            <a:avLst>
              <a:gd name="adj" fmla="val 5714"/>
            </a:avLst>
          </a:prstGeom>
          <a:solidFill>
            <a:srgbClr val="F1F2F6"/>
          </a:solidFill>
          <a:ln w="12700">
            <a:solidFill>
              <a:srgbClr val="F1F2F6"/>
            </a:solidFill>
            <a:prstDash val="solid"/>
          </a:ln>
        </p:spPr>
      </p:sp>
      <p:pic>
        <p:nvPicPr>
          <p:cNvPr id="10" name="Image 1" descr="Sistema 2">    </p:cNvPr>
          <p:cNvPicPr>
            <a:picLocks noChangeAspect="1"/>
          </p:cNvPicPr>
          <p:nvPr/>
        </p:nvPicPr>
        <p:blipFill>
          <a:blip r:embed="rId2"/>
          <a:stretch>
            <a:fillRect/>
          </a:stretch>
        </p:blipFill>
        <p:spPr>
          <a:xfrm>
            <a:off x="685800" y="3310128"/>
            <a:ext cx="502920" cy="502920"/>
          </a:xfrm>
          <a:prstGeom prst="rect">
            <a:avLst/>
          </a:prstGeom>
        </p:spPr>
      </p:pic>
      <p:sp>
        <p:nvSpPr>
          <p:cNvPr id="11" name="Text 7"/>
          <p:cNvSpPr txBox="1"/>
          <p:nvPr/>
        </p:nvSpPr>
        <p:spPr>
          <a:xfrm>
            <a:off x="1417320" y="3154680"/>
            <a:ext cx="24688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Sistema 2</a:t>
            </a:r>
            <a:endParaRPr lang="en-US" sz="2000" dirty="0"/>
          </a:p>
        </p:txBody>
      </p:sp>
      <p:sp>
        <p:nvSpPr>
          <p:cNvPr id="12" name="Text 8"/>
          <p:cNvSpPr txBox="1"/>
          <p:nvPr/>
        </p:nvSpPr>
        <p:spPr>
          <a:xfrm>
            <a:off x="1417320" y="3584448"/>
            <a:ext cx="2514600" cy="411480"/>
          </a:xfrm>
          <a:prstGeom prst="rect">
            <a:avLst/>
          </a:prstGeom>
          <a:noFill/>
          <a:ln/>
        </p:spPr>
        <p:txBody>
          <a:bodyPr wrap="square" lIns="0" tIns="0" rIns="0" bIns="0" rtlCol="0" anchor="ctr"/>
          <a:lstStyle/>
          <a:p>
            <a:pPr indent="0" marL="0">
              <a:buNone/>
            </a:pPr>
            <a:r>
              <a:rPr lang="en-US" sz="1500" dirty="0">
                <a:solidFill>
                  <a:schemeClr val="tx2"/>
                </a:solidFill>
              </a:rPr>
              <a:t>Deliberado · lento · costoso</a:t>
            </a:r>
            <a:endParaRPr lang="en-US" sz="1500" dirty="0"/>
          </a:p>
        </p:txBody>
      </p:sp>
      <p:sp>
        <p:nvSpPr>
          <p:cNvPr id="13" name="Text 9"/>
          <p:cNvSpPr txBox="1"/>
          <p:nvPr/>
        </p:nvSpPr>
        <p:spPr>
          <a:xfrm>
            <a:off x="4480560" y="1417320"/>
            <a:ext cx="4206240" cy="320040"/>
          </a:xfrm>
          <a:prstGeom prst="rect">
            <a:avLst/>
          </a:prstGeom>
          <a:noFill/>
          <a:ln/>
        </p:spPr>
        <p:txBody>
          <a:bodyPr wrap="square" lIns="0" tIns="0" rIns="0" bIns="0" rtlCol="0" anchor="ctr"/>
          <a:lstStyle/>
          <a:p>
            <a:pPr indent="0" marL="0">
              <a:buNone/>
            </a:pPr>
            <a:r>
              <a:rPr lang="en-US" sz="1500" b="1" dirty="0">
                <a:solidFill>
                  <a:schemeClr val="tx2"/>
                </a:solidFill>
              </a:rPr>
              <a:t>De Neys cuestiona:</a:t>
            </a:r>
            <a:endParaRPr lang="en-US" sz="1500" dirty="0"/>
          </a:p>
        </p:txBody>
      </p:sp>
      <p:sp>
        <p:nvSpPr>
          <p:cNvPr id="14" name="Supuesto 1"/>
          <p:cNvSpPr/>
          <p:nvPr/>
        </p:nvSpPr>
        <p:spPr>
          <a:xfrm>
            <a:off x="4480560" y="1874520"/>
            <a:ext cx="457200" cy="457200"/>
          </a:xfrm>
          <a:prstGeom prst="ellipse">
            <a:avLst/>
          </a:prstGeom>
          <a:solidFill>
            <a:srgbClr val="262A3F"/>
          </a:solidFill>
          <a:ln w="12700">
            <a:solidFill>
              <a:srgbClr val="262A3F"/>
            </a:solidFill>
            <a:prstDash val="solid"/>
          </a:ln>
        </p:spPr>
      </p:sp>
      <p:sp>
        <p:nvSpPr>
          <p:cNvPr id="15" name="Text 11"/>
          <p:cNvSpPr txBox="1"/>
          <p:nvPr/>
        </p:nvSpPr>
        <p:spPr>
          <a:xfrm>
            <a:off x="448056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6" name="Text 12"/>
          <p:cNvSpPr txBox="1"/>
          <p:nvPr/>
        </p:nvSpPr>
        <p:spPr>
          <a:xfrm>
            <a:off x="5120640" y="1856232"/>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Exclusividad</a:t>
            </a:r>
            <a:endParaRPr lang="en-US" sz="1800" dirty="0"/>
          </a:p>
        </p:txBody>
      </p:sp>
      <p:sp>
        <p:nvSpPr>
          <p:cNvPr id="17" name="Text 13"/>
          <p:cNvSpPr txBox="1"/>
          <p:nvPr/>
        </p:nvSpPr>
        <p:spPr>
          <a:xfrm>
            <a:off x="5120640" y="2240280"/>
            <a:ext cx="3566160" cy="731520"/>
          </a:xfrm>
          <a:prstGeom prst="rect">
            <a:avLst/>
          </a:prstGeom>
          <a:noFill/>
          <a:ln/>
        </p:spPr>
        <p:txBody>
          <a:bodyPr wrap="square" lIns="0" tIns="0" rIns="0" bIns="0" rtlCol="0" anchor="t"/>
          <a:lstStyle/>
          <a:p>
            <a:pPr indent="0" marL="0">
              <a:buNone/>
            </a:pPr>
            <a:r>
              <a:rPr lang="en-US" sz="1400" dirty="0">
                <a:solidFill>
                  <a:schemeClr val="tx1"/>
                </a:solidFill>
              </a:rPr>
              <a:t>La respuesta correcta solo la da el sistema 2: acertar exige corregir la intuición.</a:t>
            </a:r>
            <a:endParaRPr lang="en-US" sz="1400" dirty="0"/>
          </a:p>
        </p:txBody>
      </p:sp>
      <p:sp>
        <p:nvSpPr>
          <p:cNvPr id="18" name="Supuesto 2"/>
          <p:cNvSpPr/>
          <p:nvPr/>
        </p:nvSpPr>
        <p:spPr>
          <a:xfrm>
            <a:off x="4480560" y="3200400"/>
            <a:ext cx="457200" cy="457200"/>
          </a:xfrm>
          <a:prstGeom prst="ellipse">
            <a:avLst/>
          </a:prstGeom>
          <a:solidFill>
            <a:srgbClr val="262A3F"/>
          </a:solidFill>
          <a:ln w="12700">
            <a:solidFill>
              <a:srgbClr val="262A3F"/>
            </a:solidFill>
            <a:prstDash val="solid"/>
          </a:ln>
        </p:spPr>
      </p:sp>
      <p:sp>
        <p:nvSpPr>
          <p:cNvPr id="19" name="Text 15"/>
          <p:cNvSpPr txBox="1"/>
          <p:nvPr/>
        </p:nvSpPr>
        <p:spPr>
          <a:xfrm>
            <a:off x="448056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0" name="Text 16"/>
          <p:cNvSpPr txBox="1"/>
          <p:nvPr/>
        </p:nvSpPr>
        <p:spPr>
          <a:xfrm>
            <a:off x="5120640" y="3182112"/>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Mecanismo de cambio</a:t>
            </a:r>
            <a:endParaRPr lang="en-US" sz="1800" dirty="0"/>
          </a:p>
        </p:txBody>
      </p:sp>
      <p:sp>
        <p:nvSpPr>
          <p:cNvPr id="21" name="Text 17"/>
          <p:cNvSpPr txBox="1"/>
          <p:nvPr/>
        </p:nvSpPr>
        <p:spPr>
          <a:xfrm>
            <a:off x="5120640" y="3566160"/>
            <a:ext cx="3566160" cy="731520"/>
          </a:xfrm>
          <a:prstGeom prst="rect">
            <a:avLst/>
          </a:prstGeom>
          <a:noFill/>
          <a:ln/>
        </p:spPr>
        <p:txBody>
          <a:bodyPr wrap="square" lIns="0" tIns="0" rIns="0" bIns="0" rtlCol="0" anchor="t"/>
          <a:lstStyle/>
          <a:p>
            <a:pPr indent="0" marL="0">
              <a:buNone/>
            </a:pPr>
            <a:r>
              <a:rPr lang="en-US" sz="1400" dirty="0">
                <a:solidFill>
                  <a:schemeClr val="tx1"/>
                </a:solidFill>
              </a:rPr>
              <a:t>¿Cómo sabe uno, sin ayuda, cuándo dejar la intuición y ponerse a pensar?</a:t>
            </a:r>
            <a:endParaRPr lang="en-US" sz="1400" dirty="0"/>
          </a:p>
        </p:txBody>
      </p:sp>
      <p:sp>
        <p:nvSpPr>
          <p:cNvPr id="22"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Kahneman (2011, como se citó en De Neys, 2023a); De Neys (2023a, pp. 1-3)</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tiqueta de rol"/>
          <p:cNvSpPr/>
          <p:nvPr/>
        </p:nvSpPr>
        <p:spPr>
          <a:xfrm>
            <a:off x="457200" y="201168"/>
            <a:ext cx="1865376" cy="274320"/>
          </a:xfrm>
          <a:prstGeom prst="roundRect">
            <a:avLst>
              <a:gd name="adj" fmla="val 50000"/>
            </a:avLst>
          </a:prstGeom>
          <a:solidFill>
            <a:srgbClr val="E9A23B"/>
          </a:solidFill>
          <a:ln w="12700">
            <a:solidFill>
              <a:srgbClr val="E9A23B"/>
            </a:solidFill>
            <a:prstDash val="solid"/>
          </a:ln>
        </p:spPr>
      </p:sp>
      <p:sp>
        <p:nvSpPr>
          <p:cNvPr id="3" name="Texto de etiqueta"/>
          <p:cNvSpPr txBox="1"/>
          <p:nvPr/>
        </p:nvSpPr>
        <p:spPr>
          <a:xfrm>
            <a:off x="457200" y="201168"/>
            <a:ext cx="1865376"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EL EXPERIMENTO</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El paradigma de dos respuestas</a:t>
            </a:r>
            <a:endParaRPr lang="en-US" sz="2800" dirty="0"/>
          </a:p>
        </p:txBody>
      </p:sp>
      <p:sp>
        <p:nvSpPr>
          <p:cNvPr id="5" name="Problema del bate y la pelota"/>
          <p:cNvSpPr/>
          <p:nvPr/>
        </p:nvSpPr>
        <p:spPr>
          <a:xfrm>
            <a:off x="457200" y="1325880"/>
            <a:ext cx="8229600" cy="960120"/>
          </a:xfrm>
          <a:prstGeom prst="roundRect">
            <a:avLst>
              <a:gd name="adj" fmla="val 7619"/>
            </a:avLst>
          </a:prstGeom>
          <a:solidFill>
            <a:srgbClr val="F1F2F6"/>
          </a:solidFill>
          <a:ln w="12700">
            <a:solidFill>
              <a:srgbClr val="F1F2F6"/>
            </a:solidFill>
            <a:prstDash val="solid"/>
          </a:ln>
        </p:spPr>
      </p:sp>
      <p:sp>
        <p:nvSpPr>
          <p:cNvPr id="6" name="Text 4"/>
          <p:cNvSpPr txBox="1"/>
          <p:nvPr/>
        </p:nvSpPr>
        <p:spPr>
          <a:xfrm>
            <a:off x="685800" y="1371600"/>
            <a:ext cx="7772400" cy="868680"/>
          </a:xfrm>
          <a:prstGeom prst="rect">
            <a:avLst/>
          </a:prstGeom>
          <a:noFill/>
          <a:ln/>
        </p:spPr>
        <p:txBody>
          <a:bodyPr wrap="square" lIns="0" tIns="0" rIns="0" bIns="0" rtlCol="0" anchor="ctr"/>
          <a:lstStyle/>
          <a:p>
            <a:pPr indent="0" marL="0">
              <a:spcAft>
                <a:spcPts val="400"/>
              </a:spcAft>
              <a:buNone/>
            </a:pPr>
            <a:r>
              <a:rPr lang="en-US" sz="1500" i="1" dirty="0">
                <a:solidFill>
                  <a:schemeClr val="tx1"/>
                </a:solidFill>
              </a:rPr>
              <a:t>«Un bate y una pelota cuestan 1,10 dólares. El bate cuesta 1 dólar más que la pelota. ¿Cuánto cuesta la pelota?»</a:t>
            </a:r>
            <a:endParaRPr lang="en-US" sz="1500" dirty="0"/>
          </a:p>
          <a:p>
            <a:pPr indent="0" marL="0">
              <a:spcAft>
                <a:spcPts val="400"/>
              </a:spcAft>
              <a:buNone/>
            </a:pPr>
            <a:r>
              <a:rPr lang="en-US" sz="1500" b="1" dirty="0">
                <a:solidFill>
                  <a:schemeClr val="accent3"/>
                </a:solidFill>
              </a:rPr>
              <a:t>Intuitiva: 10 centavos   ·   Correcta: 5 centavos</a:t>
            </a:r>
            <a:endParaRPr lang="en-US" sz="1500" dirty="0"/>
          </a:p>
        </p:txBody>
      </p:sp>
      <p:sp>
        <p:nvSpPr>
          <p:cNvPr id="7" name="Paso 1"/>
          <p:cNvSpPr/>
          <p:nvPr/>
        </p:nvSpPr>
        <p:spPr>
          <a:xfrm>
            <a:off x="457200" y="2606040"/>
            <a:ext cx="640080" cy="640080"/>
          </a:xfrm>
          <a:prstGeom prst="ellipse">
            <a:avLst/>
          </a:prstGeom>
          <a:solidFill>
            <a:srgbClr val="E9A23B"/>
          </a:solidFill>
          <a:ln w="12700">
            <a:solidFill>
              <a:srgbClr val="E9A23B"/>
            </a:solidFill>
            <a:prstDash val="solid"/>
          </a:ln>
        </p:spPr>
      </p:sp>
      <p:pic>
        <p:nvPicPr>
          <p:cNvPr id="8" name="Image 0" descr="Respuesta 1">    </p:cNvPr>
          <p:cNvPicPr>
            <a:picLocks noChangeAspect="1"/>
          </p:cNvPicPr>
          <p:nvPr/>
        </p:nvPicPr>
        <p:blipFill>
          <a:blip r:embed="rId1"/>
          <a:stretch>
            <a:fillRect/>
          </a:stretch>
        </p:blipFill>
        <p:spPr>
          <a:xfrm>
            <a:off x="621792" y="2770632"/>
            <a:ext cx="310896" cy="310896"/>
          </a:xfrm>
          <a:prstGeom prst="rect">
            <a:avLst/>
          </a:prstGeom>
        </p:spPr>
      </p:pic>
      <p:sp>
        <p:nvSpPr>
          <p:cNvPr id="9" name="Text 6"/>
          <p:cNvSpPr txBox="1"/>
          <p:nvPr/>
        </p:nvSpPr>
        <p:spPr>
          <a:xfrm>
            <a:off x="1234440" y="2606040"/>
            <a:ext cx="1737360" cy="640080"/>
          </a:xfrm>
          <a:prstGeom prst="rect">
            <a:avLst/>
          </a:prstGeom>
          <a:noFill/>
          <a:ln/>
        </p:spPr>
        <p:txBody>
          <a:bodyPr wrap="square" lIns="0" tIns="0" rIns="0" bIns="0" rtlCol="0" anchor="ctr"/>
          <a:lstStyle/>
          <a:p>
            <a:pPr indent="0" marL="0">
              <a:buNone/>
            </a:pPr>
            <a:r>
              <a:rPr lang="en-US" sz="1700" b="1" dirty="0">
                <a:solidFill>
                  <a:schemeClr val="tx1"/>
                </a:solidFill>
              </a:rPr>
              <a:t>Respuesta 1</a:t>
            </a:r>
            <a:endParaRPr lang="en-US" sz="1700" dirty="0"/>
          </a:p>
        </p:txBody>
      </p:sp>
      <p:sp>
        <p:nvSpPr>
          <p:cNvPr id="10" name="Text 7"/>
          <p:cNvSpPr txBox="1"/>
          <p:nvPr/>
        </p:nvSpPr>
        <p:spPr>
          <a:xfrm>
            <a:off x="457200" y="3383280"/>
            <a:ext cx="2514600" cy="914400"/>
          </a:xfrm>
          <a:prstGeom prst="rect">
            <a:avLst/>
          </a:prstGeom>
          <a:noFill/>
          <a:ln/>
        </p:spPr>
        <p:txBody>
          <a:bodyPr wrap="square" lIns="0" tIns="0" rIns="0" bIns="0" rtlCol="0" anchor="t"/>
          <a:lstStyle/>
          <a:p>
            <a:pPr indent="0" marL="0">
              <a:buNone/>
            </a:pPr>
            <a:r>
              <a:rPr lang="en-US" sz="1400" dirty="0">
                <a:solidFill>
                  <a:schemeClr val="tx1"/>
                </a:solidFill>
              </a:rPr>
              <a:t>Con presión de tiempo y una tarea de memoria a la vez: no se puede deliberar</a:t>
            </a:r>
            <a:endParaRPr lang="en-US" sz="1400" dirty="0"/>
          </a:p>
        </p:txBody>
      </p:sp>
      <p:sp>
        <p:nvSpPr>
          <p:cNvPr id="11" name="Text 8"/>
          <p:cNvSpPr txBox="1"/>
          <p:nvPr/>
        </p:nvSpPr>
        <p:spPr>
          <a:xfrm>
            <a:off x="2944368" y="2606040"/>
            <a:ext cx="320040" cy="64008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12" name="Paso 2"/>
          <p:cNvSpPr/>
          <p:nvPr/>
        </p:nvSpPr>
        <p:spPr>
          <a:xfrm>
            <a:off x="3291840" y="2606040"/>
            <a:ext cx="640080" cy="640080"/>
          </a:xfrm>
          <a:prstGeom prst="ellipse">
            <a:avLst/>
          </a:prstGeom>
          <a:solidFill>
            <a:srgbClr val="2A8C82"/>
          </a:solidFill>
          <a:ln w="12700">
            <a:solidFill>
              <a:srgbClr val="2A8C82"/>
            </a:solidFill>
            <a:prstDash val="solid"/>
          </a:ln>
        </p:spPr>
      </p:sp>
      <p:pic>
        <p:nvPicPr>
          <p:cNvPr id="13" name="Image 1" descr="Respuesta 2">    </p:cNvPr>
          <p:cNvPicPr>
            <a:picLocks noChangeAspect="1"/>
          </p:cNvPicPr>
          <p:nvPr/>
        </p:nvPicPr>
        <p:blipFill>
          <a:blip r:embed="rId2"/>
          <a:stretch>
            <a:fillRect/>
          </a:stretch>
        </p:blipFill>
        <p:spPr>
          <a:xfrm>
            <a:off x="3456432" y="2770632"/>
            <a:ext cx="310896" cy="310896"/>
          </a:xfrm>
          <a:prstGeom prst="rect">
            <a:avLst/>
          </a:prstGeom>
        </p:spPr>
      </p:pic>
      <p:sp>
        <p:nvSpPr>
          <p:cNvPr id="14" name="Text 10"/>
          <p:cNvSpPr txBox="1"/>
          <p:nvPr/>
        </p:nvSpPr>
        <p:spPr>
          <a:xfrm>
            <a:off x="4069080" y="2606040"/>
            <a:ext cx="1737360" cy="640080"/>
          </a:xfrm>
          <a:prstGeom prst="rect">
            <a:avLst/>
          </a:prstGeom>
          <a:noFill/>
          <a:ln/>
        </p:spPr>
        <p:txBody>
          <a:bodyPr wrap="square" lIns="0" tIns="0" rIns="0" bIns="0" rtlCol="0" anchor="ctr"/>
          <a:lstStyle/>
          <a:p>
            <a:pPr indent="0" marL="0">
              <a:buNone/>
            </a:pPr>
            <a:r>
              <a:rPr lang="en-US" sz="1700" b="1" dirty="0">
                <a:solidFill>
                  <a:schemeClr val="tx1"/>
                </a:solidFill>
              </a:rPr>
              <a:t>Respuesta 2</a:t>
            </a:r>
            <a:endParaRPr lang="en-US" sz="1700" dirty="0"/>
          </a:p>
        </p:txBody>
      </p:sp>
      <p:sp>
        <p:nvSpPr>
          <p:cNvPr id="15" name="Text 11"/>
          <p:cNvSpPr txBox="1"/>
          <p:nvPr/>
        </p:nvSpPr>
        <p:spPr>
          <a:xfrm>
            <a:off x="3291840" y="3383280"/>
            <a:ext cx="2514600" cy="914400"/>
          </a:xfrm>
          <a:prstGeom prst="rect">
            <a:avLst/>
          </a:prstGeom>
          <a:noFill/>
          <a:ln/>
        </p:spPr>
        <p:txBody>
          <a:bodyPr wrap="square" lIns="0" tIns="0" rIns="0" bIns="0" rtlCol="0" anchor="t"/>
          <a:lstStyle/>
          <a:p>
            <a:pPr indent="0" marL="0">
              <a:buNone/>
            </a:pPr>
            <a:r>
              <a:rPr lang="en-US" sz="1400" dirty="0">
                <a:solidFill>
                  <a:schemeClr val="tx1"/>
                </a:solidFill>
              </a:rPr>
              <a:t>Sin límite de tiempo: se puede pensar todo lo necesario</a:t>
            </a:r>
            <a:endParaRPr lang="en-US" sz="1400" dirty="0"/>
          </a:p>
        </p:txBody>
      </p:sp>
      <p:sp>
        <p:nvSpPr>
          <p:cNvPr id="16" name="Text 12"/>
          <p:cNvSpPr txBox="1"/>
          <p:nvPr/>
        </p:nvSpPr>
        <p:spPr>
          <a:xfrm>
            <a:off x="5779008" y="2606040"/>
            <a:ext cx="320040" cy="64008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17" name="Paso 3"/>
          <p:cNvSpPr/>
          <p:nvPr/>
        </p:nvSpPr>
        <p:spPr>
          <a:xfrm>
            <a:off x="6126480" y="2606040"/>
            <a:ext cx="640080" cy="640080"/>
          </a:xfrm>
          <a:prstGeom prst="ellipse">
            <a:avLst/>
          </a:prstGeom>
          <a:solidFill>
            <a:srgbClr val="262A3F"/>
          </a:solidFill>
          <a:ln w="12700">
            <a:solidFill>
              <a:srgbClr val="262A3F"/>
            </a:solidFill>
            <a:prstDash val="solid"/>
          </a:ln>
        </p:spPr>
      </p:sp>
      <p:pic>
        <p:nvPicPr>
          <p:cNvPr id="18" name="Image 2" descr="Se mide">    </p:cNvPr>
          <p:cNvPicPr>
            <a:picLocks noChangeAspect="1"/>
          </p:cNvPicPr>
          <p:nvPr/>
        </p:nvPicPr>
        <p:blipFill>
          <a:blip r:embed="rId3"/>
          <a:stretch>
            <a:fillRect/>
          </a:stretch>
        </p:blipFill>
        <p:spPr>
          <a:xfrm>
            <a:off x="6291072" y="2770632"/>
            <a:ext cx="310896" cy="310896"/>
          </a:xfrm>
          <a:prstGeom prst="rect">
            <a:avLst/>
          </a:prstGeom>
        </p:spPr>
      </p:pic>
      <p:sp>
        <p:nvSpPr>
          <p:cNvPr id="19" name="Text 14"/>
          <p:cNvSpPr txBox="1"/>
          <p:nvPr/>
        </p:nvSpPr>
        <p:spPr>
          <a:xfrm>
            <a:off x="6903720" y="2606040"/>
            <a:ext cx="1737360" cy="640080"/>
          </a:xfrm>
          <a:prstGeom prst="rect">
            <a:avLst/>
          </a:prstGeom>
          <a:noFill/>
          <a:ln/>
        </p:spPr>
        <p:txBody>
          <a:bodyPr wrap="square" lIns="0" tIns="0" rIns="0" bIns="0" rtlCol="0" anchor="ctr"/>
          <a:lstStyle/>
          <a:p>
            <a:pPr indent="0" marL="0">
              <a:buNone/>
            </a:pPr>
            <a:r>
              <a:rPr lang="en-US" sz="1700" b="1" dirty="0">
                <a:solidFill>
                  <a:schemeClr val="tx1"/>
                </a:solidFill>
              </a:rPr>
              <a:t>Se mide</a:t>
            </a:r>
            <a:endParaRPr lang="en-US" sz="1700" dirty="0"/>
          </a:p>
        </p:txBody>
      </p:sp>
      <p:sp>
        <p:nvSpPr>
          <p:cNvPr id="20" name="Text 15"/>
          <p:cNvSpPr txBox="1"/>
          <p:nvPr/>
        </p:nvSpPr>
        <p:spPr>
          <a:xfrm>
            <a:off x="6126480" y="3383280"/>
            <a:ext cx="2514600" cy="914400"/>
          </a:xfrm>
          <a:prstGeom prst="rect">
            <a:avLst/>
          </a:prstGeom>
          <a:noFill/>
          <a:ln/>
        </p:spPr>
        <p:txBody>
          <a:bodyPr wrap="square" lIns="0" tIns="0" rIns="0" bIns="0" rtlCol="0" anchor="t"/>
          <a:lstStyle/>
          <a:p>
            <a:pPr indent="0" marL="0">
              <a:buNone/>
            </a:pPr>
            <a:r>
              <a:rPr lang="en-US" sz="1400" dirty="0">
                <a:solidFill>
                  <a:schemeClr val="tx1"/>
                </a:solidFill>
              </a:rPr>
              <a:t>Tiempo y confianza, en versiones con y sin conflicto</a:t>
            </a:r>
            <a:endParaRPr lang="en-US" sz="1400" dirty="0"/>
          </a:p>
        </p:txBody>
      </p:sp>
      <p:sp>
        <p:nvSpPr>
          <p:cNvPr id="21"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Tareas de razonamiento lógico, juicio moral y conducta prosocial · De Neys (2023a, pp. 3-5)</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tiqueta de rol"/>
          <p:cNvSpPr/>
          <p:nvPr/>
        </p:nvSpPr>
        <p:spPr>
          <a:xfrm>
            <a:off x="457200" y="201168"/>
            <a:ext cx="1865376" cy="274320"/>
          </a:xfrm>
          <a:prstGeom prst="roundRect">
            <a:avLst>
              <a:gd name="adj" fmla="val 50000"/>
            </a:avLst>
          </a:prstGeom>
          <a:solidFill>
            <a:srgbClr val="E9A23B"/>
          </a:solidFill>
          <a:ln w="12700">
            <a:solidFill>
              <a:srgbClr val="E9A23B"/>
            </a:solidFill>
            <a:prstDash val="solid"/>
          </a:ln>
        </p:spPr>
      </p:sp>
      <p:sp>
        <p:nvSpPr>
          <p:cNvPr id="3" name="Texto de etiqueta"/>
          <p:cNvSpPr txBox="1"/>
          <p:nvPr/>
        </p:nvSpPr>
        <p:spPr>
          <a:xfrm>
            <a:off x="457200" y="201168"/>
            <a:ext cx="1865376"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EL EXPERIMENTO</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La lógica no siempre llega tarde</a:t>
            </a:r>
            <a:endParaRPr lang="en-US" sz="2800" dirty="0"/>
          </a:p>
        </p:txBody>
      </p:sp>
      <p:graphicFrame>
        <p:nvGraphicFramePr>
          <p:cNvPr id="5" name="Gráfico 62 vs 52" descr=""/>
          <p:cNvGraphicFramePr/>
          <p:nvPr/>
        </p:nvGraphicFramePr>
        <p:xfrm>
          <a:off x="365760" y="1280160"/>
          <a:ext cx="4023360" cy="3337560"/>
        </p:xfrm>
        <a:graphic xmlns:a="http://schemas.openxmlformats.org/drawingml/2006/main">
          <a:graphicData uri="http://schemas.openxmlformats.org/drawingml/2006/chart">
            <c:chart xmlns:c="http://schemas.openxmlformats.org/drawingml/2006/chart" r:id="rId1"/>
          </a:graphicData>
        </a:graphic>
      </p:graphicFrame>
      <p:sp>
        <p:nvSpPr>
          <p:cNvPr id="6" name="Resultado 1"/>
          <p:cNvSpPr/>
          <p:nvPr/>
        </p:nvSpPr>
        <p:spPr>
          <a:xfrm>
            <a:off x="4663440" y="1371600"/>
            <a:ext cx="4023360" cy="914400"/>
          </a:xfrm>
          <a:prstGeom prst="roundRect">
            <a:avLst>
              <a:gd name="adj" fmla="val 8000"/>
            </a:avLst>
          </a:prstGeom>
          <a:solidFill>
            <a:srgbClr val="F1F2F6"/>
          </a:solidFill>
          <a:ln w="12700">
            <a:solidFill>
              <a:srgbClr val="F1F2F6"/>
            </a:solidFill>
            <a:prstDash val="solid"/>
          </a:ln>
        </p:spPr>
      </p:sp>
      <p:sp>
        <p:nvSpPr>
          <p:cNvPr id="7" name="Marca 1"/>
          <p:cNvSpPr/>
          <p:nvPr/>
        </p:nvSpPr>
        <p:spPr>
          <a:xfrm>
            <a:off x="4846320" y="1645920"/>
            <a:ext cx="365760" cy="365760"/>
          </a:xfrm>
          <a:prstGeom prst="ellipse">
            <a:avLst/>
          </a:prstGeom>
          <a:solidFill>
            <a:srgbClr val="2A8C82"/>
          </a:solidFill>
          <a:ln w="12700">
            <a:solidFill>
              <a:srgbClr val="2A8C82"/>
            </a:solidFill>
            <a:prstDash val="solid"/>
          </a:ln>
        </p:spPr>
      </p:sp>
      <p:sp>
        <p:nvSpPr>
          <p:cNvPr id="8" name="Text 5"/>
          <p:cNvSpPr txBox="1"/>
          <p:nvPr/>
        </p:nvSpPr>
        <p:spPr>
          <a:xfrm>
            <a:off x="4846320" y="16459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5349240" y="1444752"/>
            <a:ext cx="3200400" cy="768096"/>
          </a:xfrm>
          <a:prstGeom prst="rect">
            <a:avLst/>
          </a:prstGeom>
          <a:noFill/>
          <a:ln/>
        </p:spPr>
        <p:txBody>
          <a:bodyPr wrap="square" lIns="0" tIns="0" rIns="0" bIns="0" rtlCol="0" anchor="ctr"/>
          <a:lstStyle/>
          <a:p>
            <a:pPr indent="0" marL="0">
              <a:buNone/>
            </a:pPr>
            <a:r>
              <a:rPr lang="en-US" sz="1400" dirty="0">
                <a:solidFill>
                  <a:schemeClr val="tx1"/>
                </a:solidFill>
              </a:rPr>
              <a:t>Quienes aciertan al final, en general ya acertaban en la respuesta intuitiva.</a:t>
            </a:r>
            <a:endParaRPr lang="en-US" sz="1400" dirty="0"/>
          </a:p>
        </p:txBody>
      </p:sp>
      <p:sp>
        <p:nvSpPr>
          <p:cNvPr id="10" name="Resultado 2"/>
          <p:cNvSpPr/>
          <p:nvPr/>
        </p:nvSpPr>
        <p:spPr>
          <a:xfrm>
            <a:off x="4663440" y="2450592"/>
            <a:ext cx="4023360" cy="914400"/>
          </a:xfrm>
          <a:prstGeom prst="roundRect">
            <a:avLst>
              <a:gd name="adj" fmla="val 8000"/>
            </a:avLst>
          </a:prstGeom>
          <a:solidFill>
            <a:srgbClr val="F1F2F6"/>
          </a:solidFill>
          <a:ln w="12700">
            <a:solidFill>
              <a:srgbClr val="F1F2F6"/>
            </a:solidFill>
            <a:prstDash val="solid"/>
          </a:ln>
        </p:spPr>
      </p:sp>
      <p:sp>
        <p:nvSpPr>
          <p:cNvPr id="11" name="Marca 2"/>
          <p:cNvSpPr/>
          <p:nvPr/>
        </p:nvSpPr>
        <p:spPr>
          <a:xfrm>
            <a:off x="4846320" y="2724912"/>
            <a:ext cx="365760" cy="365760"/>
          </a:xfrm>
          <a:prstGeom prst="ellipse">
            <a:avLst/>
          </a:prstGeom>
          <a:solidFill>
            <a:srgbClr val="E9A23B"/>
          </a:solidFill>
          <a:ln w="12700">
            <a:solidFill>
              <a:srgbClr val="E9A23B"/>
            </a:solidFill>
            <a:prstDash val="solid"/>
          </a:ln>
        </p:spPr>
      </p:sp>
      <p:sp>
        <p:nvSpPr>
          <p:cNvPr id="12" name="Text 9"/>
          <p:cNvSpPr txBox="1"/>
          <p:nvPr/>
        </p:nvSpPr>
        <p:spPr>
          <a:xfrm>
            <a:off x="4846320" y="27249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0"/>
          <p:cNvSpPr txBox="1"/>
          <p:nvPr/>
        </p:nvSpPr>
        <p:spPr>
          <a:xfrm>
            <a:off x="5349240" y="2523744"/>
            <a:ext cx="3200400" cy="768096"/>
          </a:xfrm>
          <a:prstGeom prst="rect">
            <a:avLst/>
          </a:prstGeom>
          <a:noFill/>
          <a:ln/>
        </p:spPr>
        <p:txBody>
          <a:bodyPr wrap="square" lIns="0" tIns="0" rIns="0" bIns="0" rtlCol="0" anchor="ctr"/>
          <a:lstStyle/>
          <a:p>
            <a:pPr indent="0" marL="0">
              <a:buNone/>
            </a:pPr>
            <a:r>
              <a:rPr lang="en-US" sz="1400" dirty="0">
                <a:solidFill>
                  <a:schemeClr val="tx1"/>
                </a:solidFill>
              </a:rPr>
              <a:t>Incluso quienes se equivocan tardan más y confían menos cuando hay conflicto.</a:t>
            </a:r>
            <a:endParaRPr lang="en-US" sz="1400" dirty="0"/>
          </a:p>
        </p:txBody>
      </p:sp>
      <p:sp>
        <p:nvSpPr>
          <p:cNvPr id="14" name="Resultado 3"/>
          <p:cNvSpPr/>
          <p:nvPr/>
        </p:nvSpPr>
        <p:spPr>
          <a:xfrm>
            <a:off x="4663440" y="3529584"/>
            <a:ext cx="4023360" cy="914400"/>
          </a:xfrm>
          <a:prstGeom prst="roundRect">
            <a:avLst>
              <a:gd name="adj" fmla="val 8000"/>
            </a:avLst>
          </a:prstGeom>
          <a:solidFill>
            <a:srgbClr val="F1F2F6"/>
          </a:solidFill>
          <a:ln w="12700">
            <a:solidFill>
              <a:srgbClr val="F1F2F6"/>
            </a:solidFill>
            <a:prstDash val="solid"/>
          </a:ln>
        </p:spPr>
      </p:sp>
      <p:sp>
        <p:nvSpPr>
          <p:cNvPr id="15" name="Marca 3"/>
          <p:cNvSpPr/>
          <p:nvPr/>
        </p:nvSpPr>
        <p:spPr>
          <a:xfrm>
            <a:off x="4846320" y="3803904"/>
            <a:ext cx="365760" cy="365760"/>
          </a:xfrm>
          <a:prstGeom prst="ellipse">
            <a:avLst/>
          </a:prstGeom>
          <a:solidFill>
            <a:srgbClr val="262A3F"/>
          </a:solidFill>
          <a:ln w="12700">
            <a:solidFill>
              <a:srgbClr val="262A3F"/>
            </a:solidFill>
            <a:prstDash val="solid"/>
          </a:ln>
        </p:spPr>
      </p:sp>
      <p:sp>
        <p:nvSpPr>
          <p:cNvPr id="16" name="Text 13"/>
          <p:cNvSpPr txBox="1"/>
          <p:nvPr/>
        </p:nvSpPr>
        <p:spPr>
          <a:xfrm>
            <a:off x="4846320" y="380390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4"/>
          <p:cNvSpPr txBox="1"/>
          <p:nvPr/>
        </p:nvSpPr>
        <p:spPr>
          <a:xfrm>
            <a:off x="5349240" y="3602736"/>
            <a:ext cx="3200400" cy="768096"/>
          </a:xfrm>
          <a:prstGeom prst="rect">
            <a:avLst/>
          </a:prstGeom>
          <a:noFill/>
          <a:ln/>
        </p:spPr>
        <p:txBody>
          <a:bodyPr wrap="square" lIns="0" tIns="0" rIns="0" bIns="0" rtlCol="0" anchor="ctr"/>
          <a:lstStyle/>
          <a:p>
            <a:pPr indent="0" marL="0">
              <a:buNone/>
            </a:pPr>
            <a:r>
              <a:rPr lang="en-US" sz="1400" dirty="0">
                <a:solidFill>
                  <a:schemeClr val="tx1"/>
                </a:solidFill>
              </a:rPr>
              <a:t>Impedir la deliberación baja el acierto, pero mucho menos de lo esperado.</a:t>
            </a:r>
            <a:endParaRPr lang="en-US" sz="1400" dirty="0"/>
          </a:p>
        </p:txBody>
      </p:sp>
      <p:sp>
        <p:nvSpPr>
          <p:cNvPr id="18"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Metaanálisis de Lawson et al. (2020, como se citó en De Neys, 2023a, p. 4); De Neys (2023a, pp. 4-5)</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tiqueta de rol"/>
          <p:cNvSpPr/>
          <p:nvPr/>
        </p:nvSpPr>
        <p:spPr>
          <a:xfrm>
            <a:off x="457200" y="201168"/>
            <a:ext cx="1664208" cy="274320"/>
          </a:xfrm>
          <a:prstGeom prst="roundRect">
            <a:avLst>
              <a:gd name="adj" fmla="val 50000"/>
            </a:avLst>
          </a:prstGeom>
          <a:solidFill>
            <a:srgbClr val="2A8C82"/>
          </a:solidFill>
          <a:ln w="12700">
            <a:solidFill>
              <a:srgbClr val="2A8C82"/>
            </a:solidFill>
            <a:prstDash val="solid"/>
          </a:ln>
        </p:spPr>
      </p:sp>
      <p:sp>
        <p:nvSpPr>
          <p:cNvPr id="3" name="Texto de etiqueta"/>
          <p:cNvSpPr txBox="1"/>
          <p:nvPr/>
        </p:nvSpPr>
        <p:spPr>
          <a:xfrm>
            <a:off x="457200" y="201168"/>
            <a:ext cx="1664208"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LA PROPUESTA</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La propuesta: un modelo no exclusivo</a:t>
            </a:r>
            <a:endParaRPr lang="en-US" sz="2800" dirty="0"/>
          </a:p>
        </p:txBody>
      </p:sp>
      <p:sp>
        <p:nvSpPr>
          <p:cNvPr id="5" name="Intuiciones"/>
          <p:cNvSpPr/>
          <p:nvPr/>
        </p:nvSpPr>
        <p:spPr>
          <a:xfrm>
            <a:off x="457200" y="1371600"/>
            <a:ext cx="1874520" cy="2286000"/>
          </a:xfrm>
          <a:prstGeom prst="roundRect">
            <a:avLst>
              <a:gd name="adj" fmla="val 3902"/>
            </a:avLst>
          </a:prstGeom>
          <a:solidFill>
            <a:srgbClr val="F1F2F6"/>
          </a:solidFill>
          <a:ln w="12700">
            <a:solidFill>
              <a:srgbClr val="F1F2F6"/>
            </a:solidFill>
            <a:prstDash val="solid"/>
          </a:ln>
        </p:spPr>
      </p:sp>
      <p:sp>
        <p:nvSpPr>
          <p:cNvPr id="6" name="Componente 1"/>
          <p:cNvSpPr/>
          <p:nvPr/>
        </p:nvSpPr>
        <p:spPr>
          <a:xfrm>
            <a:off x="640080" y="1554480"/>
            <a:ext cx="457200" cy="457200"/>
          </a:xfrm>
          <a:prstGeom prst="ellipse">
            <a:avLst/>
          </a:prstGeom>
          <a:solidFill>
            <a:srgbClr val="E9A23B"/>
          </a:solidFill>
          <a:ln w="12700">
            <a:solidFill>
              <a:srgbClr val="E9A23B"/>
            </a:solidFill>
            <a:prstDash val="solid"/>
          </a:ln>
        </p:spPr>
      </p:sp>
      <p:sp>
        <p:nvSpPr>
          <p:cNvPr id="7" name="Text 5"/>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640080" y="2103120"/>
            <a:ext cx="1600200" cy="365760"/>
          </a:xfrm>
          <a:prstGeom prst="rect">
            <a:avLst/>
          </a:prstGeom>
          <a:noFill/>
          <a:ln/>
        </p:spPr>
        <p:txBody>
          <a:bodyPr wrap="square" lIns="0" tIns="0" rIns="0" bIns="0" rtlCol="0" anchor="ctr"/>
          <a:lstStyle/>
          <a:p>
            <a:pPr indent="0" marL="0">
              <a:buNone/>
            </a:pPr>
            <a:r>
              <a:rPr lang="en-US" sz="1500" b="1" dirty="0">
                <a:solidFill>
                  <a:schemeClr val="tx1"/>
                </a:solidFill>
              </a:rPr>
              <a:t>Intuiciones</a:t>
            </a:r>
            <a:endParaRPr lang="en-US" sz="1500" dirty="0"/>
          </a:p>
        </p:txBody>
      </p:sp>
      <p:sp>
        <p:nvSpPr>
          <p:cNvPr id="9" name="Text 7"/>
          <p:cNvSpPr txBox="1"/>
          <p:nvPr/>
        </p:nvSpPr>
        <p:spPr>
          <a:xfrm>
            <a:off x="640080" y="2487168"/>
            <a:ext cx="1554480" cy="1097280"/>
          </a:xfrm>
          <a:prstGeom prst="rect">
            <a:avLst/>
          </a:prstGeom>
          <a:noFill/>
          <a:ln/>
        </p:spPr>
        <p:txBody>
          <a:bodyPr wrap="square" lIns="0" tIns="0" rIns="0" bIns="0" rtlCol="0" anchor="t"/>
          <a:lstStyle/>
          <a:p>
            <a:pPr indent="0" marL="0">
              <a:buNone/>
            </a:pPr>
            <a:r>
              <a:rPr lang="en-US" sz="1300" dirty="0">
                <a:solidFill>
                  <a:schemeClr val="tx1"/>
                </a:solidFill>
              </a:rPr>
              <a:t>El sistema 1 activa varias, de distinta fuerza, incluida la lógica</a:t>
            </a:r>
            <a:endParaRPr lang="en-US" sz="1300" dirty="0"/>
          </a:p>
        </p:txBody>
      </p:sp>
      <p:sp>
        <p:nvSpPr>
          <p:cNvPr id="10" name="Monitoreo"/>
          <p:cNvSpPr/>
          <p:nvPr/>
        </p:nvSpPr>
        <p:spPr>
          <a:xfrm>
            <a:off x="2560320" y="1371600"/>
            <a:ext cx="1874520" cy="2286000"/>
          </a:xfrm>
          <a:prstGeom prst="roundRect">
            <a:avLst>
              <a:gd name="adj" fmla="val 3902"/>
            </a:avLst>
          </a:prstGeom>
          <a:solidFill>
            <a:srgbClr val="F1F2F6"/>
          </a:solidFill>
          <a:ln w="12700">
            <a:solidFill>
              <a:srgbClr val="F1F2F6"/>
            </a:solidFill>
            <a:prstDash val="solid"/>
          </a:ln>
        </p:spPr>
      </p:sp>
      <p:sp>
        <p:nvSpPr>
          <p:cNvPr id="11" name="Componente 2"/>
          <p:cNvSpPr/>
          <p:nvPr/>
        </p:nvSpPr>
        <p:spPr>
          <a:xfrm>
            <a:off x="2743200" y="1554480"/>
            <a:ext cx="457200" cy="457200"/>
          </a:xfrm>
          <a:prstGeom prst="ellipse">
            <a:avLst/>
          </a:prstGeom>
          <a:solidFill>
            <a:srgbClr val="E9A23B"/>
          </a:solidFill>
          <a:ln w="12700">
            <a:solidFill>
              <a:srgbClr val="E9A23B"/>
            </a:solidFill>
            <a:prstDash val="solid"/>
          </a:ln>
        </p:spPr>
      </p:sp>
      <p:sp>
        <p:nvSpPr>
          <p:cNvPr id="12" name="Text 10"/>
          <p:cNvSpPr txBox="1"/>
          <p:nvPr/>
        </p:nvSpPr>
        <p:spPr>
          <a:xfrm>
            <a:off x="274320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2743200" y="2103120"/>
            <a:ext cx="1600200" cy="365760"/>
          </a:xfrm>
          <a:prstGeom prst="rect">
            <a:avLst/>
          </a:prstGeom>
          <a:noFill/>
          <a:ln/>
        </p:spPr>
        <p:txBody>
          <a:bodyPr wrap="square" lIns="0" tIns="0" rIns="0" bIns="0" rtlCol="0" anchor="ctr"/>
          <a:lstStyle/>
          <a:p>
            <a:pPr indent="0" marL="0">
              <a:buNone/>
            </a:pPr>
            <a:r>
              <a:rPr lang="en-US" sz="1500" b="1" dirty="0">
                <a:solidFill>
                  <a:schemeClr val="tx1"/>
                </a:solidFill>
              </a:rPr>
              <a:t>Monitoreo</a:t>
            </a:r>
            <a:endParaRPr lang="en-US" sz="1500" dirty="0"/>
          </a:p>
        </p:txBody>
      </p:sp>
      <p:sp>
        <p:nvSpPr>
          <p:cNvPr id="14" name="Text 12"/>
          <p:cNvSpPr txBox="1"/>
          <p:nvPr/>
        </p:nvSpPr>
        <p:spPr>
          <a:xfrm>
            <a:off x="2743200" y="2487168"/>
            <a:ext cx="1554480" cy="1097280"/>
          </a:xfrm>
          <a:prstGeom prst="rect">
            <a:avLst/>
          </a:prstGeom>
          <a:noFill/>
          <a:ln/>
        </p:spPr>
        <p:txBody>
          <a:bodyPr wrap="square" lIns="0" tIns="0" rIns="0" bIns="0" rtlCol="0" anchor="t"/>
          <a:lstStyle/>
          <a:p>
            <a:pPr indent="0" marL="0">
              <a:buNone/>
            </a:pPr>
            <a:r>
              <a:rPr lang="en-US" sz="1300" dirty="0">
                <a:solidFill>
                  <a:schemeClr val="tx1"/>
                </a:solidFill>
              </a:rPr>
              <a:t>Compara las fuerzas:</a:t>
            </a:r>
            <a:endParaRPr lang="en-US" sz="1300" dirty="0"/>
          </a:p>
          <a:p>
            <a:pPr indent="0" marL="0">
              <a:buNone/>
            </a:pPr>
            <a:r>
              <a:rPr lang="en-US" sz="1300" b="1" dirty="0">
                <a:solidFill>
                  <a:schemeClr val="tx1"/>
                </a:solidFill>
              </a:rPr>
              <a:t>U = 1 − |I1 − I2|</a:t>
            </a:r>
            <a:endParaRPr lang="en-US" sz="1300" dirty="0"/>
          </a:p>
          <a:p>
            <a:pPr indent="0" marL="0">
              <a:buNone/>
            </a:pPr>
            <a:r>
              <a:rPr lang="en-US" sz="1300" dirty="0">
                <a:solidFill>
                  <a:schemeClr val="tx1"/>
                </a:solidFill>
              </a:rPr>
              <a:t>Si U pasa el umbral…</a:t>
            </a:r>
            <a:endParaRPr lang="en-US" sz="1300" dirty="0"/>
          </a:p>
        </p:txBody>
      </p:sp>
      <p:sp>
        <p:nvSpPr>
          <p:cNvPr id="15" name="Deliberación"/>
          <p:cNvSpPr/>
          <p:nvPr/>
        </p:nvSpPr>
        <p:spPr>
          <a:xfrm>
            <a:off x="4663440" y="1371600"/>
            <a:ext cx="1874520" cy="2286000"/>
          </a:xfrm>
          <a:prstGeom prst="roundRect">
            <a:avLst>
              <a:gd name="adj" fmla="val 3902"/>
            </a:avLst>
          </a:prstGeom>
          <a:solidFill>
            <a:srgbClr val="F1F2F6"/>
          </a:solidFill>
          <a:ln w="12700">
            <a:solidFill>
              <a:srgbClr val="F1F2F6"/>
            </a:solidFill>
            <a:prstDash val="solid"/>
          </a:ln>
        </p:spPr>
      </p:sp>
      <p:sp>
        <p:nvSpPr>
          <p:cNvPr id="16" name="Componente 3"/>
          <p:cNvSpPr/>
          <p:nvPr/>
        </p:nvSpPr>
        <p:spPr>
          <a:xfrm>
            <a:off x="4846320" y="1554480"/>
            <a:ext cx="457200" cy="457200"/>
          </a:xfrm>
          <a:prstGeom prst="ellipse">
            <a:avLst/>
          </a:prstGeom>
          <a:solidFill>
            <a:srgbClr val="2A8C82"/>
          </a:solidFill>
          <a:ln w="12700">
            <a:solidFill>
              <a:srgbClr val="2A8C82"/>
            </a:solidFill>
            <a:prstDash val="solid"/>
          </a:ln>
        </p:spPr>
      </p:sp>
      <p:sp>
        <p:nvSpPr>
          <p:cNvPr id="17" name="Text 15"/>
          <p:cNvSpPr txBox="1"/>
          <p:nvPr/>
        </p:nvSpPr>
        <p:spPr>
          <a:xfrm>
            <a:off x="484632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4846320" y="2103120"/>
            <a:ext cx="1600200" cy="365760"/>
          </a:xfrm>
          <a:prstGeom prst="rect">
            <a:avLst/>
          </a:prstGeom>
          <a:noFill/>
          <a:ln/>
        </p:spPr>
        <p:txBody>
          <a:bodyPr wrap="square" lIns="0" tIns="0" rIns="0" bIns="0" rtlCol="0" anchor="ctr"/>
          <a:lstStyle/>
          <a:p>
            <a:pPr indent="0" marL="0">
              <a:buNone/>
            </a:pPr>
            <a:r>
              <a:rPr lang="en-US" sz="1500" b="1" dirty="0">
                <a:solidFill>
                  <a:schemeClr val="tx1"/>
                </a:solidFill>
              </a:rPr>
              <a:t>Deliberación</a:t>
            </a:r>
            <a:endParaRPr lang="en-US" sz="1500" dirty="0"/>
          </a:p>
        </p:txBody>
      </p:sp>
      <p:sp>
        <p:nvSpPr>
          <p:cNvPr id="19" name="Text 17"/>
          <p:cNvSpPr txBox="1"/>
          <p:nvPr/>
        </p:nvSpPr>
        <p:spPr>
          <a:xfrm>
            <a:off x="4846320" y="2487168"/>
            <a:ext cx="1554480" cy="1097280"/>
          </a:xfrm>
          <a:prstGeom prst="rect">
            <a:avLst/>
          </a:prstGeom>
          <a:noFill/>
          <a:ln/>
        </p:spPr>
        <p:txBody>
          <a:bodyPr wrap="square" lIns="0" tIns="0" rIns="0" bIns="0" rtlCol="0" anchor="t"/>
          <a:lstStyle/>
          <a:p>
            <a:pPr indent="0" marL="0">
              <a:buNone/>
            </a:pPr>
            <a:r>
              <a:rPr lang="en-US" sz="1300" dirty="0">
                <a:solidFill>
                  <a:schemeClr val="tx1"/>
                </a:solidFill>
              </a:rPr>
              <a:t>…se activa el sistema 2: inhibe, calcula o justifica. No garantiza acertar</a:t>
            </a:r>
            <a:endParaRPr lang="en-US" sz="1300" dirty="0"/>
          </a:p>
        </p:txBody>
      </p:sp>
      <p:sp>
        <p:nvSpPr>
          <p:cNvPr id="20" name="Retroalimentación"/>
          <p:cNvSpPr/>
          <p:nvPr/>
        </p:nvSpPr>
        <p:spPr>
          <a:xfrm>
            <a:off x="6766560" y="1371600"/>
            <a:ext cx="1874520" cy="2286000"/>
          </a:xfrm>
          <a:prstGeom prst="roundRect">
            <a:avLst>
              <a:gd name="adj" fmla="val 3902"/>
            </a:avLst>
          </a:prstGeom>
          <a:solidFill>
            <a:srgbClr val="F1F2F6"/>
          </a:solidFill>
          <a:ln w="12700">
            <a:solidFill>
              <a:srgbClr val="F1F2F6"/>
            </a:solidFill>
            <a:prstDash val="solid"/>
          </a:ln>
        </p:spPr>
      </p:sp>
      <p:sp>
        <p:nvSpPr>
          <p:cNvPr id="21" name="Componente 4"/>
          <p:cNvSpPr/>
          <p:nvPr/>
        </p:nvSpPr>
        <p:spPr>
          <a:xfrm>
            <a:off x="6949440" y="1554480"/>
            <a:ext cx="457200" cy="457200"/>
          </a:xfrm>
          <a:prstGeom prst="ellipse">
            <a:avLst/>
          </a:prstGeom>
          <a:solidFill>
            <a:srgbClr val="2A8C82"/>
          </a:solidFill>
          <a:ln w="12700">
            <a:solidFill>
              <a:srgbClr val="2A8C82"/>
            </a:solidFill>
            <a:prstDash val="solid"/>
          </a:ln>
        </p:spPr>
      </p:sp>
      <p:sp>
        <p:nvSpPr>
          <p:cNvPr id="22" name="Text 20"/>
          <p:cNvSpPr txBox="1"/>
          <p:nvPr/>
        </p:nvSpPr>
        <p:spPr>
          <a:xfrm>
            <a:off x="69494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1"/>
          <p:cNvSpPr txBox="1"/>
          <p:nvPr/>
        </p:nvSpPr>
        <p:spPr>
          <a:xfrm>
            <a:off x="6949440" y="2103120"/>
            <a:ext cx="1600200" cy="365760"/>
          </a:xfrm>
          <a:prstGeom prst="rect">
            <a:avLst/>
          </a:prstGeom>
          <a:noFill/>
          <a:ln/>
        </p:spPr>
        <p:txBody>
          <a:bodyPr wrap="square" lIns="0" tIns="0" rIns="0" bIns="0" rtlCol="0" anchor="ctr"/>
          <a:lstStyle/>
          <a:p>
            <a:pPr indent="0" marL="0">
              <a:buNone/>
            </a:pPr>
            <a:r>
              <a:rPr lang="en-US" sz="1500" b="1" dirty="0">
                <a:solidFill>
                  <a:schemeClr val="tx1"/>
                </a:solidFill>
              </a:rPr>
              <a:t>Retroalimentación</a:t>
            </a:r>
            <a:endParaRPr lang="en-US" sz="1500" dirty="0"/>
          </a:p>
        </p:txBody>
      </p:sp>
      <p:sp>
        <p:nvSpPr>
          <p:cNvPr id="24" name="Text 22"/>
          <p:cNvSpPr txBox="1"/>
          <p:nvPr/>
        </p:nvSpPr>
        <p:spPr>
          <a:xfrm>
            <a:off x="6949440" y="2487168"/>
            <a:ext cx="1554480" cy="1097280"/>
          </a:xfrm>
          <a:prstGeom prst="rect">
            <a:avLst/>
          </a:prstGeom>
          <a:noFill/>
          <a:ln/>
        </p:spPr>
        <p:txBody>
          <a:bodyPr wrap="square" lIns="0" tIns="0" rIns="0" bIns="0" rtlCol="0" anchor="t"/>
          <a:lstStyle/>
          <a:p>
            <a:pPr indent="0" marL="0">
              <a:buNone/>
            </a:pPr>
            <a:r>
              <a:rPr lang="en-US" sz="1300" dirty="0">
                <a:solidFill>
                  <a:schemeClr val="tx1"/>
                </a:solidFill>
              </a:rPr>
              <a:t>Ajusta la fuerza de las intuiciones y apaga la deliberación</a:t>
            </a:r>
            <a:endParaRPr lang="en-US" sz="1300" dirty="0"/>
          </a:p>
        </p:txBody>
      </p:sp>
      <p:sp>
        <p:nvSpPr>
          <p:cNvPr id="25" name="Text 23"/>
          <p:cNvSpPr txBox="1"/>
          <p:nvPr/>
        </p:nvSpPr>
        <p:spPr>
          <a:xfrm>
            <a:off x="457200" y="3730752"/>
            <a:ext cx="8229600" cy="274320"/>
          </a:xfrm>
          <a:prstGeom prst="rect">
            <a:avLst/>
          </a:prstGeom>
          <a:noFill/>
          <a:ln/>
        </p:spPr>
        <p:txBody>
          <a:bodyPr wrap="square" lIns="0" tIns="0" rIns="0" bIns="0" rtlCol="0" anchor="ctr"/>
          <a:lstStyle/>
          <a:p>
            <a:pPr algn="r" indent="0" marL="0">
              <a:buNone/>
            </a:pPr>
            <a:r>
              <a:rPr lang="en-US" sz="1200" i="1" dirty="0">
                <a:solidFill>
                  <a:schemeClr val="tx2"/>
                </a:solidFill>
              </a:rPr>
              <a:t>↺  la retroalimentación vuelve a las intuiciones</a:t>
            </a:r>
            <a:endParaRPr lang="en-US" sz="1200" dirty="0"/>
          </a:p>
        </p:txBody>
      </p:sp>
      <p:sp>
        <p:nvSpPr>
          <p:cNvPr id="26" name="Text 24"/>
          <p:cNvSpPr txBox="1"/>
          <p:nvPr/>
        </p:nvSpPr>
        <p:spPr>
          <a:xfrm>
            <a:off x="457200" y="4114800"/>
            <a:ext cx="8229600" cy="411480"/>
          </a:xfrm>
          <a:prstGeom prst="rect">
            <a:avLst/>
          </a:prstGeom>
          <a:noFill/>
          <a:ln/>
        </p:spPr>
        <p:txBody>
          <a:bodyPr wrap="square" lIns="0" tIns="0" rIns="0" bIns="0" rtlCol="0" anchor="ctr"/>
          <a:lstStyle/>
          <a:p>
            <a:pPr indent="0" marL="0">
              <a:buNone/>
            </a:pPr>
            <a:r>
              <a:rPr lang="en-US" sz="1600" b="1" dirty="0">
                <a:solidFill>
                  <a:schemeClr val="tx1"/>
                </a:solidFill>
              </a:rPr>
              <a:t>Conclusión del autor: </a:t>
            </a:r>
            <a:pPr indent="0" marL="0">
              <a:buNone/>
            </a:pPr>
            <a:r>
              <a:rPr lang="en-US" sz="1600" dirty="0">
                <a:solidFill>
                  <a:schemeClr val="tx1"/>
                </a:solidFill>
              </a:rPr>
              <a:t>todo modelo dual viable debe ser no exclusivo.</a:t>
            </a:r>
            <a:endParaRPr lang="en-US" sz="1600" dirty="0"/>
          </a:p>
        </p:txBody>
      </p:sp>
      <p:sp>
        <p:nvSpPr>
          <p:cNvPr id="27"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De Neys (2023a, pp. 8-11)</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tiqueta de rol"/>
          <p:cNvSpPr/>
          <p:nvPr/>
        </p:nvSpPr>
        <p:spPr>
          <a:xfrm>
            <a:off x="457200" y="201168"/>
            <a:ext cx="1463040" cy="274320"/>
          </a:xfrm>
          <a:prstGeom prst="roundRect">
            <a:avLst>
              <a:gd name="adj" fmla="val 50000"/>
            </a:avLst>
          </a:prstGeom>
          <a:solidFill>
            <a:srgbClr val="2A8C82"/>
          </a:solidFill>
          <a:ln w="12700">
            <a:solidFill>
              <a:srgbClr val="2A8C82"/>
            </a:solidFill>
            <a:prstDash val="solid"/>
          </a:ln>
        </p:spPr>
      </p:sp>
      <p:sp>
        <p:nvSpPr>
          <p:cNvPr id="3" name="Texto de etiqueta"/>
          <p:cNvSpPr txBox="1"/>
          <p:nvPr/>
        </p:nvSpPr>
        <p:spPr>
          <a:xfrm>
            <a:off x="457200" y="201168"/>
            <a:ext cx="1463040"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ACIERTO 1</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Un mecanismo donde Evans no lo tenía</a:t>
            </a:r>
            <a:endParaRPr lang="en-US" sz="2800" dirty="0"/>
          </a:p>
        </p:txBody>
      </p:sp>
      <p:sp>
        <p:nvSpPr>
          <p:cNvPr id="5" name="Evans"/>
          <p:cNvSpPr/>
          <p:nvPr/>
        </p:nvSpPr>
        <p:spPr>
          <a:xfrm>
            <a:off x="457200" y="1325880"/>
            <a:ext cx="3931920" cy="2148840"/>
          </a:xfrm>
          <a:prstGeom prst="roundRect">
            <a:avLst>
              <a:gd name="adj" fmla="val 3404"/>
            </a:avLst>
          </a:prstGeom>
          <a:solidFill>
            <a:srgbClr val="F1F2F6"/>
          </a:solidFill>
          <a:ln w="12700">
            <a:solidFill>
              <a:srgbClr val="F1F2F6"/>
            </a:solidFill>
            <a:prstDash val="solid"/>
          </a:ln>
        </p:spPr>
      </p:sp>
      <p:sp>
        <p:nvSpPr>
          <p:cNvPr id="6" name="Text 4"/>
          <p:cNvSpPr txBox="1"/>
          <p:nvPr/>
        </p:nvSpPr>
        <p:spPr>
          <a:xfrm>
            <a:off x="640080" y="141732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Teoría heurístico-analítica (Evans)</a:t>
            </a:r>
            <a:endParaRPr lang="en-US" sz="1500" dirty="0"/>
          </a:p>
        </p:txBody>
      </p:sp>
      <p:sp>
        <p:nvSpPr>
          <p:cNvPr id="7" name="Text 5"/>
          <p:cNvSpPr txBox="1"/>
          <p:nvPr/>
        </p:nvSpPr>
        <p:spPr>
          <a:xfrm>
            <a:off x="640080" y="182880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Estadio heurístico → sesgos</a:t>
            </a:r>
            <a:endParaRPr lang="en-US" sz="1400" dirty="0"/>
          </a:p>
          <a:p>
            <a:pPr marL="342900" indent="-342900">
              <a:spcAft>
                <a:spcPts val="600"/>
              </a:spcAft>
              <a:buSzPct val="100000"/>
              <a:buChar char="•"/>
            </a:pPr>
            <a:r>
              <a:rPr lang="en-US" sz="1400" dirty="0">
                <a:solidFill>
                  <a:schemeClr val="tx1"/>
                </a:solidFill>
              </a:rPr>
              <a:t>Estadio analítico → competencia lógica</a:t>
            </a:r>
            <a:endParaRPr lang="en-US" sz="1400" dirty="0"/>
          </a:p>
          <a:p>
            <a:pPr marL="342900" indent="-342900">
              <a:spcAft>
                <a:spcPts val="600"/>
              </a:spcAft>
              <a:buSzPct val="100000"/>
              <a:buChar char="•"/>
            </a:pPr>
            <a:r>
              <a:rPr lang="en-US" sz="1400" b="1" dirty="0">
                <a:solidFill>
                  <a:schemeClr val="accent3"/>
                </a:solidFill>
              </a:rPr>
              <a:t>¿Qué activa lo analítico? No lo especifica</a:t>
            </a:r>
            <a:endParaRPr lang="en-US" sz="1400" dirty="0"/>
          </a:p>
        </p:txBody>
      </p:sp>
      <p:sp>
        <p:nvSpPr>
          <p:cNvPr id="8" name="De Neys"/>
          <p:cNvSpPr/>
          <p:nvPr/>
        </p:nvSpPr>
        <p:spPr>
          <a:xfrm>
            <a:off x="4754880" y="1325880"/>
            <a:ext cx="3931920" cy="2148840"/>
          </a:xfrm>
          <a:prstGeom prst="roundRect">
            <a:avLst>
              <a:gd name="adj" fmla="val 3404"/>
            </a:avLst>
          </a:prstGeom>
          <a:solidFill>
            <a:srgbClr val="2A8C82"/>
          </a:solidFill>
          <a:ln w="12700">
            <a:solidFill>
              <a:srgbClr val="2A8C82"/>
            </a:solidFill>
            <a:prstDash val="solid"/>
          </a:ln>
        </p:spPr>
      </p:sp>
      <p:sp>
        <p:nvSpPr>
          <p:cNvPr id="9" name="Text 7"/>
          <p:cNvSpPr txBox="1"/>
          <p:nvPr/>
        </p:nvSpPr>
        <p:spPr>
          <a:xfrm>
            <a:off x="4937760" y="1417320"/>
            <a:ext cx="3657600" cy="365760"/>
          </a:xfrm>
          <a:prstGeom prst="rect">
            <a:avLst/>
          </a:prstGeom>
          <a:noFill/>
          <a:ln/>
        </p:spPr>
        <p:txBody>
          <a:bodyPr wrap="square" lIns="0" tIns="0" rIns="0" bIns="0" rtlCol="0" anchor="ctr"/>
          <a:lstStyle/>
          <a:p>
            <a:pPr indent="0" marL="0">
              <a:buNone/>
            </a:pPr>
            <a:r>
              <a:rPr lang="en-US" sz="1500" b="1" dirty="0">
                <a:solidFill>
                  <a:schemeClr val="bg1"/>
                </a:solidFill>
              </a:rPr>
              <a:t>De Neys (2023)</a:t>
            </a:r>
            <a:endParaRPr lang="en-US" sz="1500" dirty="0"/>
          </a:p>
        </p:txBody>
      </p:sp>
      <p:sp>
        <p:nvSpPr>
          <p:cNvPr id="10" name="Text 8"/>
          <p:cNvSpPr txBox="1"/>
          <p:nvPr/>
        </p:nvSpPr>
        <p:spPr>
          <a:xfrm>
            <a:off x="4937760" y="182880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Esa asignación es la exclusividad</a:t>
            </a:r>
            <a:endParaRPr lang="en-US" sz="1400" dirty="0"/>
          </a:p>
          <a:p>
            <a:pPr marL="342900" indent="-342900">
              <a:spcAft>
                <a:spcPts val="600"/>
              </a:spcAft>
              <a:buSzPct val="100000"/>
              <a:buChar char="•"/>
            </a:pPr>
            <a:r>
              <a:rPr lang="en-US" sz="1400" dirty="0">
                <a:solidFill>
                  <a:schemeClr val="bg1"/>
                </a:solidFill>
              </a:rPr>
              <a:t>Lo analítico se activa por incertidumbre + umbral</a:t>
            </a:r>
            <a:endParaRPr lang="en-US" sz="1400" dirty="0"/>
          </a:p>
          <a:p>
            <a:pPr marL="342900" indent="-342900">
              <a:spcAft>
                <a:spcPts val="600"/>
              </a:spcAft>
              <a:buSzPct val="100000"/>
              <a:buChar char="•"/>
            </a:pPr>
            <a:r>
              <a:rPr lang="en-US" sz="1400" dirty="0">
                <a:solidFill>
                  <a:schemeClr val="bg1"/>
                </a:solidFill>
              </a:rPr>
              <a:t>Deliberar a veces solo justifica la intuición</a:t>
            </a:r>
            <a:endParaRPr lang="en-US" sz="1400" dirty="0"/>
          </a:p>
        </p:txBody>
      </p:sp>
      <p:pic>
        <p:nvPicPr>
          <p:cNvPr id="11" name="Image 0" descr="Cita">    </p:cNvPr>
          <p:cNvPicPr>
            <a:picLocks noChangeAspect="1"/>
          </p:cNvPicPr>
          <p:nvPr/>
        </p:nvPicPr>
        <p:blipFill>
          <a:blip r:embed="rId1"/>
          <a:stretch>
            <a:fillRect/>
          </a:stretch>
        </p:blipFill>
        <p:spPr>
          <a:xfrm>
            <a:off x="457200" y="3730752"/>
            <a:ext cx="384048" cy="384048"/>
          </a:xfrm>
          <a:prstGeom prst="rect">
            <a:avLst/>
          </a:prstGeom>
        </p:spPr>
      </p:pic>
      <p:sp>
        <p:nvSpPr>
          <p:cNvPr id="12" name="Text 9"/>
          <p:cNvSpPr txBox="1"/>
          <p:nvPr/>
        </p:nvSpPr>
        <p:spPr>
          <a:xfrm>
            <a:off x="1005840" y="3639312"/>
            <a:ext cx="7680960" cy="868680"/>
          </a:xfrm>
          <a:prstGeom prst="rect">
            <a:avLst/>
          </a:prstGeom>
          <a:noFill/>
          <a:ln/>
        </p:spPr>
        <p:txBody>
          <a:bodyPr wrap="square" lIns="0" tIns="0" rIns="0" bIns="0" rtlCol="0" anchor="ctr"/>
          <a:lstStyle/>
          <a:p>
            <a:pPr indent="0" marL="0">
              <a:buNone/>
            </a:pPr>
            <a:r>
              <a:rPr lang="en-US" sz="1400" i="1" dirty="0">
                <a:solidFill>
                  <a:schemeClr val="tx1"/>
                </a:solidFill>
              </a:rPr>
              <a:t>«Las personas cometen errores en razonamiento porque piensan selectivamente» (Evans). </a:t>
            </a:r>
            <a:pPr indent="0" marL="0">
              <a:buNone/>
            </a:pPr>
            <a:r>
              <a:rPr lang="en-US" sz="1400" dirty="0">
                <a:solidFill>
                  <a:schemeClr val="tx1"/>
                </a:solidFill>
              </a:rPr>
              <a:t>Y frente a Tversky y Kahneman, «más descriptivos que explicativos», propone un proceso.</a:t>
            </a:r>
            <a:endParaRPr lang="en-US" sz="1400" dirty="0"/>
          </a:p>
        </p:txBody>
      </p:sp>
      <p:sp>
        <p:nvSpPr>
          <p:cNvPr id="13"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Valiña y Martín (2014, pp. 19-22); Pérez Echeverría y Bautista (2014, p. 18)</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tiqueta de rol"/>
          <p:cNvSpPr/>
          <p:nvPr/>
        </p:nvSpPr>
        <p:spPr>
          <a:xfrm>
            <a:off x="457200" y="201168"/>
            <a:ext cx="1463040" cy="274320"/>
          </a:xfrm>
          <a:prstGeom prst="roundRect">
            <a:avLst>
              <a:gd name="adj" fmla="val 50000"/>
            </a:avLst>
          </a:prstGeom>
          <a:solidFill>
            <a:srgbClr val="2A8C82"/>
          </a:solidFill>
          <a:ln w="12700">
            <a:solidFill>
              <a:srgbClr val="2A8C82"/>
            </a:solidFill>
            <a:prstDash val="solid"/>
          </a:ln>
        </p:spPr>
      </p:sp>
      <p:sp>
        <p:nvSpPr>
          <p:cNvPr id="3" name="Texto de etiqueta"/>
          <p:cNvSpPr txBox="1"/>
          <p:nvPr/>
        </p:nvSpPr>
        <p:spPr>
          <a:xfrm>
            <a:off x="457200" y="201168"/>
            <a:ext cx="1463040"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ACIERTO 2</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La intuición se educa</a:t>
            </a:r>
            <a:endParaRPr lang="en-US" sz="2800" dirty="0"/>
          </a:p>
        </p:txBody>
      </p:sp>
      <p:sp>
        <p:nvSpPr>
          <p:cNvPr id="5" name="Intuición primaria"/>
          <p:cNvSpPr/>
          <p:nvPr/>
        </p:nvSpPr>
        <p:spPr>
          <a:xfrm>
            <a:off x="457200" y="1325880"/>
            <a:ext cx="4206240" cy="914400"/>
          </a:xfrm>
          <a:prstGeom prst="roundRect">
            <a:avLst>
              <a:gd name="adj" fmla="val 8000"/>
            </a:avLst>
          </a:prstGeom>
          <a:solidFill>
            <a:srgbClr val="F1F2F6"/>
          </a:solidFill>
          <a:ln w="12700">
            <a:solidFill>
              <a:srgbClr val="F1F2F6"/>
            </a:solidFill>
            <a:prstDash val="solid"/>
          </a:ln>
        </p:spPr>
      </p:sp>
      <p:sp>
        <p:nvSpPr>
          <p:cNvPr id="6" name="Text 4"/>
          <p:cNvSpPr txBox="1"/>
          <p:nvPr/>
        </p:nvSpPr>
        <p:spPr>
          <a:xfrm>
            <a:off x="640080" y="1399032"/>
            <a:ext cx="3840480" cy="320040"/>
          </a:xfrm>
          <a:prstGeom prst="rect">
            <a:avLst/>
          </a:prstGeom>
          <a:noFill/>
          <a:ln/>
        </p:spPr>
        <p:txBody>
          <a:bodyPr wrap="square" lIns="0" tIns="0" rIns="0" bIns="0" rtlCol="0" anchor="ctr"/>
          <a:lstStyle/>
          <a:p>
            <a:pPr indent="0" marL="0">
              <a:buNone/>
            </a:pPr>
            <a:r>
              <a:rPr lang="en-US" sz="1500" b="1" dirty="0">
                <a:solidFill>
                  <a:schemeClr val="tx1"/>
                </a:solidFill>
              </a:rPr>
              <a:t>Intuición primaria</a:t>
            </a:r>
            <a:endParaRPr lang="en-US" sz="1500" dirty="0"/>
          </a:p>
        </p:txBody>
      </p:sp>
      <p:sp>
        <p:nvSpPr>
          <p:cNvPr id="7" name="Text 5"/>
          <p:cNvSpPr txBox="1"/>
          <p:nvPr/>
        </p:nvSpPr>
        <p:spPr>
          <a:xfrm>
            <a:off x="640080" y="1728216"/>
            <a:ext cx="3840480" cy="457200"/>
          </a:xfrm>
          <a:prstGeom prst="rect">
            <a:avLst/>
          </a:prstGeom>
          <a:noFill/>
          <a:ln/>
        </p:spPr>
        <p:txBody>
          <a:bodyPr wrap="square" lIns="0" tIns="0" rIns="0" bIns="0" rtlCol="0" anchor="t"/>
          <a:lstStyle/>
          <a:p>
            <a:pPr indent="0" marL="0">
              <a:buNone/>
            </a:pPr>
            <a:r>
              <a:rPr lang="en-US" sz="1300" dirty="0">
                <a:solidFill>
                  <a:schemeClr val="tx1"/>
                </a:solidFill>
              </a:rPr>
              <a:t>Surge de la experiencia; se parece a los sesgos (Fischbein)</a:t>
            </a:r>
            <a:endParaRPr lang="en-US" sz="1300" dirty="0"/>
          </a:p>
        </p:txBody>
      </p:sp>
      <p:sp>
        <p:nvSpPr>
          <p:cNvPr id="8" name="Intuición secundaria"/>
          <p:cNvSpPr/>
          <p:nvPr/>
        </p:nvSpPr>
        <p:spPr>
          <a:xfrm>
            <a:off x="777240" y="2404872"/>
            <a:ext cx="4206240" cy="914400"/>
          </a:xfrm>
          <a:prstGeom prst="roundRect">
            <a:avLst>
              <a:gd name="adj" fmla="val 8000"/>
            </a:avLst>
          </a:prstGeom>
          <a:solidFill>
            <a:srgbClr val="2A8C82"/>
          </a:solidFill>
          <a:ln w="12700">
            <a:solidFill>
              <a:srgbClr val="2A8C82"/>
            </a:solidFill>
            <a:prstDash val="solid"/>
          </a:ln>
        </p:spPr>
      </p:sp>
      <p:sp>
        <p:nvSpPr>
          <p:cNvPr id="9" name="Text 7"/>
          <p:cNvSpPr txBox="1"/>
          <p:nvPr/>
        </p:nvSpPr>
        <p:spPr>
          <a:xfrm>
            <a:off x="960120" y="2478024"/>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Intuición secundaria</a:t>
            </a:r>
            <a:endParaRPr lang="en-US" sz="1500" dirty="0"/>
          </a:p>
        </p:txBody>
      </p:sp>
      <p:sp>
        <p:nvSpPr>
          <p:cNvPr id="10" name="Text 8"/>
          <p:cNvSpPr txBox="1"/>
          <p:nvPr/>
        </p:nvSpPr>
        <p:spPr>
          <a:xfrm>
            <a:off x="960120" y="2807208"/>
            <a:ext cx="3840480" cy="457200"/>
          </a:xfrm>
          <a:prstGeom prst="rect">
            <a:avLst/>
          </a:prstGeom>
          <a:noFill/>
          <a:ln/>
        </p:spPr>
        <p:txBody>
          <a:bodyPr wrap="square" lIns="0" tIns="0" rIns="0" bIns="0" rtlCol="0" anchor="t"/>
          <a:lstStyle/>
          <a:p>
            <a:pPr indent="0" marL="0">
              <a:buNone/>
            </a:pPr>
            <a:r>
              <a:rPr lang="en-US" sz="1300" dirty="0">
                <a:solidFill>
                  <a:schemeClr val="bg1"/>
                </a:solidFill>
              </a:rPr>
              <a:t>Se logra por instrucción y esfuerzo deliberado (Fischbein, Hogarth)</a:t>
            </a:r>
            <a:endParaRPr lang="en-US" sz="1300" dirty="0"/>
          </a:p>
        </p:txBody>
      </p:sp>
      <p:sp>
        <p:nvSpPr>
          <p:cNvPr id="11" name="Experto"/>
          <p:cNvSpPr/>
          <p:nvPr/>
        </p:nvSpPr>
        <p:spPr>
          <a:xfrm>
            <a:off x="1097280" y="3483864"/>
            <a:ext cx="4206240" cy="914400"/>
          </a:xfrm>
          <a:prstGeom prst="roundRect">
            <a:avLst>
              <a:gd name="adj" fmla="val 8000"/>
            </a:avLst>
          </a:prstGeom>
          <a:solidFill>
            <a:srgbClr val="262A3F"/>
          </a:solidFill>
          <a:ln w="12700">
            <a:solidFill>
              <a:srgbClr val="262A3F"/>
            </a:solidFill>
            <a:prstDash val="solid"/>
          </a:ln>
        </p:spPr>
      </p:sp>
      <p:sp>
        <p:nvSpPr>
          <p:cNvPr id="12" name="Text 10"/>
          <p:cNvSpPr txBox="1"/>
          <p:nvPr/>
        </p:nvSpPr>
        <p:spPr>
          <a:xfrm>
            <a:off x="1280160" y="3557016"/>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Experto</a:t>
            </a:r>
            <a:endParaRPr lang="en-US" sz="1500" dirty="0"/>
          </a:p>
        </p:txBody>
      </p:sp>
      <p:sp>
        <p:nvSpPr>
          <p:cNvPr id="13" name="Text 11"/>
          <p:cNvSpPr txBox="1"/>
          <p:nvPr/>
        </p:nvSpPr>
        <p:spPr>
          <a:xfrm>
            <a:off x="1280160" y="3886200"/>
            <a:ext cx="3840480" cy="457200"/>
          </a:xfrm>
          <a:prstGeom prst="rect">
            <a:avLst/>
          </a:prstGeom>
          <a:noFill/>
          <a:ln/>
        </p:spPr>
        <p:txBody>
          <a:bodyPr wrap="square" lIns="0" tIns="0" rIns="0" bIns="0" rtlCol="0" anchor="t"/>
          <a:lstStyle/>
          <a:p>
            <a:pPr indent="0" marL="0">
              <a:buNone/>
            </a:pPr>
            <a:r>
              <a:rPr lang="en-US" sz="1300" dirty="0">
                <a:solidFill>
                  <a:schemeClr val="bg1"/>
                </a:solidFill>
              </a:rPr>
              <a:t>Lo deliberado se vuelve tácito: = la «intuición lógica» de De Neys</a:t>
            </a:r>
            <a:endParaRPr lang="en-US" sz="1300" dirty="0"/>
          </a:p>
        </p:txBody>
      </p:sp>
      <p:sp>
        <p:nvSpPr>
          <p:cNvPr id="14" name="Text 12"/>
          <p:cNvSpPr txBox="1"/>
          <p:nvPr/>
        </p:nvSpPr>
        <p:spPr>
          <a:xfrm>
            <a:off x="5623560" y="1325880"/>
            <a:ext cx="3063240" cy="365760"/>
          </a:xfrm>
          <a:prstGeom prst="rect">
            <a:avLst/>
          </a:prstGeom>
          <a:noFill/>
          <a:ln/>
        </p:spPr>
        <p:txBody>
          <a:bodyPr wrap="square" lIns="0" tIns="0" rIns="0" bIns="0" rtlCol="0" anchor="ctr"/>
          <a:lstStyle/>
          <a:p>
            <a:pPr indent="0" marL="0">
              <a:buNone/>
            </a:pPr>
            <a:r>
              <a:rPr lang="en-US" sz="1700" b="1" dirty="0">
                <a:solidFill>
                  <a:schemeClr val="tx1"/>
                </a:solidFill>
              </a:rPr>
              <a:t>Método convergente</a:t>
            </a:r>
            <a:endParaRPr lang="en-US" sz="1700" dirty="0"/>
          </a:p>
        </p:txBody>
      </p:sp>
      <p:sp>
        <p:nvSpPr>
          <p:cNvPr id="15" name="Text 13"/>
          <p:cNvSpPr txBox="1"/>
          <p:nvPr/>
        </p:nvSpPr>
        <p:spPr>
          <a:xfrm>
            <a:off x="5623560" y="1691640"/>
            <a:ext cx="3063240" cy="457200"/>
          </a:xfrm>
          <a:prstGeom prst="rect">
            <a:avLst/>
          </a:prstGeom>
          <a:noFill/>
          <a:ln/>
        </p:spPr>
        <p:txBody>
          <a:bodyPr wrap="square" lIns="0" tIns="0" rIns="0" bIns="0" rtlCol="0" anchor="t"/>
          <a:lstStyle/>
          <a:p>
            <a:pPr indent="0" marL="0">
              <a:buNone/>
            </a:pPr>
            <a:r>
              <a:rPr lang="en-US" sz="1200" i="1" dirty="0">
                <a:solidFill>
                  <a:schemeClr val="tx2"/>
                </a:solidFill>
              </a:rPr>
              <a:t>lo que pedía Pérez Echeverría para estudiar lo implícito</a:t>
            </a:r>
            <a:endParaRPr lang="en-US" sz="1200" dirty="0"/>
          </a:p>
        </p:txBody>
      </p:sp>
      <p:pic>
        <p:nvPicPr>
          <p:cNvPr id="16" name="Image 0" descr="Tiempos de respuesta">    </p:cNvPr>
          <p:cNvPicPr>
            <a:picLocks noChangeAspect="1"/>
          </p:cNvPicPr>
          <p:nvPr/>
        </p:nvPicPr>
        <p:blipFill>
          <a:blip r:embed="rId1"/>
          <a:stretch>
            <a:fillRect/>
          </a:stretch>
        </p:blipFill>
        <p:spPr>
          <a:xfrm>
            <a:off x="5623560" y="2240280"/>
            <a:ext cx="329184" cy="329184"/>
          </a:xfrm>
          <a:prstGeom prst="rect">
            <a:avLst/>
          </a:prstGeom>
        </p:spPr>
      </p:pic>
      <p:sp>
        <p:nvSpPr>
          <p:cNvPr id="17" name="Text 14"/>
          <p:cNvSpPr txBox="1"/>
          <p:nvPr/>
        </p:nvSpPr>
        <p:spPr>
          <a:xfrm>
            <a:off x="6080760" y="2203704"/>
            <a:ext cx="2606040" cy="402336"/>
          </a:xfrm>
          <a:prstGeom prst="rect">
            <a:avLst/>
          </a:prstGeom>
          <a:noFill/>
          <a:ln/>
        </p:spPr>
        <p:txBody>
          <a:bodyPr wrap="square" lIns="0" tIns="0" rIns="0" bIns="0" rtlCol="0" anchor="ctr"/>
          <a:lstStyle/>
          <a:p>
            <a:pPr indent="0" marL="0">
              <a:buNone/>
            </a:pPr>
            <a:r>
              <a:rPr lang="en-US" sz="1400" dirty="0">
                <a:solidFill>
                  <a:schemeClr val="tx1"/>
                </a:solidFill>
              </a:rPr>
              <a:t>Tiempos de respuesta</a:t>
            </a:r>
            <a:endParaRPr lang="en-US" sz="1400" dirty="0"/>
          </a:p>
        </p:txBody>
      </p:sp>
      <p:pic>
        <p:nvPicPr>
          <p:cNvPr id="18" name="Image 1" descr="Confianza">    </p:cNvPr>
          <p:cNvPicPr>
            <a:picLocks noChangeAspect="1"/>
          </p:cNvPicPr>
          <p:nvPr/>
        </p:nvPicPr>
        <p:blipFill>
          <a:blip r:embed="rId2"/>
          <a:stretch>
            <a:fillRect/>
          </a:stretch>
        </p:blipFill>
        <p:spPr>
          <a:xfrm>
            <a:off x="5623560" y="2788920"/>
            <a:ext cx="329184" cy="329184"/>
          </a:xfrm>
          <a:prstGeom prst="rect">
            <a:avLst/>
          </a:prstGeom>
        </p:spPr>
      </p:pic>
      <p:sp>
        <p:nvSpPr>
          <p:cNvPr id="19" name="Text 15"/>
          <p:cNvSpPr txBox="1"/>
          <p:nvPr/>
        </p:nvSpPr>
        <p:spPr>
          <a:xfrm>
            <a:off x="6080760" y="2752344"/>
            <a:ext cx="2606040" cy="402336"/>
          </a:xfrm>
          <a:prstGeom prst="rect">
            <a:avLst/>
          </a:prstGeom>
          <a:noFill/>
          <a:ln/>
        </p:spPr>
        <p:txBody>
          <a:bodyPr wrap="square" lIns="0" tIns="0" rIns="0" bIns="0" rtlCol="0" anchor="ctr"/>
          <a:lstStyle/>
          <a:p>
            <a:pPr indent="0" marL="0">
              <a:buNone/>
            </a:pPr>
            <a:r>
              <a:rPr lang="en-US" sz="1400" dirty="0">
                <a:solidFill>
                  <a:schemeClr val="tx1"/>
                </a:solidFill>
              </a:rPr>
              <a:t>Confianza</a:t>
            </a:r>
            <a:endParaRPr lang="en-US" sz="1400" dirty="0"/>
          </a:p>
        </p:txBody>
      </p:sp>
      <p:pic>
        <p:nvPicPr>
          <p:cNvPr id="20" name="Image 2" descr="Respuestas bajo carga">    </p:cNvPr>
          <p:cNvPicPr>
            <a:picLocks noChangeAspect="1"/>
          </p:cNvPicPr>
          <p:nvPr/>
        </p:nvPicPr>
        <p:blipFill>
          <a:blip r:embed="rId3"/>
          <a:stretch>
            <a:fillRect/>
          </a:stretch>
        </p:blipFill>
        <p:spPr>
          <a:xfrm>
            <a:off x="5623560" y="3337560"/>
            <a:ext cx="329184" cy="329184"/>
          </a:xfrm>
          <a:prstGeom prst="rect">
            <a:avLst/>
          </a:prstGeom>
        </p:spPr>
      </p:pic>
      <p:sp>
        <p:nvSpPr>
          <p:cNvPr id="21" name="Text 16"/>
          <p:cNvSpPr txBox="1"/>
          <p:nvPr/>
        </p:nvSpPr>
        <p:spPr>
          <a:xfrm>
            <a:off x="6080760" y="3300984"/>
            <a:ext cx="2606040" cy="402336"/>
          </a:xfrm>
          <a:prstGeom prst="rect">
            <a:avLst/>
          </a:prstGeom>
          <a:noFill/>
          <a:ln/>
        </p:spPr>
        <p:txBody>
          <a:bodyPr wrap="square" lIns="0" tIns="0" rIns="0" bIns="0" rtlCol="0" anchor="ctr"/>
          <a:lstStyle/>
          <a:p>
            <a:pPr indent="0" marL="0">
              <a:buNone/>
            </a:pPr>
            <a:r>
              <a:rPr lang="en-US" sz="1400" dirty="0">
                <a:solidFill>
                  <a:schemeClr val="tx1"/>
                </a:solidFill>
              </a:rPr>
              <a:t>Respuestas bajo carga</a:t>
            </a:r>
            <a:endParaRPr lang="en-US" sz="1400" dirty="0"/>
          </a:p>
        </p:txBody>
      </p:sp>
      <p:pic>
        <p:nvPicPr>
          <p:cNvPr id="22" name="Image 3" descr="Justificaciones">    </p:cNvPr>
          <p:cNvPicPr>
            <a:picLocks noChangeAspect="1"/>
          </p:cNvPicPr>
          <p:nvPr/>
        </p:nvPicPr>
        <p:blipFill>
          <a:blip r:embed="rId4"/>
          <a:stretch>
            <a:fillRect/>
          </a:stretch>
        </p:blipFill>
        <p:spPr>
          <a:xfrm>
            <a:off x="5623560" y="3886200"/>
            <a:ext cx="329184" cy="329184"/>
          </a:xfrm>
          <a:prstGeom prst="rect">
            <a:avLst/>
          </a:prstGeom>
        </p:spPr>
      </p:pic>
      <p:sp>
        <p:nvSpPr>
          <p:cNvPr id="23" name="Text 17"/>
          <p:cNvSpPr txBox="1"/>
          <p:nvPr/>
        </p:nvSpPr>
        <p:spPr>
          <a:xfrm>
            <a:off x="6080760" y="3849624"/>
            <a:ext cx="2606040" cy="402336"/>
          </a:xfrm>
          <a:prstGeom prst="rect">
            <a:avLst/>
          </a:prstGeom>
          <a:noFill/>
          <a:ln/>
        </p:spPr>
        <p:txBody>
          <a:bodyPr wrap="square" lIns="0" tIns="0" rIns="0" bIns="0" rtlCol="0" anchor="ctr"/>
          <a:lstStyle/>
          <a:p>
            <a:pPr indent="0" marL="0">
              <a:buNone/>
            </a:pPr>
            <a:r>
              <a:rPr lang="en-US" sz="1400" dirty="0">
                <a:solidFill>
                  <a:schemeClr val="tx1"/>
                </a:solidFill>
              </a:rPr>
              <a:t>Justificaciones</a:t>
            </a:r>
            <a:endParaRPr lang="en-US" sz="1400" dirty="0"/>
          </a:p>
        </p:txBody>
      </p:sp>
      <p:sp>
        <p:nvSpPr>
          <p:cNvPr id="24"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Pérez Echeverría y Bautista (2014, pp. 7-8, 18-20); De Neys (2023a, p. 12)</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tiqueta de rol"/>
          <p:cNvSpPr/>
          <p:nvPr/>
        </p:nvSpPr>
        <p:spPr>
          <a:xfrm>
            <a:off x="457200" y="201168"/>
            <a:ext cx="1463040" cy="274320"/>
          </a:xfrm>
          <a:prstGeom prst="roundRect">
            <a:avLst>
              <a:gd name="adj" fmla="val 50000"/>
            </a:avLst>
          </a:prstGeom>
          <a:solidFill>
            <a:srgbClr val="D2553F"/>
          </a:solidFill>
          <a:ln w="12700">
            <a:solidFill>
              <a:srgbClr val="D2553F"/>
            </a:solidFill>
            <a:prstDash val="solid"/>
          </a:ln>
        </p:spPr>
      </p:sp>
      <p:sp>
        <p:nvSpPr>
          <p:cNvPr id="3" name="Texto de etiqueta"/>
          <p:cNvSpPr txBox="1"/>
          <p:nvPr/>
        </p:nvSpPr>
        <p:spPr>
          <a:xfrm>
            <a:off x="457200" y="201168"/>
            <a:ext cx="1463040"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CRÍTICA 1</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¿Umbral o continuo?</a:t>
            </a:r>
            <a:endParaRPr lang="en-US" sz="2800" dirty="0"/>
          </a:p>
        </p:txBody>
      </p:sp>
      <p:sp>
        <p:nvSpPr>
          <p:cNvPr id="5" name="Text 3"/>
          <p:cNvSpPr txBox="1"/>
          <p:nvPr/>
        </p:nvSpPr>
        <p:spPr>
          <a:xfrm>
            <a:off x="457200" y="1325880"/>
            <a:ext cx="4023360" cy="320040"/>
          </a:xfrm>
          <a:prstGeom prst="rect">
            <a:avLst/>
          </a:prstGeom>
          <a:noFill/>
          <a:ln/>
        </p:spPr>
        <p:txBody>
          <a:bodyPr wrap="square" lIns="0" tIns="0" rIns="0" bIns="0" rtlCol="0" anchor="ctr"/>
          <a:lstStyle/>
          <a:p>
            <a:pPr indent="0" marL="0">
              <a:buNone/>
            </a:pPr>
            <a:r>
              <a:rPr lang="en-US" sz="1500" b="1" dirty="0">
                <a:solidFill>
                  <a:schemeClr val="tx1"/>
                </a:solidFill>
              </a:rPr>
              <a:t>Lo que vimos en la materia: un continuo</a:t>
            </a:r>
            <a:endParaRPr lang="en-US" sz="1500" dirty="0"/>
          </a:p>
        </p:txBody>
      </p:sp>
      <p:sp>
        <p:nvSpPr>
          <p:cNvPr id="6" name="Continuo 1"/>
          <p:cNvSpPr/>
          <p:nvPr/>
        </p:nvSpPr>
        <p:spPr>
          <a:xfrm>
            <a:off x="457200" y="1737360"/>
            <a:ext cx="804672" cy="384048"/>
          </a:xfrm>
          <a:prstGeom prst="rect">
            <a:avLst/>
          </a:prstGeom>
          <a:solidFill>
            <a:srgbClr val="F3C98B"/>
          </a:solidFill>
          <a:ln w="12700">
            <a:solidFill>
              <a:srgbClr val="F3C98B"/>
            </a:solidFill>
            <a:prstDash val="solid"/>
          </a:ln>
        </p:spPr>
      </p:sp>
      <p:sp>
        <p:nvSpPr>
          <p:cNvPr id="7" name="Continuo 2"/>
          <p:cNvSpPr/>
          <p:nvPr/>
        </p:nvSpPr>
        <p:spPr>
          <a:xfrm>
            <a:off x="1261872" y="1737360"/>
            <a:ext cx="804672" cy="384048"/>
          </a:xfrm>
          <a:prstGeom prst="rect">
            <a:avLst/>
          </a:prstGeom>
          <a:solidFill>
            <a:srgbClr val="E9A23B"/>
          </a:solidFill>
          <a:ln w="12700">
            <a:solidFill>
              <a:srgbClr val="E9A23B"/>
            </a:solidFill>
            <a:prstDash val="solid"/>
          </a:ln>
        </p:spPr>
      </p:sp>
      <p:sp>
        <p:nvSpPr>
          <p:cNvPr id="8" name="Continuo 3"/>
          <p:cNvSpPr/>
          <p:nvPr/>
        </p:nvSpPr>
        <p:spPr>
          <a:xfrm>
            <a:off x="2066544" y="1737360"/>
            <a:ext cx="804672" cy="384048"/>
          </a:xfrm>
          <a:prstGeom prst="rect">
            <a:avLst/>
          </a:prstGeom>
          <a:solidFill>
            <a:srgbClr val="B59A5E"/>
          </a:solidFill>
          <a:ln w="12700">
            <a:solidFill>
              <a:srgbClr val="B59A5E"/>
            </a:solidFill>
            <a:prstDash val="solid"/>
          </a:ln>
        </p:spPr>
      </p:sp>
      <p:sp>
        <p:nvSpPr>
          <p:cNvPr id="9" name="Continuo 4"/>
          <p:cNvSpPr/>
          <p:nvPr/>
        </p:nvSpPr>
        <p:spPr>
          <a:xfrm>
            <a:off x="2871216" y="1737360"/>
            <a:ext cx="804672" cy="384048"/>
          </a:xfrm>
          <a:prstGeom prst="rect">
            <a:avLst/>
          </a:prstGeom>
          <a:solidFill>
            <a:srgbClr val="6F9A85"/>
          </a:solidFill>
          <a:ln w="12700">
            <a:solidFill>
              <a:srgbClr val="6F9A85"/>
            </a:solidFill>
            <a:prstDash val="solid"/>
          </a:ln>
        </p:spPr>
      </p:sp>
      <p:sp>
        <p:nvSpPr>
          <p:cNvPr id="10" name="Continuo 5"/>
          <p:cNvSpPr/>
          <p:nvPr/>
        </p:nvSpPr>
        <p:spPr>
          <a:xfrm>
            <a:off x="3675888" y="1737360"/>
            <a:ext cx="804672" cy="384048"/>
          </a:xfrm>
          <a:prstGeom prst="rect">
            <a:avLst/>
          </a:prstGeom>
          <a:solidFill>
            <a:srgbClr val="2A8C82"/>
          </a:solidFill>
          <a:ln w="12700">
            <a:solidFill>
              <a:srgbClr val="2A8C82"/>
            </a:solidFill>
            <a:prstDash val="solid"/>
          </a:ln>
        </p:spPr>
      </p:sp>
      <p:sp>
        <p:nvSpPr>
          <p:cNvPr id="11" name="Text 9"/>
          <p:cNvSpPr txBox="1"/>
          <p:nvPr/>
        </p:nvSpPr>
        <p:spPr>
          <a:xfrm>
            <a:off x="457200" y="2167128"/>
            <a:ext cx="1371600" cy="274320"/>
          </a:xfrm>
          <a:prstGeom prst="rect">
            <a:avLst/>
          </a:prstGeom>
          <a:noFill/>
          <a:ln/>
        </p:spPr>
        <p:txBody>
          <a:bodyPr wrap="square" lIns="0" tIns="0" rIns="0" bIns="0" rtlCol="0" anchor="ctr"/>
          <a:lstStyle/>
          <a:p>
            <a:pPr indent="0" marL="0">
              <a:buNone/>
            </a:pPr>
            <a:r>
              <a:rPr lang="en-US" sz="1200" dirty="0">
                <a:solidFill>
                  <a:schemeClr val="tx2"/>
                </a:solidFill>
              </a:rPr>
              <a:t>implícito</a:t>
            </a:r>
            <a:endParaRPr lang="en-US" sz="1200" dirty="0"/>
          </a:p>
        </p:txBody>
      </p:sp>
      <p:sp>
        <p:nvSpPr>
          <p:cNvPr id="12" name="Text 10"/>
          <p:cNvSpPr txBox="1"/>
          <p:nvPr/>
        </p:nvSpPr>
        <p:spPr>
          <a:xfrm>
            <a:off x="3108960" y="2167128"/>
            <a:ext cx="1371600" cy="274320"/>
          </a:xfrm>
          <a:prstGeom prst="rect">
            <a:avLst/>
          </a:prstGeom>
          <a:noFill/>
          <a:ln/>
        </p:spPr>
        <p:txBody>
          <a:bodyPr wrap="square" lIns="0" tIns="0" rIns="0" bIns="0" rtlCol="0" anchor="ctr"/>
          <a:lstStyle/>
          <a:p>
            <a:pPr algn="r" indent="0" marL="0">
              <a:buNone/>
            </a:pPr>
            <a:r>
              <a:rPr lang="en-US" sz="1200" dirty="0">
                <a:solidFill>
                  <a:schemeClr val="tx2"/>
                </a:solidFill>
              </a:rPr>
              <a:t>explícito</a:t>
            </a:r>
            <a:endParaRPr lang="en-US" sz="1200" dirty="0"/>
          </a:p>
        </p:txBody>
      </p:sp>
      <p:sp>
        <p:nvSpPr>
          <p:cNvPr id="13" name="Text 11"/>
          <p:cNvSpPr txBox="1"/>
          <p:nvPr/>
        </p:nvSpPr>
        <p:spPr>
          <a:xfrm>
            <a:off x="457200" y="2606040"/>
            <a:ext cx="4023360" cy="320040"/>
          </a:xfrm>
          <a:prstGeom prst="rect">
            <a:avLst/>
          </a:prstGeom>
          <a:noFill/>
          <a:ln/>
        </p:spPr>
        <p:txBody>
          <a:bodyPr wrap="square" lIns="0" tIns="0" rIns="0" bIns="0" rtlCol="0" anchor="ctr"/>
          <a:lstStyle/>
          <a:p>
            <a:pPr indent="0" marL="0">
              <a:buNone/>
            </a:pPr>
            <a:r>
              <a:rPr lang="en-US" sz="1500" b="1" dirty="0">
                <a:solidFill>
                  <a:schemeClr val="tx1"/>
                </a:solidFill>
              </a:rPr>
              <a:t>Lo que propone De Neys: un interruptor</a:t>
            </a:r>
            <a:endParaRPr lang="en-US" sz="1500" dirty="0"/>
          </a:p>
        </p:txBody>
      </p:sp>
      <p:sp>
        <p:nvSpPr>
          <p:cNvPr id="14" name="Sistema 1 apagado"/>
          <p:cNvSpPr/>
          <p:nvPr/>
        </p:nvSpPr>
        <p:spPr>
          <a:xfrm>
            <a:off x="457200" y="3017520"/>
            <a:ext cx="2011680" cy="384048"/>
          </a:xfrm>
          <a:prstGeom prst="rect">
            <a:avLst/>
          </a:prstGeom>
          <a:solidFill>
            <a:srgbClr val="E9A23B"/>
          </a:solidFill>
          <a:ln w="12700">
            <a:solidFill>
              <a:srgbClr val="E9A23B"/>
            </a:solidFill>
            <a:prstDash val="solid"/>
          </a:ln>
        </p:spPr>
      </p:sp>
      <p:sp>
        <p:nvSpPr>
          <p:cNvPr id="15" name="Sistema 2 encendido"/>
          <p:cNvSpPr/>
          <p:nvPr/>
        </p:nvSpPr>
        <p:spPr>
          <a:xfrm>
            <a:off x="2468880" y="3017520"/>
            <a:ext cx="2011680" cy="384048"/>
          </a:xfrm>
          <a:prstGeom prst="rect">
            <a:avLst/>
          </a:prstGeom>
          <a:solidFill>
            <a:srgbClr val="2A8C82"/>
          </a:solidFill>
          <a:ln w="12700">
            <a:solidFill>
              <a:srgbClr val="2A8C82"/>
            </a:solidFill>
            <a:prstDash val="solid"/>
          </a:ln>
        </p:spPr>
      </p:sp>
      <p:sp>
        <p:nvSpPr>
          <p:cNvPr id="16" name="Umbral"/>
          <p:cNvSpPr/>
          <p:nvPr/>
        </p:nvSpPr>
        <p:spPr>
          <a:xfrm>
            <a:off x="2468880" y="2880360"/>
            <a:ext cx="0" cy="658368"/>
          </a:xfrm>
          <a:prstGeom prst="line">
            <a:avLst/>
          </a:prstGeom>
          <a:noFill/>
          <a:ln w="31750">
            <a:solidFill>
              <a:srgbClr val="D2553F"/>
            </a:solidFill>
            <a:prstDash val="dash"/>
          </a:ln>
        </p:spPr>
      </p:sp>
      <p:sp>
        <p:nvSpPr>
          <p:cNvPr id="17" name="Text 15"/>
          <p:cNvSpPr txBox="1"/>
          <p:nvPr/>
        </p:nvSpPr>
        <p:spPr>
          <a:xfrm>
            <a:off x="2011680" y="349300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umbral</a:t>
            </a:r>
            <a:endParaRPr lang="en-US" sz="1200" dirty="0"/>
          </a:p>
        </p:txBody>
      </p:sp>
      <p:sp>
        <p:nvSpPr>
          <p:cNvPr id="18" name="Text 16"/>
          <p:cNvSpPr txBox="1"/>
          <p:nvPr/>
        </p:nvSpPr>
        <p:spPr>
          <a:xfrm>
            <a:off x="457200" y="3886200"/>
            <a:ext cx="4023360" cy="640080"/>
          </a:xfrm>
          <a:prstGeom prst="rect">
            <a:avLst/>
          </a:prstGeom>
          <a:noFill/>
          <a:ln/>
        </p:spPr>
        <p:txBody>
          <a:bodyPr wrap="square" lIns="0" tIns="0" rIns="0" bIns="0" rtlCol="0" anchor="t"/>
          <a:lstStyle/>
          <a:p>
            <a:pPr indent="0" marL="0">
              <a:buNone/>
            </a:pPr>
            <a:r>
              <a:rPr lang="en-US" sz="1300" dirty="0">
                <a:solidFill>
                  <a:schemeClr val="tx1"/>
                </a:solidFill>
              </a:rPr>
              <a:t>Ni el autor encuentra un umbral que separe intuición de deliberación (p. 5).</a:t>
            </a:r>
            <a:endParaRPr lang="en-US" sz="1300" dirty="0"/>
          </a:p>
        </p:txBody>
      </p:sp>
      <p:sp>
        <p:nvSpPr>
          <p:cNvPr id="19" name="Modelo verbal"/>
          <p:cNvSpPr/>
          <p:nvPr/>
        </p:nvSpPr>
        <p:spPr>
          <a:xfrm>
            <a:off x="4846320" y="1325880"/>
            <a:ext cx="3840480" cy="3200400"/>
          </a:xfrm>
          <a:prstGeom prst="roundRect">
            <a:avLst>
              <a:gd name="adj" fmla="val 2286"/>
            </a:avLst>
          </a:prstGeom>
          <a:solidFill>
            <a:srgbClr val="F1F2F6"/>
          </a:solidFill>
          <a:ln w="12700">
            <a:solidFill>
              <a:srgbClr val="F1F2F6"/>
            </a:solidFill>
            <a:prstDash val="solid"/>
          </a:ln>
        </p:spPr>
      </p:sp>
      <p:sp>
        <p:nvSpPr>
          <p:cNvPr id="20" name="Text 18"/>
          <p:cNvSpPr txBox="1"/>
          <p:nvPr/>
        </p:nvSpPr>
        <p:spPr>
          <a:xfrm>
            <a:off x="5029200" y="1417320"/>
            <a:ext cx="3566160" cy="365760"/>
          </a:xfrm>
          <a:prstGeom prst="rect">
            <a:avLst/>
          </a:prstGeom>
          <a:noFill/>
          <a:ln/>
        </p:spPr>
        <p:txBody>
          <a:bodyPr wrap="square" lIns="0" tIns="0" rIns="0" bIns="0" rtlCol="0" anchor="ctr"/>
          <a:lstStyle/>
          <a:p>
            <a:pPr indent="0" marL="0">
              <a:buNone/>
            </a:pPr>
            <a:r>
              <a:rPr lang="en-US" sz="1500" b="1" dirty="0">
                <a:solidFill>
                  <a:schemeClr val="tx1"/>
                </a:solidFill>
              </a:rPr>
              <a:t>Un modelo que todavía no predice</a:t>
            </a:r>
            <a:endParaRPr lang="en-US" sz="1500" dirty="0"/>
          </a:p>
        </p:txBody>
      </p:sp>
      <p:sp>
        <p:nvSpPr>
          <p:cNvPr id="21" name="Text 19"/>
          <p:cNvSpPr txBox="1"/>
          <p:nvPr/>
        </p:nvSpPr>
        <p:spPr>
          <a:xfrm>
            <a:off x="5029200" y="1828800"/>
            <a:ext cx="3520440" cy="594360"/>
          </a:xfrm>
          <a:prstGeom prst="rect">
            <a:avLst/>
          </a:prstGeom>
          <a:noFill/>
          <a:ln/>
        </p:spPr>
        <p:txBody>
          <a:bodyPr wrap="square" lIns="0" tIns="0" rIns="0" bIns="0" rtlCol="0" anchor="t"/>
          <a:lstStyle/>
          <a:p>
            <a:pPr indent="0" marL="0">
              <a:buNone/>
            </a:pPr>
            <a:r>
              <a:rPr lang="en-US" sz="1300" dirty="0">
                <a:solidFill>
                  <a:schemeClr val="tx1"/>
                </a:solidFill>
              </a:rPr>
              <a:t>Sin valores para la fuerza ni para el umbral, todo se explica después:</a:t>
            </a:r>
            <a:endParaRPr lang="en-US" sz="1300" dirty="0"/>
          </a:p>
        </p:txBody>
      </p:sp>
      <p:sp>
        <p:nvSpPr>
          <p:cNvPr id="22" name="Text 20"/>
          <p:cNvSpPr txBox="1"/>
          <p:nvPr/>
        </p:nvSpPr>
        <p:spPr>
          <a:xfrm>
            <a:off x="5029200" y="2487168"/>
            <a:ext cx="3520440" cy="347472"/>
          </a:xfrm>
          <a:prstGeom prst="rect">
            <a:avLst/>
          </a:prstGeom>
          <a:noFill/>
          <a:ln/>
        </p:spPr>
        <p:txBody>
          <a:bodyPr wrap="square" lIns="0" tIns="0" rIns="0" bIns="0" rtlCol="0" anchor="ctr"/>
          <a:lstStyle/>
          <a:p>
            <a:pPr indent="0" marL="0">
              <a:buNone/>
            </a:pPr>
            <a:r>
              <a:rPr lang="en-US" sz="1400" b="1" dirty="0">
                <a:solidFill>
                  <a:schemeClr val="accent3"/>
                </a:solidFill>
              </a:rPr>
              <a:t>Acierta </a:t>
            </a:r>
            <a:pPr indent="0" marL="0">
              <a:buNone/>
            </a:pPr>
            <a:r>
              <a:rPr lang="en-US" sz="1400" dirty="0">
                <a:solidFill>
                  <a:schemeClr val="tx1"/>
                </a:solidFill>
              </a:rPr>
              <a:t>→ su intuición lógica era fuerte</a:t>
            </a:r>
            <a:endParaRPr lang="en-US" sz="1400" dirty="0"/>
          </a:p>
        </p:txBody>
      </p:sp>
      <p:sp>
        <p:nvSpPr>
          <p:cNvPr id="23" name="Text 21"/>
          <p:cNvSpPr txBox="1"/>
          <p:nvPr/>
        </p:nvSpPr>
        <p:spPr>
          <a:xfrm>
            <a:off x="5029200" y="2871216"/>
            <a:ext cx="3520440" cy="347472"/>
          </a:xfrm>
          <a:prstGeom prst="rect">
            <a:avLst/>
          </a:prstGeom>
          <a:noFill/>
          <a:ln/>
        </p:spPr>
        <p:txBody>
          <a:bodyPr wrap="square" lIns="0" tIns="0" rIns="0" bIns="0" rtlCol="0" anchor="ctr"/>
          <a:lstStyle/>
          <a:p>
            <a:pPr indent="0" marL="0">
              <a:buNone/>
            </a:pPr>
            <a:r>
              <a:rPr lang="en-US" sz="1400" b="1" dirty="0">
                <a:solidFill>
                  <a:schemeClr val="accent3"/>
                </a:solidFill>
              </a:rPr>
              <a:t>Se equivoca </a:t>
            </a:r>
            <a:pPr indent="0" marL="0">
              <a:buNone/>
            </a:pPr>
            <a:r>
              <a:rPr lang="en-US" sz="1400" dirty="0">
                <a:solidFill>
                  <a:schemeClr val="tx1"/>
                </a:solidFill>
              </a:rPr>
              <a:t>→ era débil</a:t>
            </a:r>
            <a:endParaRPr lang="en-US" sz="1400" dirty="0"/>
          </a:p>
        </p:txBody>
      </p:sp>
      <p:sp>
        <p:nvSpPr>
          <p:cNvPr id="24" name="Text 22"/>
          <p:cNvSpPr txBox="1"/>
          <p:nvPr/>
        </p:nvSpPr>
        <p:spPr>
          <a:xfrm>
            <a:off x="5029200" y="3383280"/>
            <a:ext cx="3520440" cy="1005840"/>
          </a:xfrm>
          <a:prstGeom prst="rect">
            <a:avLst/>
          </a:prstGeom>
          <a:noFill/>
          <a:ln/>
        </p:spPr>
        <p:txBody>
          <a:bodyPr wrap="square" lIns="0" tIns="0" rIns="0" bIns="0" rtlCol="0" anchor="t"/>
          <a:lstStyle/>
          <a:p>
            <a:pPr indent="0" marL="0">
              <a:buNone/>
            </a:pPr>
            <a:r>
              <a:rPr lang="en-US" sz="1300" i="1" dirty="0">
                <a:solidFill>
                  <a:schemeClr val="tx1"/>
                </a:solidFill>
              </a:rPr>
              <a:t>La misma crítica que a Tversky y Kahneman: no se sabe a priori qué heurístico va a actuar.</a:t>
            </a:r>
            <a:endParaRPr lang="en-US" sz="1300" dirty="0"/>
          </a:p>
        </p:txBody>
      </p:sp>
      <p:sp>
        <p:nvSpPr>
          <p:cNvPr id="25"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De Neys (2023a, pp. 5, 12, 14); Pérez Echeverría y Bautista (2014, pp. 17-19)</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tiqueta de rol"/>
          <p:cNvSpPr/>
          <p:nvPr/>
        </p:nvSpPr>
        <p:spPr>
          <a:xfrm>
            <a:off x="457200" y="201168"/>
            <a:ext cx="1463040" cy="274320"/>
          </a:xfrm>
          <a:prstGeom prst="roundRect">
            <a:avLst>
              <a:gd name="adj" fmla="val 50000"/>
            </a:avLst>
          </a:prstGeom>
          <a:solidFill>
            <a:srgbClr val="D2553F"/>
          </a:solidFill>
          <a:ln w="12700">
            <a:solidFill>
              <a:srgbClr val="D2553F"/>
            </a:solidFill>
            <a:prstDash val="solid"/>
          </a:ln>
        </p:spPr>
      </p:sp>
      <p:sp>
        <p:nvSpPr>
          <p:cNvPr id="3" name="Texto de etiqueta"/>
          <p:cNvSpPr txBox="1"/>
          <p:nvPr/>
        </p:nvSpPr>
        <p:spPr>
          <a:xfrm>
            <a:off x="457200" y="201168"/>
            <a:ext cx="1463040" cy="274320"/>
          </a:xfrm>
          <a:prstGeom prst="rect">
            <a:avLst/>
          </a:prstGeom>
          <a:noFill/>
          <a:ln/>
        </p:spPr>
        <p:txBody>
          <a:bodyPr wrap="square" lIns="0" tIns="0" rIns="0" bIns="0" rtlCol="0" anchor="ctr"/>
          <a:lstStyle/>
          <a:p>
            <a:pPr algn="ctr" indent="0" marL="0">
              <a:buNone/>
            </a:pPr>
            <a:r>
              <a:rPr lang="en-US" sz="1100" b="1" spc="150" kern="0" dirty="0">
                <a:solidFill>
                  <a:schemeClr val="bg1"/>
                </a:solidFill>
              </a:rPr>
              <a:t>CRÍTICA 2</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Del laboratorio a la vida real</a:t>
            </a:r>
            <a:endParaRPr lang="en-US" sz="2800" dirty="0"/>
          </a:p>
        </p:txBody>
      </p:sp>
      <p:sp>
        <p:nvSpPr>
          <p:cNvPr id="5" name="Tareas artificiales"/>
          <p:cNvSpPr/>
          <p:nvPr/>
        </p:nvSpPr>
        <p:spPr>
          <a:xfrm>
            <a:off x="457200" y="1325880"/>
            <a:ext cx="2606040" cy="2971800"/>
          </a:xfrm>
          <a:prstGeom prst="roundRect">
            <a:avLst>
              <a:gd name="adj" fmla="val 2807"/>
            </a:avLst>
          </a:prstGeom>
          <a:solidFill>
            <a:srgbClr val="F1F2F6"/>
          </a:solidFill>
          <a:ln w="12700">
            <a:solidFill>
              <a:srgbClr val="F1F2F6"/>
            </a:solidFill>
            <a:prstDash val="solid"/>
          </a:ln>
        </p:spPr>
      </p:sp>
      <p:pic>
        <p:nvPicPr>
          <p:cNvPr id="6" name="Image 0" descr="Tareas artificiales">    </p:cNvPr>
          <p:cNvPicPr>
            <a:picLocks noChangeAspect="1"/>
          </p:cNvPicPr>
          <p:nvPr/>
        </p:nvPicPr>
        <p:blipFill>
          <a:blip r:embed="rId1"/>
          <a:stretch>
            <a:fillRect/>
          </a:stretch>
        </p:blipFill>
        <p:spPr>
          <a:xfrm>
            <a:off x="685800" y="1554480"/>
            <a:ext cx="457200" cy="457200"/>
          </a:xfrm>
          <a:prstGeom prst="rect">
            <a:avLst/>
          </a:prstGeom>
        </p:spPr>
      </p:pic>
      <p:sp>
        <p:nvSpPr>
          <p:cNvPr id="7" name="Text 4"/>
          <p:cNvSpPr txBox="1"/>
          <p:nvPr/>
        </p:nvSpPr>
        <p:spPr>
          <a:xfrm>
            <a:off x="685800" y="2148840"/>
            <a:ext cx="2240280" cy="594360"/>
          </a:xfrm>
          <a:prstGeom prst="rect">
            <a:avLst/>
          </a:prstGeom>
          <a:noFill/>
          <a:ln/>
        </p:spPr>
        <p:txBody>
          <a:bodyPr wrap="square" lIns="0" tIns="0" rIns="0" bIns="0" rtlCol="0" anchor="t"/>
          <a:lstStyle/>
          <a:p>
            <a:pPr indent="0" marL="0">
              <a:buNone/>
            </a:pPr>
            <a:r>
              <a:rPr lang="en-US" sz="1600" b="1" dirty="0">
                <a:solidFill>
                  <a:schemeClr val="tx1"/>
                </a:solidFill>
              </a:rPr>
              <a:t>Tareas artificiales</a:t>
            </a:r>
            <a:endParaRPr lang="en-US" sz="1600" dirty="0"/>
          </a:p>
        </p:txBody>
      </p:sp>
      <p:sp>
        <p:nvSpPr>
          <p:cNvPr id="8" name="Text 5"/>
          <p:cNvSpPr txBox="1"/>
          <p:nvPr/>
        </p:nvSpPr>
        <p:spPr>
          <a:xfrm>
            <a:off x="685800" y="2743200"/>
            <a:ext cx="2194560" cy="1463040"/>
          </a:xfrm>
          <a:prstGeom prst="rect">
            <a:avLst/>
          </a:prstGeom>
          <a:noFill/>
          <a:ln/>
        </p:spPr>
        <p:txBody>
          <a:bodyPr wrap="square" lIns="0" tIns="0" rIns="0" bIns="0" rtlCol="0" anchor="t"/>
          <a:lstStyle/>
          <a:p>
            <a:pPr indent="0" marL="0">
              <a:buNone/>
            </a:pPr>
            <a:r>
              <a:rPr lang="en-US" sz="1300" dirty="0">
                <a:solidFill>
                  <a:schemeClr val="tx1"/>
                </a:solidFill>
              </a:rPr>
              <a:t>Problemas bien definidos y con poco contenido (bate y pelota, bandejas con bolitas). Las normas matemáticas quizás no son el mejor modelo.</a:t>
            </a:r>
            <a:endParaRPr lang="en-US" sz="1300" dirty="0"/>
          </a:p>
        </p:txBody>
      </p:sp>
      <p:sp>
        <p:nvSpPr>
          <p:cNvPr id="9" name="Problemas mal definidos"/>
          <p:cNvSpPr/>
          <p:nvPr/>
        </p:nvSpPr>
        <p:spPr>
          <a:xfrm>
            <a:off x="3264408" y="1325880"/>
            <a:ext cx="2606040" cy="2971800"/>
          </a:xfrm>
          <a:prstGeom prst="roundRect">
            <a:avLst>
              <a:gd name="adj" fmla="val 2807"/>
            </a:avLst>
          </a:prstGeom>
          <a:solidFill>
            <a:srgbClr val="F1F2F6"/>
          </a:solidFill>
          <a:ln w="12700">
            <a:solidFill>
              <a:srgbClr val="F1F2F6"/>
            </a:solidFill>
            <a:prstDash val="solid"/>
          </a:ln>
        </p:spPr>
      </p:sp>
      <p:pic>
        <p:nvPicPr>
          <p:cNvPr id="10" name="Image 1" descr="Problemas mal definidos">    </p:cNvPr>
          <p:cNvPicPr>
            <a:picLocks noChangeAspect="1"/>
          </p:cNvPicPr>
          <p:nvPr/>
        </p:nvPicPr>
        <p:blipFill>
          <a:blip r:embed="rId2"/>
          <a:stretch>
            <a:fillRect/>
          </a:stretch>
        </p:blipFill>
        <p:spPr>
          <a:xfrm>
            <a:off x="3493008" y="1554480"/>
            <a:ext cx="457200" cy="457200"/>
          </a:xfrm>
          <a:prstGeom prst="rect">
            <a:avLst/>
          </a:prstGeom>
        </p:spPr>
      </p:pic>
      <p:sp>
        <p:nvSpPr>
          <p:cNvPr id="11" name="Text 7"/>
          <p:cNvSpPr txBox="1"/>
          <p:nvPr/>
        </p:nvSpPr>
        <p:spPr>
          <a:xfrm>
            <a:off x="3493008" y="2148840"/>
            <a:ext cx="2240280" cy="594360"/>
          </a:xfrm>
          <a:prstGeom prst="rect">
            <a:avLst/>
          </a:prstGeom>
          <a:noFill/>
          <a:ln/>
        </p:spPr>
        <p:txBody>
          <a:bodyPr wrap="square" lIns="0" tIns="0" rIns="0" bIns="0" rtlCol="0" anchor="t"/>
          <a:lstStyle/>
          <a:p>
            <a:pPr indent="0" marL="0">
              <a:buNone/>
            </a:pPr>
            <a:r>
              <a:rPr lang="en-US" sz="1600" b="1" dirty="0">
                <a:solidFill>
                  <a:schemeClr val="tx1"/>
                </a:solidFill>
              </a:rPr>
              <a:t>Problemas mal definidos</a:t>
            </a:r>
            <a:endParaRPr lang="en-US" sz="1600" dirty="0"/>
          </a:p>
        </p:txBody>
      </p:sp>
      <p:sp>
        <p:nvSpPr>
          <p:cNvPr id="12" name="Text 8"/>
          <p:cNvSpPr txBox="1"/>
          <p:nvPr/>
        </p:nvSpPr>
        <p:spPr>
          <a:xfrm>
            <a:off x="3493008" y="2743200"/>
            <a:ext cx="2194560" cy="1463040"/>
          </a:xfrm>
          <a:prstGeom prst="rect">
            <a:avLst/>
          </a:prstGeom>
          <a:noFill/>
          <a:ln/>
        </p:spPr>
        <p:txBody>
          <a:bodyPr wrap="square" lIns="0" tIns="0" rIns="0" bIns="0" rtlCol="0" anchor="t"/>
          <a:lstStyle/>
          <a:p>
            <a:pPr indent="0" marL="0">
              <a:buNone/>
            </a:pPr>
            <a:r>
              <a:rPr lang="en-US" sz="1300" dirty="0">
                <a:solidFill>
                  <a:schemeClr val="tx1"/>
                </a:solidFill>
              </a:rPr>
              <a:t>Resolver depende del conocimiento del dominio (expertos y novatos). En la vida cotidiana, ¿contra qué norma se mide el acierto?</a:t>
            </a:r>
            <a:endParaRPr lang="en-US" sz="1300" dirty="0"/>
          </a:p>
        </p:txBody>
      </p:sp>
      <p:sp>
        <p:nvSpPr>
          <p:cNvPr id="13" name="Automatización sin probar"/>
          <p:cNvSpPr/>
          <p:nvPr/>
        </p:nvSpPr>
        <p:spPr>
          <a:xfrm>
            <a:off x="6071616" y="1325880"/>
            <a:ext cx="2606040" cy="2971800"/>
          </a:xfrm>
          <a:prstGeom prst="roundRect">
            <a:avLst>
              <a:gd name="adj" fmla="val 2807"/>
            </a:avLst>
          </a:prstGeom>
          <a:solidFill>
            <a:srgbClr val="F1F2F6"/>
          </a:solidFill>
          <a:ln w="12700">
            <a:solidFill>
              <a:srgbClr val="F1F2F6"/>
            </a:solidFill>
            <a:prstDash val="solid"/>
          </a:ln>
        </p:spPr>
      </p:sp>
      <p:pic>
        <p:nvPicPr>
          <p:cNvPr id="14" name="Image 2" descr="Automatización sin probar">    </p:cNvPr>
          <p:cNvPicPr>
            <a:picLocks noChangeAspect="1"/>
          </p:cNvPicPr>
          <p:nvPr/>
        </p:nvPicPr>
        <p:blipFill>
          <a:blip r:embed="rId3"/>
          <a:stretch>
            <a:fillRect/>
          </a:stretch>
        </p:blipFill>
        <p:spPr>
          <a:xfrm>
            <a:off x="6300216" y="1554480"/>
            <a:ext cx="457200" cy="457200"/>
          </a:xfrm>
          <a:prstGeom prst="rect">
            <a:avLst/>
          </a:prstGeom>
        </p:spPr>
      </p:pic>
      <p:sp>
        <p:nvSpPr>
          <p:cNvPr id="15" name="Text 10"/>
          <p:cNvSpPr txBox="1"/>
          <p:nvPr/>
        </p:nvSpPr>
        <p:spPr>
          <a:xfrm>
            <a:off x="6300216" y="2148840"/>
            <a:ext cx="2240280" cy="594360"/>
          </a:xfrm>
          <a:prstGeom prst="rect">
            <a:avLst/>
          </a:prstGeom>
          <a:noFill/>
          <a:ln/>
        </p:spPr>
        <p:txBody>
          <a:bodyPr wrap="square" lIns="0" tIns="0" rIns="0" bIns="0" rtlCol="0" anchor="t"/>
          <a:lstStyle/>
          <a:p>
            <a:pPr indent="0" marL="0">
              <a:buNone/>
            </a:pPr>
            <a:r>
              <a:rPr lang="en-US" sz="1600" b="1" dirty="0">
                <a:solidFill>
                  <a:schemeClr val="tx1"/>
                </a:solidFill>
              </a:rPr>
              <a:t>Automatización sin probar</a:t>
            </a:r>
            <a:endParaRPr lang="en-US" sz="1600" dirty="0"/>
          </a:p>
        </p:txBody>
      </p:sp>
      <p:sp>
        <p:nvSpPr>
          <p:cNvPr id="16" name="Text 11"/>
          <p:cNvSpPr txBox="1"/>
          <p:nvPr/>
        </p:nvSpPr>
        <p:spPr>
          <a:xfrm>
            <a:off x="6300216" y="2743200"/>
            <a:ext cx="2194560" cy="1463040"/>
          </a:xfrm>
          <a:prstGeom prst="rect">
            <a:avLst/>
          </a:prstGeom>
          <a:noFill/>
          <a:ln/>
        </p:spPr>
        <p:txBody>
          <a:bodyPr wrap="square" lIns="0" tIns="0" rIns="0" bIns="0" rtlCol="0" anchor="t"/>
          <a:lstStyle/>
          <a:p>
            <a:pPr indent="0" marL="0">
              <a:buNone/>
            </a:pPr>
            <a:r>
              <a:rPr lang="en-US" sz="1300" dirty="0">
                <a:solidFill>
                  <a:schemeClr val="tx1"/>
                </a:solidFill>
              </a:rPr>
              <a:t>Que la lógica se vuelva intuitiva tiene poca evidencia directa, y no usa la tradición de Fischbein.</a:t>
            </a:r>
            <a:endParaRPr lang="en-US" sz="1300" dirty="0"/>
          </a:p>
        </p:txBody>
      </p:sp>
      <p:sp>
        <p:nvSpPr>
          <p:cNvPr id="17"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r>
              <a:rPr lang="en-US" sz="1000" i="1" dirty="0">
                <a:solidFill>
                  <a:schemeClr val="tx2"/>
                </a:solidFill>
              </a:rPr>
              <a:t>Postigo Angón (2014, p. 8); Pérez Echeverría (2014, p. 13); Pérez Echeverría y Bautista (2014, p. 16); De Neys (2023a, p. 13; 2023b, p. 68)</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tiqueta de rol"/>
          <p:cNvSpPr/>
          <p:nvPr/>
        </p:nvSpPr>
        <p:spPr>
          <a:xfrm>
            <a:off x="457200" y="201168"/>
            <a:ext cx="1664208" cy="274320"/>
          </a:xfrm>
          <a:prstGeom prst="roundRect">
            <a:avLst>
              <a:gd name="adj" fmla="val 50000"/>
            </a:avLst>
          </a:prstGeom>
          <a:solidFill>
            <a:srgbClr val="E9A23B"/>
          </a:solidFill>
          <a:ln w="12700">
            <a:solidFill>
              <a:srgbClr val="E9A23B"/>
            </a:solidFill>
            <a:prstDash val="solid"/>
          </a:ln>
        </p:spPr>
      </p:sp>
      <p:sp>
        <p:nvSpPr>
          <p:cNvPr id="3" name="Texto de etiqueta"/>
          <p:cNvSpPr txBox="1"/>
          <p:nvPr/>
        </p:nvSpPr>
        <p:spPr>
          <a:xfrm>
            <a:off x="457200" y="201168"/>
            <a:ext cx="1664208" cy="274320"/>
          </a:xfrm>
          <a:prstGeom prst="rect">
            <a:avLst/>
          </a:prstGeom>
          <a:noFill/>
          <a:ln/>
        </p:spPr>
        <p:txBody>
          <a:bodyPr wrap="square" lIns="0" tIns="0" rIns="0" bIns="0" rtlCol="0" anchor="ctr"/>
          <a:lstStyle/>
          <a:p>
            <a:pPr algn="ctr" indent="0" marL="0">
              <a:buNone/>
            </a:pPr>
            <a:r>
              <a:rPr lang="en-US" sz="1100" b="1" spc="150" kern="0" dirty="0">
                <a:solidFill>
                  <a:schemeClr val="tx1"/>
                </a:solidFill>
              </a:rPr>
              <a:t>PARA DEBATIR</a:t>
            </a:r>
            <a:endParaRPr lang="en-US" sz="1100" dirty="0"/>
          </a:p>
        </p:txBody>
      </p:sp>
      <p:sp>
        <p:nvSpPr>
          <p:cNvPr id="4"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bg1"/>
                </a:solidFill>
              </a:rPr>
              <a:t>¿Lo que se practica se vuelve intuición?</a:t>
            </a:r>
            <a:endParaRPr lang="en-US" sz="2800" dirty="0"/>
          </a:p>
        </p:txBody>
      </p:sp>
      <p:sp>
        <p:nvSpPr>
          <p:cNvPr id="5" name="Cierre Aporte"/>
          <p:cNvSpPr/>
          <p:nvPr/>
        </p:nvSpPr>
        <p:spPr>
          <a:xfrm>
            <a:off x="457200" y="1508760"/>
            <a:ext cx="274320" cy="274320"/>
          </a:xfrm>
          <a:prstGeom prst="ellipse">
            <a:avLst/>
          </a:prstGeom>
          <a:solidFill>
            <a:srgbClr val="2A8C82"/>
          </a:solidFill>
          <a:ln w="12700">
            <a:solidFill>
              <a:srgbClr val="2A8C82"/>
            </a:solidFill>
            <a:prstDash val="solid"/>
          </a:ln>
        </p:spPr>
      </p:sp>
      <p:sp>
        <p:nvSpPr>
          <p:cNvPr id="6" name="Text 4"/>
          <p:cNvSpPr txBox="1"/>
          <p:nvPr/>
        </p:nvSpPr>
        <p:spPr>
          <a:xfrm>
            <a:off x="868680" y="1417320"/>
            <a:ext cx="3108960" cy="365760"/>
          </a:xfrm>
          <a:prstGeom prst="rect">
            <a:avLst/>
          </a:prstGeom>
          <a:noFill/>
          <a:ln/>
        </p:spPr>
        <p:txBody>
          <a:bodyPr wrap="square" lIns="0" tIns="0" rIns="0" bIns="0" rtlCol="0" anchor="ctr"/>
          <a:lstStyle/>
          <a:p>
            <a:pPr indent="0" marL="0">
              <a:buNone/>
            </a:pPr>
            <a:r>
              <a:rPr lang="en-US" sz="1600" b="1" dirty="0">
                <a:solidFill>
                  <a:schemeClr val="bg1"/>
                </a:solidFill>
              </a:rPr>
              <a:t>Aporte</a:t>
            </a:r>
            <a:endParaRPr lang="en-US" sz="1600" dirty="0"/>
          </a:p>
        </p:txBody>
      </p:sp>
      <p:sp>
        <p:nvSpPr>
          <p:cNvPr id="7" name="Text 5"/>
          <p:cNvSpPr txBox="1"/>
          <p:nvPr/>
        </p:nvSpPr>
        <p:spPr>
          <a:xfrm>
            <a:off x="868680" y="1801368"/>
            <a:ext cx="3108960" cy="548640"/>
          </a:xfrm>
          <a:prstGeom prst="rect">
            <a:avLst/>
          </a:prstGeom>
          <a:noFill/>
          <a:ln/>
        </p:spPr>
        <p:txBody>
          <a:bodyPr wrap="square" lIns="0" tIns="0" rIns="0" bIns="0" rtlCol="0" anchor="t"/>
          <a:lstStyle/>
          <a:p>
            <a:pPr indent="0" marL="0">
              <a:buNone/>
            </a:pPr>
            <a:r>
              <a:rPr lang="en-US" sz="1300" dirty="0">
                <a:solidFill>
                  <a:schemeClr val="bg2"/>
                </a:solidFill>
              </a:rPr>
              <a:t>Exclusividad y cambio son el mismo problema</a:t>
            </a:r>
            <a:endParaRPr lang="en-US" sz="1300" dirty="0"/>
          </a:p>
        </p:txBody>
      </p:sp>
      <p:sp>
        <p:nvSpPr>
          <p:cNvPr id="8" name="Cierre Límites"/>
          <p:cNvSpPr/>
          <p:nvPr/>
        </p:nvSpPr>
        <p:spPr>
          <a:xfrm>
            <a:off x="457200" y="2514600"/>
            <a:ext cx="274320" cy="274320"/>
          </a:xfrm>
          <a:prstGeom prst="ellipse">
            <a:avLst/>
          </a:prstGeom>
          <a:solidFill>
            <a:srgbClr val="D2553F"/>
          </a:solidFill>
          <a:ln w="12700">
            <a:solidFill>
              <a:srgbClr val="D2553F"/>
            </a:solidFill>
            <a:prstDash val="solid"/>
          </a:ln>
        </p:spPr>
      </p:sp>
      <p:sp>
        <p:nvSpPr>
          <p:cNvPr id="9" name="Text 7"/>
          <p:cNvSpPr txBox="1"/>
          <p:nvPr/>
        </p:nvSpPr>
        <p:spPr>
          <a:xfrm>
            <a:off x="868680" y="2423160"/>
            <a:ext cx="3108960" cy="365760"/>
          </a:xfrm>
          <a:prstGeom prst="rect">
            <a:avLst/>
          </a:prstGeom>
          <a:noFill/>
          <a:ln/>
        </p:spPr>
        <p:txBody>
          <a:bodyPr wrap="square" lIns="0" tIns="0" rIns="0" bIns="0" rtlCol="0" anchor="ctr"/>
          <a:lstStyle/>
          <a:p>
            <a:pPr indent="0" marL="0">
              <a:buNone/>
            </a:pPr>
            <a:r>
              <a:rPr lang="en-US" sz="1600" b="1" dirty="0">
                <a:solidFill>
                  <a:schemeClr val="bg1"/>
                </a:solidFill>
              </a:rPr>
              <a:t>Límites</a:t>
            </a:r>
            <a:endParaRPr lang="en-US" sz="1600" dirty="0"/>
          </a:p>
        </p:txBody>
      </p:sp>
      <p:sp>
        <p:nvSpPr>
          <p:cNvPr id="10" name="Text 8"/>
          <p:cNvSpPr txBox="1"/>
          <p:nvPr/>
        </p:nvSpPr>
        <p:spPr>
          <a:xfrm>
            <a:off x="868680" y="2807208"/>
            <a:ext cx="3108960" cy="548640"/>
          </a:xfrm>
          <a:prstGeom prst="rect">
            <a:avLst/>
          </a:prstGeom>
          <a:noFill/>
          <a:ln/>
        </p:spPr>
        <p:txBody>
          <a:bodyPr wrap="square" lIns="0" tIns="0" rIns="0" bIns="0" rtlCol="0" anchor="t"/>
          <a:lstStyle/>
          <a:p>
            <a:pPr indent="0" marL="0">
              <a:buNone/>
            </a:pPr>
            <a:r>
              <a:rPr lang="en-US" sz="1300" dirty="0">
                <a:solidFill>
                  <a:schemeClr val="bg2"/>
                </a:solidFill>
              </a:rPr>
              <a:t>Modelo verbal · automatización sin probar · tareas artificiales</a:t>
            </a:r>
            <a:endParaRPr lang="en-US" sz="1300" dirty="0"/>
          </a:p>
        </p:txBody>
      </p:sp>
      <p:sp>
        <p:nvSpPr>
          <p:cNvPr id="11" name="Cierre A futuro"/>
          <p:cNvSpPr/>
          <p:nvPr/>
        </p:nvSpPr>
        <p:spPr>
          <a:xfrm>
            <a:off x="457200" y="3520440"/>
            <a:ext cx="274320" cy="274320"/>
          </a:xfrm>
          <a:prstGeom prst="ellipse">
            <a:avLst/>
          </a:prstGeom>
          <a:solidFill>
            <a:srgbClr val="E9A23B"/>
          </a:solidFill>
          <a:ln w="12700">
            <a:solidFill>
              <a:srgbClr val="E9A23B"/>
            </a:solidFill>
            <a:prstDash val="solid"/>
          </a:ln>
        </p:spPr>
      </p:sp>
      <p:sp>
        <p:nvSpPr>
          <p:cNvPr id="12" name="Text 10"/>
          <p:cNvSpPr txBox="1"/>
          <p:nvPr/>
        </p:nvSpPr>
        <p:spPr>
          <a:xfrm>
            <a:off x="868680" y="3429000"/>
            <a:ext cx="3108960" cy="365760"/>
          </a:xfrm>
          <a:prstGeom prst="rect">
            <a:avLst/>
          </a:prstGeom>
          <a:noFill/>
          <a:ln/>
        </p:spPr>
        <p:txBody>
          <a:bodyPr wrap="square" lIns="0" tIns="0" rIns="0" bIns="0" rtlCol="0" anchor="ctr"/>
          <a:lstStyle/>
          <a:p>
            <a:pPr indent="0" marL="0">
              <a:buNone/>
            </a:pPr>
            <a:r>
              <a:rPr lang="en-US" sz="1600" b="1" dirty="0">
                <a:solidFill>
                  <a:schemeClr val="bg1"/>
                </a:solidFill>
              </a:rPr>
              <a:t>A futuro</a:t>
            </a:r>
            <a:endParaRPr lang="en-US" sz="1600" dirty="0"/>
          </a:p>
        </p:txBody>
      </p:sp>
      <p:sp>
        <p:nvSpPr>
          <p:cNvPr id="13" name="Text 11"/>
          <p:cNvSpPr txBox="1"/>
          <p:nvPr/>
        </p:nvSpPr>
        <p:spPr>
          <a:xfrm>
            <a:off x="868680" y="3813048"/>
            <a:ext cx="3108960" cy="548640"/>
          </a:xfrm>
          <a:prstGeom prst="rect">
            <a:avLst/>
          </a:prstGeom>
          <a:noFill/>
          <a:ln/>
        </p:spPr>
        <p:txBody>
          <a:bodyPr wrap="square" lIns="0" tIns="0" rIns="0" bIns="0" rtlCol="0" anchor="t"/>
          <a:lstStyle/>
          <a:p>
            <a:pPr indent="0" marL="0">
              <a:buNone/>
            </a:pPr>
            <a:r>
              <a:rPr lang="en-US" sz="1300" dirty="0">
                <a:solidFill>
                  <a:schemeClr val="bg2"/>
                </a:solidFill>
              </a:rPr>
              <a:t>Estudios de entrenamiento y problemas reales</a:t>
            </a:r>
            <a:endParaRPr lang="en-US" sz="1300" dirty="0"/>
          </a:p>
        </p:txBody>
      </p:sp>
      <p:pic>
        <p:nvPicPr>
          <p:cNvPr id="14" name="Image 0" descr="Debate">    </p:cNvPr>
          <p:cNvPicPr>
            <a:picLocks noChangeAspect="1"/>
          </p:cNvPicPr>
          <p:nvPr/>
        </p:nvPicPr>
        <p:blipFill>
          <a:blip r:embed="rId1"/>
          <a:stretch>
            <a:fillRect/>
          </a:stretch>
        </p:blipFill>
        <p:spPr>
          <a:xfrm>
            <a:off x="4480560" y="1417320"/>
            <a:ext cx="548640" cy="548640"/>
          </a:xfrm>
          <a:prstGeom prst="rect">
            <a:avLst/>
          </a:prstGeom>
        </p:spPr>
      </p:pic>
      <p:sp>
        <p:nvSpPr>
          <p:cNvPr id="15" name="Text 12"/>
          <p:cNvSpPr txBox="1"/>
          <p:nvPr/>
        </p:nvSpPr>
        <p:spPr>
          <a:xfrm>
            <a:off x="4480560" y="2103120"/>
            <a:ext cx="4206240" cy="11887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¿Les pasó que algo que al principio tenían que pensar con esfuerzo, después les saliera «solo»?</a:t>
            </a:r>
            <a:endParaRPr lang="en-US" sz="2000" dirty="0"/>
          </a:p>
        </p:txBody>
      </p:sp>
      <p:sp>
        <p:nvSpPr>
          <p:cNvPr id="16" name="Text 13"/>
          <p:cNvSpPr txBox="1"/>
          <p:nvPr/>
        </p:nvSpPr>
        <p:spPr>
          <a:xfrm>
            <a:off x="4480560" y="3383280"/>
            <a:ext cx="4206240" cy="822960"/>
          </a:xfrm>
          <a:prstGeom prst="rect">
            <a:avLst/>
          </a:prstGeom>
          <a:noFill/>
          <a:ln/>
        </p:spPr>
        <p:txBody>
          <a:bodyPr wrap="square" lIns="0" tIns="0" rIns="0" bIns="0" rtlCol="0" anchor="t"/>
          <a:lstStyle/>
          <a:p>
            <a:pPr indent="0" marL="0">
              <a:buNone/>
            </a:pPr>
            <a:r>
              <a:rPr lang="en-US" sz="1500" i="1" dirty="0">
                <a:solidFill>
                  <a:schemeClr val="accent6"/>
                </a:solidFill>
              </a:rPr>
              <a:t>Esa respuesta automática, ¿es una intuición, como dice De Neys, o pensamiento deliberado más rápido?</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8229600" cy="640080"/>
          </a:xfrm>
          <a:prstGeom prst="rect">
            <a:avLst/>
          </a:prstGeom>
          <a:noFill/>
          <a:ln/>
        </p:spPr>
        <p:txBody>
          <a:bodyPr wrap="square" lIns="0" tIns="0" rIns="0" bIns="0" rtlCol="0" anchor="t"/>
          <a:lstStyle/>
          <a:p>
            <a:pPr algn="l" indent="0" marL="0">
              <a:buNone/>
            </a:pPr>
            <a:r>
              <a:rPr lang="en-US" sz="2800" b="1" dirty="0">
                <a:solidFill>
                  <a:schemeClr val="tx1"/>
                </a:solidFill>
              </a:rPr>
              <a:t>Referencias</a:t>
            </a:r>
            <a:endParaRPr lang="en-US" sz="28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indent="0" marL="0">
              <a:spcAft>
                <a:spcPts val="800"/>
              </a:spcAft>
              <a:buNone/>
            </a:pPr>
            <a:r>
              <a:rPr lang="en-US" sz="1200" dirty="0">
                <a:solidFill>
                  <a:schemeClr val="tx1"/>
                </a:solidFill>
              </a:rPr>
              <a:t>De Neys, W. (2023a). Advancing theorizing about fast-and-slow thinking. </a:t>
            </a:r>
            <a:pPr indent="0" marL="0">
              <a:spcAft>
                <a:spcPts val="800"/>
              </a:spcAft>
              <a:buNone/>
            </a:pPr>
            <a:r>
              <a:rPr lang="en-US" sz="1200" i="1" dirty="0">
                <a:solidFill>
                  <a:schemeClr val="tx1"/>
                </a:solidFill>
              </a:rPr>
              <a:t>Behavioral and Brain Sciences, 46</a:t>
            </a:r>
            <a:pPr indent="0" marL="0">
              <a:spcAft>
                <a:spcPts val="800"/>
              </a:spcAft>
              <a:buNone/>
            </a:pPr>
            <a:r>
              <a:rPr lang="en-US" sz="1200" dirty="0">
                <a:solidFill>
                  <a:schemeClr val="tx1"/>
                </a:solidFill>
              </a:rPr>
              <a:t>, Artículo e111. https://doi.org/10.1017/S0140525X2200142X</a:t>
            </a:r>
            <a:endParaRPr lang="en-US" sz="1200" dirty="0"/>
          </a:p>
          <a:p>
            <a:pPr indent="0" marL="0">
              <a:spcAft>
                <a:spcPts val="800"/>
              </a:spcAft>
              <a:buNone/>
            </a:pPr>
            <a:r>
              <a:rPr lang="en-US" sz="1200" dirty="0">
                <a:solidFill>
                  <a:schemeClr val="tx1"/>
                </a:solidFill>
              </a:rPr>
              <a:t>De Neys, W. (2023b). Further advancing fast-and-slow theorizing. </a:t>
            </a:r>
            <a:pPr indent="0" marL="0">
              <a:spcAft>
                <a:spcPts val="800"/>
              </a:spcAft>
              <a:buNone/>
            </a:pPr>
            <a:r>
              <a:rPr lang="en-US" sz="1200" i="1" dirty="0">
                <a:solidFill>
                  <a:schemeClr val="tx1"/>
                </a:solidFill>
              </a:rPr>
              <a:t>Behavioral and Brain Sciences, 46</a:t>
            </a:r>
            <a:pPr indent="0" marL="0">
              <a:spcAft>
                <a:spcPts val="800"/>
              </a:spcAft>
              <a:buNone/>
            </a:pPr>
            <a:r>
              <a:rPr lang="en-US" sz="1200" dirty="0">
                <a:solidFill>
                  <a:schemeClr val="tx1"/>
                </a:solidFill>
              </a:rPr>
              <a:t>, Artículo e146. https://doi.org/10.1017/S0140525X23000559</a:t>
            </a:r>
            <a:endParaRPr lang="en-US" sz="1200" dirty="0"/>
          </a:p>
          <a:p>
            <a:pPr indent="0" marL="0">
              <a:spcAft>
                <a:spcPts val="800"/>
              </a:spcAft>
              <a:buNone/>
            </a:pPr>
            <a:r>
              <a:rPr lang="en-US" sz="1200" dirty="0">
                <a:solidFill>
                  <a:schemeClr val="tx1"/>
                </a:solidFill>
              </a:rPr>
              <a:t>Pérez Echeverría, M. P. (2014). Solución de problemas. En M. Carretero y M. Asensio (Coords.), </a:t>
            </a:r>
            <a:pPr indent="0" marL="0">
              <a:spcAft>
                <a:spcPts val="800"/>
              </a:spcAft>
              <a:buNone/>
            </a:pPr>
            <a:r>
              <a:rPr lang="en-US" sz="1200" i="1" dirty="0">
                <a:solidFill>
                  <a:schemeClr val="tx1"/>
                </a:solidFill>
              </a:rPr>
              <a:t>Psicología del pensamiento: Teoría y prácticas</a:t>
            </a:r>
            <a:pPr indent="0" marL="0">
              <a:spcAft>
                <a:spcPts val="800"/>
              </a:spcAft>
              <a:buNone/>
            </a:pPr>
            <a:r>
              <a:rPr lang="en-US" sz="1200" dirty="0">
                <a:solidFill>
                  <a:schemeClr val="tx1"/>
                </a:solidFill>
              </a:rPr>
              <a:t> (cap. 8). Alianza.</a:t>
            </a:r>
            <a:endParaRPr lang="en-US" sz="1200" dirty="0"/>
          </a:p>
          <a:p>
            <a:pPr indent="0" marL="0">
              <a:spcAft>
                <a:spcPts val="800"/>
              </a:spcAft>
              <a:buNone/>
            </a:pPr>
            <a:r>
              <a:rPr lang="en-US" sz="1200" dirty="0">
                <a:solidFill>
                  <a:schemeClr val="tx1"/>
                </a:solidFill>
              </a:rPr>
              <a:t>Pérez Echeverría, M. P., y Bautista, A. (2014). Pensamiento probabilístico. En M. Carretero y M. Asensio (Coords.), </a:t>
            </a:r>
            <a:pPr indent="0" marL="0">
              <a:spcAft>
                <a:spcPts val="800"/>
              </a:spcAft>
              <a:buNone/>
            </a:pPr>
            <a:r>
              <a:rPr lang="en-US" sz="1200" i="1" dirty="0">
                <a:solidFill>
                  <a:schemeClr val="tx1"/>
                </a:solidFill>
              </a:rPr>
              <a:t>Psicología del pensamiento: Teoría y prácticas</a:t>
            </a:r>
            <a:pPr indent="0" marL="0">
              <a:spcAft>
                <a:spcPts val="800"/>
              </a:spcAft>
              <a:buNone/>
            </a:pPr>
            <a:r>
              <a:rPr lang="en-US" sz="1200" dirty="0">
                <a:solidFill>
                  <a:schemeClr val="tx1"/>
                </a:solidFill>
              </a:rPr>
              <a:t> (cap. 7). Alianza.</a:t>
            </a:r>
            <a:endParaRPr lang="en-US" sz="1200" dirty="0"/>
          </a:p>
          <a:p>
            <a:pPr indent="0" marL="0">
              <a:spcAft>
                <a:spcPts val="800"/>
              </a:spcAft>
              <a:buNone/>
            </a:pPr>
            <a:r>
              <a:rPr lang="en-US" sz="1200" dirty="0">
                <a:solidFill>
                  <a:schemeClr val="tx1"/>
                </a:solidFill>
              </a:rPr>
              <a:t>Postigo Angón, Y. (2014). Estrategias en solución de problemas. En M. Carretero y M. Asensio (Coords.), </a:t>
            </a:r>
            <a:pPr indent="0" marL="0">
              <a:spcAft>
                <a:spcPts val="800"/>
              </a:spcAft>
              <a:buNone/>
            </a:pPr>
            <a:r>
              <a:rPr lang="en-US" sz="1200" i="1" dirty="0">
                <a:solidFill>
                  <a:schemeClr val="tx1"/>
                </a:solidFill>
              </a:rPr>
              <a:t>Psicología del pensamiento: Teoría y prácticas</a:t>
            </a:r>
            <a:pPr indent="0" marL="0">
              <a:spcAft>
                <a:spcPts val="800"/>
              </a:spcAft>
              <a:buNone/>
            </a:pPr>
            <a:r>
              <a:rPr lang="en-US" sz="1200" dirty="0">
                <a:solidFill>
                  <a:schemeClr val="tx1"/>
                </a:solidFill>
              </a:rPr>
              <a:t> (cap. 9). Alianza.</a:t>
            </a:r>
            <a:endParaRPr lang="en-US" sz="1200" dirty="0"/>
          </a:p>
          <a:p>
            <a:pPr indent="0" marL="0">
              <a:spcAft>
                <a:spcPts val="800"/>
              </a:spcAft>
              <a:buNone/>
            </a:pPr>
            <a:r>
              <a:rPr lang="en-US" sz="1200" dirty="0">
                <a:solidFill>
                  <a:schemeClr val="tx1"/>
                </a:solidFill>
              </a:rPr>
              <a:t>Valiña, M. D., y Martín, M. (2014). Razonamiento pragmático. En M. Carretero y M. Asensio (Coords.), </a:t>
            </a:r>
            <a:pPr indent="0" marL="0">
              <a:spcAft>
                <a:spcPts val="800"/>
              </a:spcAft>
              <a:buNone/>
            </a:pPr>
            <a:r>
              <a:rPr lang="en-US" sz="1200" i="1" dirty="0">
                <a:solidFill>
                  <a:schemeClr val="tx1"/>
                </a:solidFill>
              </a:rPr>
              <a:t>Psicología del pensamiento: Teoría y prácticas</a:t>
            </a:r>
            <a:pPr indent="0" marL="0">
              <a:spcAft>
                <a:spcPts val="800"/>
              </a:spcAft>
              <a:buNone/>
            </a:pPr>
            <a:r>
              <a:rPr lang="en-US" sz="1200" dirty="0">
                <a:solidFill>
                  <a:schemeClr val="tx1"/>
                </a:solidFill>
              </a:rPr>
              <a:t> (cap. 6). Alianza.</a:t>
            </a:r>
            <a:endParaRPr lang="en-US" sz="1200" dirty="0"/>
          </a:p>
        </p:txBody>
      </p:sp>
      <p:sp>
        <p:nvSpPr>
          <p:cNvPr id="5" name="Text 0"/>
          <p:cNvSpPr/>
          <p:nvPr>
            <p:ph idx="101" type="body" hasCustomPrompt="1"/>
          </p:nvPr>
        </p:nvSpPr>
        <p:spPr>
          <a:xfrm>
            <a:off x="457200" y="4727448"/>
            <a:ext cx="7772400"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Rapido y lento">
  <a:themeElements>
    <a:clrScheme name="Rapido y lento">
      <a:dk1>
        <a:srgbClr val="262A3F"/>
      </a:dk1>
      <a:lt1>
        <a:srgbClr val="FFFFFF"/>
      </a:lt1>
      <a:dk2>
        <a:srgbClr val="6B6F80"/>
      </a:dk2>
      <a:lt2>
        <a:srgbClr val="F1F2F6"/>
      </a:lt2>
      <a:accent1>
        <a:srgbClr val="E9A23B"/>
      </a:accent1>
      <a:accent2>
        <a:srgbClr val="2A8C82"/>
      </a:accent2>
      <a:accent3>
        <a:srgbClr val="D2553F"/>
      </a:accent3>
      <a:accent4>
        <a:srgbClr val="5B5F97"/>
      </a:accent4>
      <a:accent5>
        <a:srgbClr val="8FB8B2"/>
      </a:accent5>
      <a:accent6>
        <a:srgbClr val="F3C98B"/>
      </a:accent6>
      <a:hlink>
        <a:srgbClr val="2A8C82"/>
      </a:hlink>
      <a:folHlink>
        <a:srgbClr val="6B6F80"/>
      </a:folHlink>
    </a:clrScheme>
    <a:fontScheme name="Rapido y lent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Advancing theorizing about fast-and-slow thinking (De Neys, 2023)</dc:title>
  <dc:subject>Procesos Básicos III — Presentación de artículo, Pensamiento</dc:subject>
  <dc:creator>PptxGenJS</dc:creator>
  <cp:lastModifiedBy>PptxGenJS</cp:lastModifiedBy>
  <cp:revision>1</cp:revision>
  <dcterms:created xsi:type="dcterms:W3CDTF">2026-10-23T23:38:24Z</dcterms:created>
  <dcterms:modified xsi:type="dcterms:W3CDTF">2026-10-23T23:38:24Z</dcterms:modified>
</cp:coreProperties>
</file>