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l artículo y el experimento" id="{27f23cf5-a08b-59cd-d08e-89ec1869f941}">
          <p14:sldIdLst>
            <p14:sldId id="256"/>
            <p14:sldId id="257"/>
            <p14:sldId id="258"/>
            <p14:sldId id="259"/>
            <p14:sldId id="260"/>
          </p14:sldIdLst>
        </p14:section>
        <p14:section name="Aciertos teóricos" id="{479c3c33-2eab-11fb-8114-a60766d8007e}">
          <p14:sldIdLst>
            <p14:sldId id="261"/>
            <p14:sldId id="262"/>
            <p14:sldId id="263"/>
            <p14:sldId id="264"/>
            <p14:sldId id="265"/>
          </p14:sldIdLst>
        </p14:section>
        <p14:section name="Críticas teóricas" id="{93b031f2-916f-0c66-e101-1dc474b72ccc}">
          <p14:sldIdLst>
            <p14:sldId id="266"/>
            <p14:sldId id="267"/>
            <p14:sldId id="268"/>
            <p14:sldId id="269"/>
            <p14:sldId id="270"/>
          </p14:sldIdLst>
        </p14:section>
        <p14:section name="Debate" id="{1a9bd987-8be6-9d05-9645-bd0b9f074435}">
          <p14:sldIdLst>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262A3F"/>
                </a:solidFill>
                <a:latin typeface="+mn-lt"/>
              </a:defRPr>
            </a:pPr>
            <a:r>
              <a:rPr sz="1400" b="0" i="0" u="none" strike="noStrike">
                <a:solidFill>
                  <a:srgbClr val="262A3F"/>
                </a:solidFill>
                <a:latin typeface="+mn-lt"/>
              </a:rPr>
              <a:t>Acierto en tareas de sesgo (%)</a:t>
            </a:r>
          </a:p>
        </c:rich>
      </c:tx>
      <c:layout/>
      <c:overlay val="0"/>
    </c:title>
    <c:autoTitleDeleted val="0"/>
    <c:plotArea>
      <c:layout/>
      <c:barChart>
        <c:barDir val="col"/>
        <c:grouping val="clustered"/>
        <c:varyColors val="0"/>
        <c:ser>
          <c:idx val="0"/>
          <c:order val="0"/>
          <c:tx>
            <c:strRef>
              <c:f>Sheet1!$B$1</c:f>
              <c:strCache>
                <c:ptCount val="1"/>
                <c:pt idx="0">
                  <c:v>Acierto en tareas de sesgo</c:v>
                </c:pt>
              </c:strCache>
            </c:strRef>
          </c:tx>
          <c:spPr>
            <a:solidFill>
              <a:srgbClr val="2A8C82"/>
            </a:solidFill>
            <a:effectLst/>
          </c:spPr>
          <c:invertIfNegative val="0"/>
          <c:dLbls>
            <c:numFmt formatCode="0&quot;%&quot;" sourceLinked="0"/>
            <c:txPr>
              <a:bodyPr/>
              <a:lstStyle/>
              <a:p>
                <a:pPr>
                  <a:defRPr b="1" i="0" strike="noStrike" sz="1600" u="none">
                    <a:solidFill>
                      <a:srgbClr val="262A3F"/>
                    </a:solidFill>
                    <a:latin typeface="+mn-lt"/>
                  </a:defRPr>
                </a:pPr>
              </a:p>
            </c:txPr>
            <c:showLegendKey val="0"/>
            <c:showVal val="1"/>
            <c:showCatName val="0"/>
            <c:showSerName val="0"/>
            <c:showPercent val="0"/>
            <c:showBubbleSize val="0"/>
            <c:showLeaderLines val="0"/>
          </c:dLbls>
          <c:dPt>
            <c:idx val="0"/>
            <c:invertIfNegative val="0"/>
            <c:bubble3D val="0"/>
            <c:spPr>
              <a:solidFill>
                <a:srgbClr val="2A8C82"/>
              </a:solidFill>
              <a:effectLst/>
            </c:spPr>
          </c:dPt>
          <c:dPt>
            <c:idx val="1"/>
            <c:invertIfNegative val="0"/>
            <c:bubble3D val="0"/>
            <c:spPr>
              <a:solidFill>
                <a:srgbClr val="E9A23B"/>
              </a:solidFill>
              <a:effectLst/>
            </c:spPr>
          </c:dPt>
          <c:cat>
            <c:multiLvlStrRef>
              <c:f>Sheet1!$A$2:$A$3</c:f>
              <c:multiLvlStrCache>
                <c:ptCount val="2"/>
                <c:lvl>
                  <c:pt idx="0">
                    <c:v>Sin restricción</c:v>
                  </c:pt>
                  <c:pt idx="1">
                    <c:v>Sin poder deliberar</c:v>
                  </c:pt>
                </c:lvl>
              </c:multiLvlStrCache>
            </c:multiLvlStrRef>
          </c:cat>
          <c:val>
            <c:numRef>
              <c:f>Sheet1!$B$2:$B$3</c:f>
              <c:numCache>
                <c:formatCode>General</c:formatCode>
                <c:ptCount val="2"/>
                <c:pt idx="0">
                  <c:v>62</c:v>
                </c:pt>
                <c:pt idx="1">
                  <c:v>52</c:v>
                </c:pt>
              </c:numCache>
            </c:numRef>
          </c:val>
        </c:ser>
        <c:dLbls>
          <c:numFmt formatCode="0&quot;%&quot;" sourceLinked="0"/>
          <c:txPr>
            <a:bodyPr/>
            <a:lstStyle/>
            <a:p>
              <a:pPr>
                <a:defRPr b="1" i="0" strike="noStrike" sz="1600" u="none">
                  <a:solidFill>
                    <a:srgbClr val="262A3F"/>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300" b="0" i="0" u="none" strike="noStrike">
                <a:solidFill>
                  <a:srgbClr val="262A3F"/>
                </a:solidFill>
                <a:latin typeface="+mn-lt"/>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EXPOSITOR/A 1 (su parte: 3:00) · 0:10
Buenas tardes. Vamos a presentar Advancing theorizing about fast-and-slow thinking, de Wim De Neys (2023). Lo vamos a recorrer en su propio orden, diciendo en cada parte qué acierta y qué falla.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EXPOSITOR/A 1 · 0:40
Los modelos de proceso dual distinguen un sistema 1, intuitivo, rápido y sin esfuerzo, y un sistema 2, deliberado, lento y costoso. De Neys cuestiona dos supuestos. La exclusividad: que la respuesta correcta solo la da el sistema 2, corrigiendo una intuición equivocada. Y el mecanismo de cambio: cómo sabe una persona, sin ayuda externa, cuándo dejar la intuición y ponerse a pensar. Su hipótesis es que los dos problemas están ligados: mientras haya exclusividad, no puede haber un mecanismo de cambio coherente (De Neys, 2023a, pp.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EXPOSITOR/A 1 · 0:35
El objetivo general es revisar esos supuestos y proponer una arquitectura dual más viable. Los objetivos específicos son las cuatro secciones del artículo: revisar la evidencia sobre la exclusividad, analizar las explicaciones del cambio, proponer un modelo y plantear las preguntas pendientes. Y es un artículo de comentario abierto: sale publicado junto con 34 comentarios y una respuesta del autor (De Neys, 2023a, p. 1; 2023b, p. 66). Nuestra presentación sigue ese mismo orden.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EXPOSITOR/A 1 · 0:50
No es un estudio empírico sino una revisión teórica: no tiene participantes propios, y revisa estudios con adultos sobre razonamiento lógico, juicio moral y cooperación. El instrumento central es el paradigma de dos respuestas: se responde dos veces, primero con presión de tiempo y una tarea de memoria, para impedir la deliberación, y después sin límite. Por ejemplo: "un bate y una pelota cuestan 1,10 dólares; el bate cuesta 1 dólar más; ¿cuánto cuesta la pelota?". Salta "10 centavos"; lo correcto es 5. Se miden la respuesta, el tiempo y la confianza, en problemas con y sin conflicto (De Neys, 2023a, pp. 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EXPOSITOR/A 1 · 0:45
Los resultados son tres. Impedir la deliberación baja el acierto apenas de un 62 % a un 52 % (Lawson et al., 2020, como se citó en De Neys, 2023a, p. 4). Quienes aciertan al final ya acertaban en la respuesta rápida. Y hasta quienes se equivocan tardan más y confían menos cuando hay conflicto. Conclusión: la respuesta "del sistema 2" muchas veces ya es intuitiva, así que la exclusividad no tiene una base empírica sólida (De Neys, 2023a, p. 5). Sigue mi compañero con el cambio.
[NO LEER] Si preguntan qué evidencia sostenía la exclusividad: quienes dan la respuesta "deliberada" tardan más y puntúan más alto en capacidad cognitiva, y la presión de tiempo o la carga de memoria reducen esa respuesta (De Neys, 2023a, pp. 3-4). El problema es que los efectos son chicos y varios no se replicaron.
Bibliografía de esta parte: De Neys (2023a); De Neys (2023b).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EXPOSITOR/A 2 (su parte: 3:00) · 0:55
La segunda sección pregunta cómo se decide pasar al sistema 2, y muestra que las explicaciones tradicionales fallan justamente por la exclusividad. Si el sistema 2 vigila al sistema 1, ya tendría que estar activo para detectar el conflicto: es una paradoja. Si vigila una deliberación de bajo esfuerzo, el problema solo se corre un paso. Un sistema 3 que compare a los dos lleva a una regresión infinita. Si los dos sistemas funcionan siempre en paralelo, se pierde la economía que justifica tener dos. Y si nunca cambiamos, no se explica a quienes sí aciertan (De Neys, 2023a, pp. 6-7).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EXPOSITOR/A 2 · 0:50
La salida, en la tercera sección, es un modelo de cuatro piezas. El sistema 1 activa varias intuiciones de distinta fuerza, incluida la lógica. Un monitoreo intuitivo compara esas fuerzas: cuanto más parecidas, más incertidumbre, y pasado un umbral se activa el sistema 2. La deliberación puede inhibir, calcular o solo justificar. Y una retroalimentación cambia la fuerza de las intuiciones y apaga la deliberación cuando baja la incertidumbre. Por eso concluye que todo modelo dual viable tiene que ser no exclusivo (De Neys, 2023a, pp. 7-11).
[NO LEER] Si preguntan por la fórmula (ejemplo nuestro, no del texto): U = 1 − |I1 − I2|. Si la intuición "10 centavos" tiene fuerza 0,8 y la de "5 centavos" 0,3, U = 1 − 0,5 = 0,5. Si las dos valen 0,6, U = 1 − 0 = 1: máxima incertidumbre, y ahí se activa el sistema 2 (De Neys, 2023a, p.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EXPOSITOR/A 2 · 1:10
Nuestro primer acierto es que el modelo especifica un mecanismo que, en la materia, vimos que faltaba. En la teoría heurístico-analítica de Evans, el estadio heurístico selecciona la información relevante y el analítico deduce; los sesgos se atribuyen al primero y la competencia, al segundo (Valiña y Martín, 2014, pp. 19-20, 22). Esa es la exclusividad, y Evans no explicaba qué activa el estadio analítico; De Neys sí: la incertidumbre. Además, que deliberar a veces solo justifique la intuición coincide con Evans: "las personas cometen errores en razonamiento porque piensan selectivamente" (Valiña y Martín, 2014, p. 20).
Y responde a algo que la psicología cognitiva planteó desde el principio: un sistema que infiere necesita un mecanismo de control que elija las inferencias relevantes, para no perderse en un sinfín de inferencias posibles (González Labra, s. f., p. 15). La retroalimentación de De Neys es ese control: explica no solo qué nos hace pensar, sino también qué nos hace dejar de pensar (De Neys, 2023a, p. 10).
Bibliografía de esta parte: De Neys (2023a); González Labra (s. f.); Valiña y Martín (2014).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EXPOSITOR/A 3 (su parte: 3:00) · 1:30
El segundo acierto es la pieza más original del modelo: que la respuesta lógica se aprende hasta volverse intuitiva. De Neys lo ejemplifica con el principio de proporción, que se enseña en la escuela con las fracciones: a fuerza de práctica, lo que era deliberado se automatiza (De Neys, 2023a, pp. 8, 13).
En la materia lo vimos con otros nombres. Fischbein distingue intuiciones primarias, que surgen de la experiencia y se parecen a los sesgos, de intuiciones secundarias, que se logran por instrucción; y Hogarth sostiene que la intuición se puede educar (Pérez Echeverría y Bautista, 2014, pp. 7-8, 18). En solución de problemas, la teoría de Anderson describe cómo el conocimiento declarativo se convierte en procedimientos automáticos, y por eso lo que para el novato es un problema, para el experto es un ejercicio (Pérez Echeverría, 2014, p. 17). Uno de los comentarios al artículo hace esta misma conexión y cita a Fischbein (Ackerman y Morsanyi, 2023, p. 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EXPOSITOR/A 3 · 1:20
El modelo también acierta en algo que la psicología del pensamiento discute desde sus comienzos. De Neys muestra que quienes aciertan por intuición no saben justificar su respuesta, a diferencia de quienes aciertan después de deliberar (De Neys, 2023a, p. 12). Y aclara que la incertidumbre se siente conscientemente, aunque uno no sepa por qué (De Neys, 2023b, p. 70). Es lo que encontró la escuela de Wurzburgo: el pensamiento propiamente dicho es inconsciente, y a la conciencia llegan solo sus indicadores (González Labra, s. f., p. 6). Y es lo que Schoenfeld describe en los expertos: sienten que "van por buen camino", aunque no puedan explicar por qué (Pérez Echeverría, 2014, p. 18).
Por eso valoramos su método: combina tiempos, confianza, respuestas bajo carga y justificaciones, que es la convergencia de métodos que Pérez Echeverría pedía para estudiar lo implícito (Pérez Echeverría y Bautista, 2014, pp. 18-19). Pero el modelo también tiene límites, y de eso van a hablar mis compañeros.
Bibliografía de esta parte: Ackerman y Morsanyi (2023); De Neys (2023a); De Neys (2023b); González Labra (s. f.); Pérez Echeverría (2014); Pérez Echeverría y Bautista (2014).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EXPOSITOR/A 4 (su parte: 3:00) · 0:55
La cuarta sección, "Perspectivas", es honesta: el autor llama a su propuesta "modelo de trabajo" porque está en construcción. Reconoce que es una descripción verbal, no un modelo computacional (De Neys, 2023a, pp. 11, 14); que la fórmula de la incertidumbre es probablemente una simplificación (p. 12); que hay poca evidencia directa de la automatización (p. 13); y, desde el principio, que no existe un umbral que separe la intuición de la deliberación, de modo que la exclusividad no se puede refutar del todo (p. 5). Nuestra primera crítica parte de ahí.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EXPOSITOR/A 4 · 2:05
Todo el argumento depende de que la primera respuesta sea pura intuición. Pero si no hay un umbral que las separe, ¿cómo sabemos que quien responde en dos segundos no pensó un poco? En la materia vimos que lo implícito y lo explícito forman más un continuo que una dicotomía (Pérez Echeverría y Bautista, 2014, pp. 18-19). Si es así, un modelo que enciende o apaga el sistema 2 al cruzar un umbral traza una frontera que la evidencia no permite trazar. Uno de los comentarios lo llama, directamente, "el misterioso umbral de deliberación" (Ackerman y Morsanyi, 2023, p. 19).
Además, sin valores para la fuerza de las intuiciones ni para el umbral, el modelo explica cualquier resultado después de que ocurre: si alguien acierta, su intuición lógica era fuerte; si se equivoca, era débil. Es la misma crítica que se le hizo a Tversky y Kahneman: no se puede saber a priori qué heurístico va a actuar (Pérez Echeverría y Bautista, 2014, pp. 17-18).
Y no es imposible ir más allá de lo verbal. Quiroga describe redes neuronales que implementan el razonamiento revisable con nodos que se activan o se inhiben al superar un umbral (Stenning y Van Lambalgen, 2010, como se citó en Quiroga, 2013, pp. 87-89). O sea, ya existen formas de calcular lo que De Neys solo describe. Mientras no lo haga, propone un mecanismo, pero todavía no uno que permita predecir.
Bibliografía de esta parte: Ackerman y Morsanyi (2023); De Neys (2023a); Pérez Echeverría y Bautista (2014); Quiroga (2013).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EXPOSITOR/A 5 (su parte: 3:00) · 0:50
El artículo no termina en su conclusión. Lo discutieron 34 comentarios de más de 60 especialistas, y De Neys les responde en cinco temas: si la evidencia se generaliza, los vínculos con otros modelos, las extensiones necesarias, aclaraciones puntuales y la utilidad de los modelos duales (De Neys, 2023b, pp. 66-71). Ahí hace dos concesiones importantes. Admite que Evans y Stanovich ya habían abandonado la exclusividad en sus trabajos recientes (p. 67). Y acepta que su modelo no incluye el cambio por señales externas ni las diferencias individuales (p. 68).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EXPOSITOR/A 5 · 1:25
Nuestra segunda crítica parte de otra concesión: el campo trabaja con problemas "de juguete", y en la vida diaria nadie razona sobre el precio de un bate y una pelota (De Neys, 2023b, p. 68). La investigación en solución de problemas ya recorrió ese camino: usó problemas sin contenido porque daban más control experimental (Postigo Angón, 2014, p. 8), pero fuera del laboratorio la mayoría de los problemas son mal definidos (Pérez Echeverría, 2014, p. 4), y en ellos no hay un criterio claro de que se haya llegado a la solución (Postigo Angón, 2014, p. 24). Sin una respuesta correcta, ¿contra qué se mide la intuición? Evans diría que en la vida real importa la racionalidad de propósito, alcanzar los propios objetivos, más que la de proceso, ajustarse a una norma (Valiña y Martín, 2014, p. 21). Y el razonamiento cotidiano es revisable: sacamos conclusiones por defecto y las retiramos cuando el contexto trae información nueva (Quiroga, 2013, pp. 82-84). Ese cambio, disparado desde afuera, es justo el que el modelo deja de lado.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EXPOSITOR/A 5 · 0:45
Para cerrar: De Neys concluye que hay que repensar los modelos duales, y que su modelo no exclusivo es un punto de partida que, por lo menos, obliga a explicar cómo cambiamos de sistema (De Neys, 2023a, p. 16). Coincidimos: su aporte es mostrar que la exclusividad y el cambio son un mismo problema. Sus límites son un modelo verbal, una automatización poco probada y tareas artificiales. Con esto terminamos la exposición; ahora queremos abrir el debate.
Bibliografía de esta parte: De Neys (2023a); De Neys (2023b); Pérez Echeverría (2014); Postigo Angón (2014); Quiroga (2013); Valiña y Martín (2014).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 EL GRUPO · DEBATE (después de los 15 minutos)
Cualquiera del grupo lanza la pregunta:
Les queremos preguntar: ¿les pasó que algo que al principio tenían que pensar con esfuerzo, después les saliera "solo"? Por ejemplo, en estadística. Esa respuesta automática, ¿es una intuición, como dice De Neys, o sigue siendo pensamiento deliberado, pero más rápido?
[NO LEER] Si el docente pide más conclusiones: como líneas futuras proponemos estudios de entrenamiento que sigan cómo una respuesta deliberada se vuelve intuitiva, en la línea de las intuiciones secundarias de Fischbein, y llevar el modelo a problemas mal definidos y a dominios de pericia. El propio autor propone estudios evolutivos y de entrenamiento (De Neys, 2023a, p.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Diapositiva de respaldo: no se expone. Queda a la vista durante el debate si el docente pregunta por las fuentes. Las referencias completas, con DOI, están al final del guion.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143000"/>
            <a:ext cx="8046720" cy="137160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548640" y="2606040"/>
            <a:ext cx="8046720" cy="548640"/>
          </a:xfrm>
          <a:prstGeom prst="rect">
            <a:avLst/>
          </a:prstGeom>
          <a:noFill/>
          <a:ln/>
        </p:spPr>
        <p:txBody>
          <a:bodyPr wrap="square" rtlCol="0"/>
          <a:lstStyle>
            <a:lvl1pPr algn="l" indent="0" marL="0">
              <a:buNone/>
              <a:defRPr lang="en-US" sz="1600" dirty="0">
                <a:solidFill>
                  <a:schemeClr val="accent6"/>
                </a:solidFill>
              </a:defRPr>
            </a:lvl1pPr>
          </a:lstStyle>
          <a:p>
            <a:pPr algn="l"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566928"/>
            <a:ext cx="8229600" cy="64008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endParaRPr lang="en-US" sz="2800" dirty="0"/>
          </a:p>
        </p:txBody>
      </p:sp>
      <p:sp>
        <p:nvSpPr>
          <p:cNvPr id="3" name="Text 0"/>
          <p:cNvSpPr/>
          <p:nvPr>
            <p:ph idx="101" type="body" hasCustomPrompt="1"/>
          </p:nvPr>
        </p:nvSpPr>
        <p:spPr>
          <a:xfrm>
            <a:off x="457200" y="4681728"/>
            <a:ext cx="7863840" cy="347472"/>
          </a:xfrm>
          <a:prstGeom prst="rect">
            <a:avLst/>
          </a:prstGeom>
          <a:noFill/>
          <a:ln/>
        </p:spPr>
        <p:txBody>
          <a:bodyPr wrap="square" rtlCol="0"/>
          <a:lstStyle>
            <a:lvl1pPr indent="0" marL="0">
              <a:buNone/>
              <a:defRPr lang="en-US" sz="1000" i="1" dirty="0">
                <a:solidFill>
                  <a:schemeClr val="tx2"/>
                </a:solidFill>
              </a:defRPr>
            </a:lvl1pPr>
          </a:lstStyle>
          <a:p>
            <a:pPr indent="0" marL="0">
              <a:buNone/>
            </a:pPr>
            <a:endParaRPr lang="en-US" sz="1000" dirty="0"/>
          </a:p>
        </p:txBody>
      </p:sp>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IERRE">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566928"/>
            <a:ext cx="8229600" cy="640080"/>
          </a:xfrm>
          <a:prstGeom prst="rect">
            <a:avLst/>
          </a:prstGeom>
          <a:noFill/>
          <a:ln/>
        </p:spPr>
        <p:txBody>
          <a:bodyPr wrap="square" rtlCol="0"/>
          <a:lstStyle>
            <a:lvl1pPr algn="l" indent="0" marL="0">
              <a:buNone/>
              <a:defRPr lang="en-US" sz="2800" b="1" dirty="0">
                <a:solidFill>
                  <a:schemeClr val="bg1"/>
                </a:solidFill>
              </a:defRPr>
            </a:lvl1pPr>
          </a:lstStyle>
          <a:p>
            <a:pPr algn="l" indent="0" marL="0">
              <a:buNone/>
            </a:pPr>
            <a:endParaRPr lang="en-US" sz="2800" dirty="0"/>
          </a:p>
        </p:txBody>
      </p:sp>
      <p:sp>
        <p:nvSpPr>
          <p:cNvPr id="3" name="Text 0"/>
          <p:cNvSpPr/>
          <p:nvPr>
            <p:ph idx="101" type="body" hasCustomPrompt="1"/>
          </p:nvPr>
        </p:nvSpPr>
        <p:spPr>
          <a:xfrm>
            <a:off x="457200" y="4681728"/>
            <a:ext cx="7863840" cy="347472"/>
          </a:xfrm>
          <a:prstGeom prst="rect">
            <a:avLst/>
          </a:prstGeom>
          <a:noFill/>
          <a:ln/>
        </p:spPr>
        <p:txBody>
          <a:bodyPr wrap="square" rtlCol="0"/>
          <a:lstStyle>
            <a:lvl1pPr indent="0" marL="0">
              <a:buNone/>
              <a:defRPr lang="en-US" sz="1000" i="1" dirty="0">
                <a:solidFill>
                  <a:schemeClr val="bg2"/>
                </a:solidFill>
              </a:defRPr>
            </a:lvl1pPr>
          </a:lstStyle>
          <a:p>
            <a:pPr indent="0" marL="0">
              <a:buNone/>
            </a:pPr>
            <a:endParaRPr lang="en-US" sz="1000" dirty="0"/>
          </a:p>
        </p:txBody>
      </p:sp>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3.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3.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3.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3.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3.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Etiqueta de rol"/>
          <p:cNvSpPr/>
          <p:nvPr/>
        </p:nvSpPr>
        <p:spPr>
          <a:xfrm>
            <a:off x="457200" y="201168"/>
            <a:ext cx="3877056" cy="274320"/>
          </a:xfrm>
          <a:prstGeom prst="roundRect">
            <a:avLst>
              <a:gd name="adj" fmla="val 50000"/>
            </a:avLst>
          </a:prstGeom>
          <a:solidFill>
            <a:srgbClr val="E9A23B"/>
          </a:solidFill>
          <a:ln w="12700">
            <a:solidFill>
              <a:srgbClr val="E9A23B"/>
            </a:solidFill>
            <a:prstDash val="solid"/>
          </a:ln>
        </p:spPr>
      </p:sp>
      <p:sp>
        <p:nvSpPr>
          <p:cNvPr id="3" name="Texto de etiqueta"/>
          <p:cNvSpPr txBox="1"/>
          <p:nvPr/>
        </p:nvSpPr>
        <p:spPr>
          <a:xfrm>
            <a:off x="457200" y="201168"/>
            <a:ext cx="3877056" cy="274320"/>
          </a:xfrm>
          <a:prstGeom prst="rect">
            <a:avLst/>
          </a:prstGeom>
          <a:noFill/>
          <a:ln/>
        </p:spPr>
        <p:txBody>
          <a:bodyPr wrap="square" lIns="0" tIns="0" rIns="0" bIns="0" rtlCol="0" anchor="ctr"/>
          <a:lstStyle/>
          <a:p>
            <a:pPr algn="ctr" indent="0" marL="0">
              <a:buNone/>
            </a:pPr>
            <a:r>
              <a:rPr lang="en-US" sz="1100" b="1" spc="150" kern="0" dirty="0">
                <a:solidFill>
                  <a:schemeClr val="tx1"/>
                </a:solidFill>
              </a:rPr>
              <a:t>PROCESOS BÁSICOS III · PENSAMIENTO</a:t>
            </a:r>
            <a:endParaRPr lang="en-US" sz="1100" dirty="0"/>
          </a:p>
        </p:txBody>
      </p:sp>
      <p:sp>
        <p:nvSpPr>
          <p:cNvPr id="4" name="Text 0"/>
          <p:cNvSpPr/>
          <p:nvPr>
            <p:ph idx="100" type="title" hasCustomPrompt="1"/>
          </p:nvPr>
        </p:nvSpPr>
        <p:spPr>
          <a:xfrm>
            <a:off x="548640" y="1143000"/>
            <a:ext cx="8046720" cy="1371600"/>
          </a:xfrm>
          <a:prstGeom prst="rect">
            <a:avLst/>
          </a:prstGeom>
          <a:noFill/>
          <a:ln/>
        </p:spPr>
        <p:txBody>
          <a:bodyPr wrap="square" lIns="0" tIns="0" rIns="0" bIns="0" rtlCol="0" anchor="t"/>
          <a:lstStyle/>
          <a:p>
            <a:pPr algn="l" indent="0" marL="0">
              <a:buNone/>
            </a:pPr>
            <a:r>
              <a:rPr lang="en-US" sz="3600" b="1" dirty="0">
                <a:solidFill>
                  <a:schemeClr val="bg1"/>
                </a:solidFill>
              </a:rPr>
              <a:t>Advancing theorizing about</a:t>
            </a:r>
            <a:endParaRPr lang="en-US" sz="3600" dirty="0"/>
          </a:p>
          <a:p>
            <a:pPr algn="l" indent="0" marL="0">
              <a:buNone/>
            </a:pPr>
            <a:r>
              <a:rPr lang="en-US" sz="3600" b="1" dirty="0">
                <a:solidFill>
                  <a:schemeClr val="bg1"/>
                </a:solidFill>
              </a:rPr>
              <a:t>fast-and-slow thinking</a:t>
            </a:r>
            <a:endParaRPr lang="en-US" sz="3600" dirty="0"/>
          </a:p>
        </p:txBody>
      </p:sp>
      <p:sp>
        <p:nvSpPr>
          <p:cNvPr id="5" name="Text 0"/>
          <p:cNvSpPr/>
          <p:nvPr>
            <p:ph idx="101" type="body" hasCustomPrompt="1"/>
          </p:nvPr>
        </p:nvSpPr>
        <p:spPr>
          <a:xfrm>
            <a:off x="548640" y="2606040"/>
            <a:ext cx="8046720" cy="548640"/>
          </a:xfrm>
          <a:prstGeom prst="rect">
            <a:avLst/>
          </a:prstGeom>
          <a:noFill/>
          <a:ln/>
        </p:spPr>
        <p:txBody>
          <a:bodyPr wrap="square" lIns="0" tIns="0" rIns="0" bIns="0" rtlCol="0"/>
          <a:lstStyle/>
          <a:p>
            <a:pPr algn="l" indent="0" marL="0">
              <a:buNone/>
            </a:pPr>
            <a:r>
              <a:rPr lang="en-US" sz="1600" dirty="0">
                <a:solidFill>
                  <a:schemeClr val="accent6"/>
                </a:solidFill>
              </a:rPr>
              <a:t>De Neys (2023) · Behavioral and Brain Sciences, 46, e111</a:t>
            </a:r>
            <a:endParaRPr lang="en-US" sz="1600" dirty="0"/>
          </a:p>
        </p:txBody>
      </p:sp>
      <p:sp>
        <p:nvSpPr>
          <p:cNvPr id="6" name="Text 4"/>
          <p:cNvSpPr txBox="1"/>
          <p:nvPr/>
        </p:nvSpPr>
        <p:spPr>
          <a:xfrm>
            <a:off x="548640" y="3063240"/>
            <a:ext cx="8046720" cy="365760"/>
          </a:xfrm>
          <a:prstGeom prst="rect">
            <a:avLst/>
          </a:prstGeom>
          <a:noFill/>
          <a:ln/>
        </p:spPr>
        <p:txBody>
          <a:bodyPr wrap="square" lIns="0" tIns="0" rIns="0" bIns="0" rtlCol="0" anchor="t"/>
          <a:lstStyle/>
          <a:p>
            <a:pPr indent="0" marL="0">
              <a:buNone/>
            </a:pPr>
            <a:r>
              <a:rPr lang="en-US" sz="1400" i="1" dirty="0">
                <a:solidFill>
                  <a:schemeClr val="bg2"/>
                </a:solidFill>
              </a:rPr>
              <a:t>Artículo central + 34 comentarios + respuesta del autor</a:t>
            </a:r>
            <a:endParaRPr lang="en-US" sz="1400" dirty="0"/>
          </a:p>
        </p:txBody>
      </p:sp>
      <p:sp>
        <p:nvSpPr>
          <p:cNvPr id="7" name="Rol 1"/>
          <p:cNvSpPr/>
          <p:nvPr/>
        </p:nvSpPr>
        <p:spPr>
          <a:xfrm>
            <a:off x="548640" y="3886200"/>
            <a:ext cx="566928" cy="566928"/>
          </a:xfrm>
          <a:prstGeom prst="ellipse">
            <a:avLst/>
          </a:prstGeom>
          <a:solidFill>
            <a:srgbClr val="E9A23B"/>
          </a:solidFill>
          <a:ln w="12700">
            <a:solidFill>
              <a:srgbClr val="E9A23B"/>
            </a:solidFill>
            <a:prstDash val="solid"/>
          </a:ln>
        </p:spPr>
      </p:sp>
      <p:sp>
        <p:nvSpPr>
          <p:cNvPr id="8" name="Text 6"/>
          <p:cNvSpPr txBox="1"/>
          <p:nvPr/>
        </p:nvSpPr>
        <p:spPr>
          <a:xfrm>
            <a:off x="548640" y="3886200"/>
            <a:ext cx="566928" cy="566928"/>
          </a:xfrm>
          <a:prstGeom prst="rect">
            <a:avLst/>
          </a:prstGeom>
          <a:noFill/>
          <a:ln/>
        </p:spPr>
        <p:txBody>
          <a:bodyPr wrap="square" lIns="0" tIns="0" rIns="0" bIns="0" rtlCol="0" anchor="ctr"/>
          <a:lstStyle/>
          <a:p>
            <a:pPr algn="ctr" indent="0" marL="0">
              <a:buNone/>
            </a:pPr>
            <a:r>
              <a:rPr lang="en-US" sz="1600" b="1" dirty="0">
                <a:solidFill>
                  <a:schemeClr val="tx1"/>
                </a:solidFill>
              </a:rPr>
              <a:t>1</a:t>
            </a:r>
            <a:endParaRPr lang="en-US" sz="1600" dirty="0"/>
          </a:p>
        </p:txBody>
      </p:sp>
      <p:sp>
        <p:nvSpPr>
          <p:cNvPr id="9" name="Text 7"/>
          <p:cNvSpPr txBox="1"/>
          <p:nvPr/>
        </p:nvSpPr>
        <p:spPr>
          <a:xfrm>
            <a:off x="1234440" y="3886200"/>
            <a:ext cx="1920240" cy="566928"/>
          </a:xfrm>
          <a:prstGeom prst="rect">
            <a:avLst/>
          </a:prstGeom>
          <a:noFill/>
          <a:ln/>
        </p:spPr>
        <p:txBody>
          <a:bodyPr wrap="square" lIns="0" tIns="0" rIns="0" bIns="0" rtlCol="0" anchor="ctr"/>
          <a:lstStyle/>
          <a:p>
            <a:pPr indent="0" marL="0">
              <a:buNone/>
            </a:pPr>
            <a:r>
              <a:rPr lang="en-US" sz="1500" dirty="0">
                <a:solidFill>
                  <a:schemeClr val="bg1"/>
                </a:solidFill>
              </a:rPr>
              <a:t>El artículo y el experimento</a:t>
            </a:r>
            <a:endParaRPr lang="en-US" sz="1500" dirty="0"/>
          </a:p>
        </p:txBody>
      </p:sp>
      <p:sp>
        <p:nvSpPr>
          <p:cNvPr id="10" name="Rol 2 · 3"/>
          <p:cNvSpPr/>
          <p:nvPr/>
        </p:nvSpPr>
        <p:spPr>
          <a:xfrm>
            <a:off x="3291840" y="3886200"/>
            <a:ext cx="566928" cy="566928"/>
          </a:xfrm>
          <a:prstGeom prst="ellipse">
            <a:avLst/>
          </a:prstGeom>
          <a:solidFill>
            <a:srgbClr val="2A8C82"/>
          </a:solidFill>
          <a:ln w="12700">
            <a:solidFill>
              <a:srgbClr val="2A8C82"/>
            </a:solidFill>
            <a:prstDash val="solid"/>
          </a:ln>
        </p:spPr>
      </p:sp>
      <p:sp>
        <p:nvSpPr>
          <p:cNvPr id="11" name="Text 9"/>
          <p:cNvSpPr txBox="1"/>
          <p:nvPr/>
        </p:nvSpPr>
        <p:spPr>
          <a:xfrm>
            <a:off x="3291840" y="3886200"/>
            <a:ext cx="566928" cy="566928"/>
          </a:xfrm>
          <a:prstGeom prst="rect">
            <a:avLst/>
          </a:prstGeom>
          <a:noFill/>
          <a:ln/>
        </p:spPr>
        <p:txBody>
          <a:bodyPr wrap="square" lIns="0" tIns="0" rIns="0" bIns="0" rtlCol="0" anchor="ctr"/>
          <a:lstStyle/>
          <a:p>
            <a:pPr algn="ctr" indent="0" marL="0">
              <a:buNone/>
            </a:pPr>
            <a:r>
              <a:rPr lang="en-US" sz="1100" b="1" dirty="0">
                <a:solidFill>
                  <a:schemeClr val="tx1"/>
                </a:solidFill>
              </a:rPr>
              <a:t>2 · 3</a:t>
            </a:r>
            <a:endParaRPr lang="en-US" sz="1100" dirty="0"/>
          </a:p>
        </p:txBody>
      </p:sp>
      <p:sp>
        <p:nvSpPr>
          <p:cNvPr id="12" name="Text 10"/>
          <p:cNvSpPr txBox="1"/>
          <p:nvPr/>
        </p:nvSpPr>
        <p:spPr>
          <a:xfrm>
            <a:off x="3977640" y="3886200"/>
            <a:ext cx="1920240" cy="566928"/>
          </a:xfrm>
          <a:prstGeom prst="rect">
            <a:avLst/>
          </a:prstGeom>
          <a:noFill/>
          <a:ln/>
        </p:spPr>
        <p:txBody>
          <a:bodyPr wrap="square" lIns="0" tIns="0" rIns="0" bIns="0" rtlCol="0" anchor="ctr"/>
          <a:lstStyle/>
          <a:p>
            <a:pPr indent="0" marL="0">
              <a:buNone/>
            </a:pPr>
            <a:r>
              <a:rPr lang="en-US" sz="1500" dirty="0">
                <a:solidFill>
                  <a:schemeClr val="bg1"/>
                </a:solidFill>
              </a:rPr>
              <a:t>Aciertos teóricos</a:t>
            </a:r>
            <a:endParaRPr lang="en-US" sz="1500" dirty="0"/>
          </a:p>
        </p:txBody>
      </p:sp>
      <p:sp>
        <p:nvSpPr>
          <p:cNvPr id="13" name="Rol 4 · 5"/>
          <p:cNvSpPr/>
          <p:nvPr/>
        </p:nvSpPr>
        <p:spPr>
          <a:xfrm>
            <a:off x="6035040" y="3886200"/>
            <a:ext cx="566928" cy="566928"/>
          </a:xfrm>
          <a:prstGeom prst="ellipse">
            <a:avLst/>
          </a:prstGeom>
          <a:solidFill>
            <a:srgbClr val="D2553F"/>
          </a:solidFill>
          <a:ln w="12700">
            <a:solidFill>
              <a:srgbClr val="D2553F"/>
            </a:solidFill>
            <a:prstDash val="solid"/>
          </a:ln>
        </p:spPr>
      </p:sp>
      <p:sp>
        <p:nvSpPr>
          <p:cNvPr id="14" name="Text 12"/>
          <p:cNvSpPr txBox="1"/>
          <p:nvPr/>
        </p:nvSpPr>
        <p:spPr>
          <a:xfrm>
            <a:off x="6035040" y="3886200"/>
            <a:ext cx="566928" cy="566928"/>
          </a:xfrm>
          <a:prstGeom prst="rect">
            <a:avLst/>
          </a:prstGeom>
          <a:noFill/>
          <a:ln/>
        </p:spPr>
        <p:txBody>
          <a:bodyPr wrap="square" lIns="0" tIns="0" rIns="0" bIns="0" rtlCol="0" anchor="ctr"/>
          <a:lstStyle/>
          <a:p>
            <a:pPr algn="ctr" indent="0" marL="0">
              <a:buNone/>
            </a:pPr>
            <a:r>
              <a:rPr lang="en-US" sz="1100" b="1" dirty="0">
                <a:solidFill>
                  <a:schemeClr val="tx1"/>
                </a:solidFill>
              </a:rPr>
              <a:t>4 · 5</a:t>
            </a:r>
            <a:endParaRPr lang="en-US" sz="1100" dirty="0"/>
          </a:p>
        </p:txBody>
      </p:sp>
      <p:sp>
        <p:nvSpPr>
          <p:cNvPr id="15" name="Text 13"/>
          <p:cNvSpPr txBox="1"/>
          <p:nvPr/>
        </p:nvSpPr>
        <p:spPr>
          <a:xfrm>
            <a:off x="6720840" y="3886200"/>
            <a:ext cx="1920240" cy="566928"/>
          </a:xfrm>
          <a:prstGeom prst="rect">
            <a:avLst/>
          </a:prstGeom>
          <a:noFill/>
          <a:ln/>
        </p:spPr>
        <p:txBody>
          <a:bodyPr wrap="square" lIns="0" tIns="0" rIns="0" bIns="0" rtlCol="0" anchor="ctr"/>
          <a:lstStyle/>
          <a:p>
            <a:pPr indent="0" marL="0">
              <a:buNone/>
            </a:pPr>
            <a:r>
              <a:rPr lang="en-US" sz="1500" dirty="0">
                <a:solidFill>
                  <a:schemeClr val="bg1"/>
                </a:solidFill>
              </a:rPr>
              <a:t>Críticas teóricas</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Etiqueta de rol"/>
          <p:cNvSpPr/>
          <p:nvPr/>
        </p:nvSpPr>
        <p:spPr>
          <a:xfrm>
            <a:off x="457200" y="201168"/>
            <a:ext cx="1563624" cy="274320"/>
          </a:xfrm>
          <a:prstGeom prst="roundRect">
            <a:avLst>
              <a:gd name="adj" fmla="val 50000"/>
            </a:avLst>
          </a:prstGeom>
          <a:solidFill>
            <a:srgbClr val="E9A23B"/>
          </a:solidFill>
          <a:ln w="12700">
            <a:solidFill>
              <a:srgbClr val="E9A23B"/>
            </a:solidFill>
            <a:prstDash val="solid"/>
          </a:ln>
        </p:spPr>
      </p:sp>
      <p:sp>
        <p:nvSpPr>
          <p:cNvPr id="3" name="Texto de etiqueta"/>
          <p:cNvSpPr txBox="1"/>
          <p:nvPr/>
        </p:nvSpPr>
        <p:spPr>
          <a:xfrm>
            <a:off x="457200" y="201168"/>
            <a:ext cx="1563624" cy="274320"/>
          </a:xfrm>
          <a:prstGeom prst="rect">
            <a:avLst/>
          </a:prstGeom>
          <a:noFill/>
          <a:ln/>
        </p:spPr>
        <p:txBody>
          <a:bodyPr wrap="square" lIns="0" tIns="0" rIns="0" bIns="0" rtlCol="0" anchor="ctr"/>
          <a:lstStyle/>
          <a:p>
            <a:pPr algn="ctr" indent="0" marL="0">
              <a:buNone/>
            </a:pPr>
            <a:r>
              <a:rPr lang="en-US" sz="1100" b="1" spc="150" kern="0" dirty="0">
                <a:solidFill>
                  <a:schemeClr val="bg1"/>
                </a:solidFill>
              </a:rPr>
              <a:t>EL ARTÍCULO</a:t>
            </a:r>
            <a:endParaRPr lang="en-US" sz="1100" dirty="0"/>
          </a:p>
        </p:txBody>
      </p:sp>
      <p:sp>
        <p:nvSpPr>
          <p:cNvPr id="4" name="Marca del recorrido"/>
          <p:cNvSpPr txBox="1"/>
          <p:nvPr/>
        </p:nvSpPr>
        <p:spPr>
          <a:xfrm>
            <a:off x="4114800" y="201168"/>
            <a:ext cx="4572000" cy="274320"/>
          </a:xfrm>
          <a:prstGeom prst="rect">
            <a:avLst/>
          </a:prstGeom>
          <a:noFill/>
          <a:ln/>
        </p:spPr>
        <p:txBody>
          <a:bodyPr wrap="square" lIns="0" tIns="0" rIns="0" bIns="0" rtlCol="0" anchor="ctr"/>
          <a:lstStyle/>
          <a:p>
            <a:pPr algn="r" indent="0" marL="0">
              <a:buNone/>
            </a:pPr>
            <a:r>
              <a:rPr lang="en-US" sz="1000" b="1" spc="150" kern="0" dirty="0">
                <a:solidFill>
                  <a:schemeClr val="tx2"/>
                </a:solidFill>
              </a:rPr>
              <a:t>ARTÍCULO · INTRODUCCIÓN</a:t>
            </a:r>
            <a:endParaRPr lang="en-US" sz="1000" dirty="0"/>
          </a:p>
        </p:txBody>
      </p:sp>
      <p:sp>
        <p:nvSpPr>
          <p:cNvPr id="5" name="Text 0"/>
          <p:cNvSpPr/>
          <p:nvPr>
            <p:ph idx="100" type="title" hasCustomPrompt="1"/>
          </p:nvPr>
        </p:nvSpPr>
        <p:spPr>
          <a:xfrm>
            <a:off x="457200" y="566928"/>
            <a:ext cx="8229600" cy="640080"/>
          </a:xfrm>
          <a:prstGeom prst="rect">
            <a:avLst/>
          </a:prstGeom>
          <a:noFill/>
          <a:ln/>
        </p:spPr>
        <p:txBody>
          <a:bodyPr wrap="square" lIns="0" tIns="0" rIns="0" bIns="0" rtlCol="0" anchor="t"/>
          <a:lstStyle/>
          <a:p>
            <a:pPr algn="l" indent="0" marL="0">
              <a:buNone/>
            </a:pPr>
            <a:r>
              <a:rPr lang="en-US" sz="2800" b="1" dirty="0">
                <a:solidFill>
                  <a:schemeClr val="tx1"/>
                </a:solidFill>
              </a:rPr>
              <a:t>Dos supuestos en duda, una hipótesis</a:t>
            </a:r>
            <a:endParaRPr lang="en-US" sz="2800" dirty="0"/>
          </a:p>
        </p:txBody>
      </p:sp>
      <p:sp>
        <p:nvSpPr>
          <p:cNvPr id="6" name="Sistema 1"/>
          <p:cNvSpPr/>
          <p:nvPr/>
        </p:nvSpPr>
        <p:spPr>
          <a:xfrm>
            <a:off x="457200" y="1325880"/>
            <a:ext cx="3749040" cy="822960"/>
          </a:xfrm>
          <a:prstGeom prst="roundRect">
            <a:avLst>
              <a:gd name="adj" fmla="val 8889"/>
            </a:avLst>
          </a:prstGeom>
          <a:solidFill>
            <a:srgbClr val="F1F2F6"/>
          </a:solidFill>
          <a:ln w="12700">
            <a:solidFill>
              <a:srgbClr val="F1F2F6"/>
            </a:solidFill>
            <a:prstDash val="solid"/>
          </a:ln>
        </p:spPr>
      </p:sp>
      <p:pic>
        <p:nvPicPr>
          <p:cNvPr id="7" name="Image 0" descr="Sistema 1">    </p:cNvPr>
          <p:cNvPicPr>
            <a:picLocks noChangeAspect="1"/>
          </p:cNvPicPr>
          <p:nvPr/>
        </p:nvPicPr>
        <p:blipFill>
          <a:blip r:embed="rId1"/>
          <a:stretch>
            <a:fillRect/>
          </a:stretch>
        </p:blipFill>
        <p:spPr>
          <a:xfrm>
            <a:off x="658368" y="1527048"/>
            <a:ext cx="420624" cy="420624"/>
          </a:xfrm>
          <a:prstGeom prst="rect">
            <a:avLst/>
          </a:prstGeom>
        </p:spPr>
      </p:pic>
      <p:sp>
        <p:nvSpPr>
          <p:cNvPr id="8" name="Text 5"/>
          <p:cNvSpPr txBox="1"/>
          <p:nvPr/>
        </p:nvSpPr>
        <p:spPr>
          <a:xfrm>
            <a:off x="1280160" y="1417320"/>
            <a:ext cx="2743200" cy="347472"/>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Sistema 1</a:t>
            </a:r>
            <a:endParaRPr lang="en-US" sz="1800" dirty="0"/>
          </a:p>
        </p:txBody>
      </p:sp>
      <p:sp>
        <p:nvSpPr>
          <p:cNvPr id="9" name="Text 6"/>
          <p:cNvSpPr txBox="1"/>
          <p:nvPr/>
        </p:nvSpPr>
        <p:spPr>
          <a:xfrm>
            <a:off x="1280160" y="1764792"/>
            <a:ext cx="2834640" cy="310896"/>
          </a:xfrm>
          <a:prstGeom prst="rect">
            <a:avLst/>
          </a:prstGeom>
          <a:noFill/>
          <a:ln/>
        </p:spPr>
        <p:txBody>
          <a:bodyPr wrap="square" lIns="0" tIns="0" rIns="0" bIns="0" rtlCol="0" anchor="ctr"/>
          <a:lstStyle/>
          <a:p>
            <a:pPr indent="0" marL="0">
              <a:buNone/>
            </a:pPr>
            <a:r>
              <a:rPr lang="en-US" sz="1400" dirty="0">
                <a:solidFill>
                  <a:schemeClr val="tx2"/>
                </a:solidFill>
              </a:rPr>
              <a:t>Intuitivo · rápido · sin esfuerzo</a:t>
            </a:r>
            <a:endParaRPr lang="en-US" sz="1400" dirty="0"/>
          </a:p>
        </p:txBody>
      </p:sp>
      <p:sp>
        <p:nvSpPr>
          <p:cNvPr id="10" name="Sistema 2"/>
          <p:cNvSpPr/>
          <p:nvPr/>
        </p:nvSpPr>
        <p:spPr>
          <a:xfrm>
            <a:off x="457200" y="2286000"/>
            <a:ext cx="3749040" cy="822960"/>
          </a:xfrm>
          <a:prstGeom prst="roundRect">
            <a:avLst>
              <a:gd name="adj" fmla="val 8889"/>
            </a:avLst>
          </a:prstGeom>
          <a:solidFill>
            <a:srgbClr val="F1F2F6"/>
          </a:solidFill>
          <a:ln w="12700">
            <a:solidFill>
              <a:srgbClr val="F1F2F6"/>
            </a:solidFill>
            <a:prstDash val="solid"/>
          </a:ln>
        </p:spPr>
      </p:sp>
      <p:pic>
        <p:nvPicPr>
          <p:cNvPr id="11" name="Image 1" descr="Sistema 2">    </p:cNvPr>
          <p:cNvPicPr>
            <a:picLocks noChangeAspect="1"/>
          </p:cNvPicPr>
          <p:nvPr/>
        </p:nvPicPr>
        <p:blipFill>
          <a:blip r:embed="rId2"/>
          <a:stretch>
            <a:fillRect/>
          </a:stretch>
        </p:blipFill>
        <p:spPr>
          <a:xfrm>
            <a:off x="658368" y="2487168"/>
            <a:ext cx="420624" cy="420624"/>
          </a:xfrm>
          <a:prstGeom prst="rect">
            <a:avLst/>
          </a:prstGeom>
        </p:spPr>
      </p:pic>
      <p:sp>
        <p:nvSpPr>
          <p:cNvPr id="12" name="Text 8"/>
          <p:cNvSpPr txBox="1"/>
          <p:nvPr/>
        </p:nvSpPr>
        <p:spPr>
          <a:xfrm>
            <a:off x="1280160" y="2377440"/>
            <a:ext cx="2743200" cy="347472"/>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Sistema 2</a:t>
            </a:r>
            <a:endParaRPr lang="en-US" sz="1800" dirty="0"/>
          </a:p>
        </p:txBody>
      </p:sp>
      <p:sp>
        <p:nvSpPr>
          <p:cNvPr id="13" name="Text 9"/>
          <p:cNvSpPr txBox="1"/>
          <p:nvPr/>
        </p:nvSpPr>
        <p:spPr>
          <a:xfrm>
            <a:off x="1280160" y="2724912"/>
            <a:ext cx="2834640" cy="310896"/>
          </a:xfrm>
          <a:prstGeom prst="rect">
            <a:avLst/>
          </a:prstGeom>
          <a:noFill/>
          <a:ln/>
        </p:spPr>
        <p:txBody>
          <a:bodyPr wrap="square" lIns="0" tIns="0" rIns="0" bIns="0" rtlCol="0" anchor="ctr"/>
          <a:lstStyle/>
          <a:p>
            <a:pPr indent="0" marL="0">
              <a:buNone/>
            </a:pPr>
            <a:r>
              <a:rPr lang="en-US" sz="1400" dirty="0">
                <a:solidFill>
                  <a:schemeClr val="tx2"/>
                </a:solidFill>
              </a:rPr>
              <a:t>Deliberado · lento · costoso</a:t>
            </a:r>
            <a:endParaRPr lang="en-US" sz="1400" dirty="0"/>
          </a:p>
        </p:txBody>
      </p:sp>
      <p:sp>
        <p:nvSpPr>
          <p:cNvPr id="14" name="Text 10"/>
          <p:cNvSpPr txBox="1"/>
          <p:nvPr/>
        </p:nvSpPr>
        <p:spPr>
          <a:xfrm>
            <a:off x="4480560" y="1298448"/>
            <a:ext cx="4206240" cy="274320"/>
          </a:xfrm>
          <a:prstGeom prst="rect">
            <a:avLst/>
          </a:prstGeom>
          <a:noFill/>
          <a:ln/>
        </p:spPr>
        <p:txBody>
          <a:bodyPr wrap="square" lIns="0" tIns="0" rIns="0" bIns="0" rtlCol="0" anchor="t"/>
          <a:lstStyle/>
          <a:p>
            <a:pPr indent="0" marL="0">
              <a:buNone/>
            </a:pPr>
            <a:r>
              <a:rPr lang="en-US" sz="1400" b="1" dirty="0">
                <a:solidFill>
                  <a:schemeClr val="tx2"/>
                </a:solidFill>
              </a:rPr>
              <a:t>De Neys cuestiona:</a:t>
            </a:r>
            <a:endParaRPr lang="en-US" sz="1400" dirty="0"/>
          </a:p>
        </p:txBody>
      </p:sp>
      <p:sp>
        <p:nvSpPr>
          <p:cNvPr id="15" name="Supuesto 1"/>
          <p:cNvSpPr/>
          <p:nvPr/>
        </p:nvSpPr>
        <p:spPr>
          <a:xfrm>
            <a:off x="4480560" y="1664208"/>
            <a:ext cx="384048" cy="384048"/>
          </a:xfrm>
          <a:prstGeom prst="ellipse">
            <a:avLst/>
          </a:prstGeom>
          <a:solidFill>
            <a:srgbClr val="262A3F"/>
          </a:solidFill>
          <a:ln w="12700">
            <a:solidFill>
              <a:srgbClr val="262A3F"/>
            </a:solidFill>
            <a:prstDash val="solid"/>
          </a:ln>
        </p:spPr>
      </p:sp>
      <p:sp>
        <p:nvSpPr>
          <p:cNvPr id="16" name="Text 12"/>
          <p:cNvSpPr txBox="1"/>
          <p:nvPr/>
        </p:nvSpPr>
        <p:spPr>
          <a:xfrm>
            <a:off x="4480560" y="166420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7" name="Text 13"/>
          <p:cNvSpPr txBox="1"/>
          <p:nvPr/>
        </p:nvSpPr>
        <p:spPr>
          <a:xfrm>
            <a:off x="5010912" y="1627632"/>
            <a:ext cx="3657600" cy="292608"/>
          </a:xfrm>
          <a:prstGeom prst="rect">
            <a:avLst/>
          </a:prstGeom>
          <a:noFill/>
          <a:ln/>
        </p:spPr>
        <p:txBody>
          <a:bodyPr wrap="square" lIns="0" tIns="0" rIns="0" bIns="0" rtlCol="0" anchor="t"/>
          <a:lstStyle/>
          <a:p>
            <a:pPr indent="0" marL="0">
              <a:buNone/>
            </a:pPr>
            <a:r>
              <a:rPr lang="en-US" sz="1600" b="1" dirty="0">
                <a:solidFill>
                  <a:schemeClr val="tx1"/>
                </a:solidFill>
              </a:rPr>
              <a:t>Exclusividad</a:t>
            </a:r>
            <a:endParaRPr lang="en-US" sz="1600" dirty="0"/>
          </a:p>
        </p:txBody>
      </p:sp>
      <p:sp>
        <p:nvSpPr>
          <p:cNvPr id="18" name="Text 14"/>
          <p:cNvSpPr txBox="1"/>
          <p:nvPr/>
        </p:nvSpPr>
        <p:spPr>
          <a:xfrm>
            <a:off x="5010912" y="1920240"/>
            <a:ext cx="3657600" cy="457200"/>
          </a:xfrm>
          <a:prstGeom prst="rect">
            <a:avLst/>
          </a:prstGeom>
          <a:noFill/>
          <a:ln/>
        </p:spPr>
        <p:txBody>
          <a:bodyPr wrap="square" lIns="0" tIns="0" rIns="0" bIns="0" rtlCol="0" anchor="t"/>
          <a:lstStyle/>
          <a:p>
            <a:pPr indent="0" marL="0">
              <a:buNone/>
            </a:pPr>
            <a:r>
              <a:rPr lang="en-US" sz="1300" dirty="0">
                <a:solidFill>
                  <a:schemeClr val="tx1"/>
                </a:solidFill>
              </a:rPr>
              <a:t>La respuesta correcta solo la da el sistema 2, corrigiendo la intuición.</a:t>
            </a:r>
            <a:endParaRPr lang="en-US" sz="1300" dirty="0"/>
          </a:p>
        </p:txBody>
      </p:sp>
      <p:sp>
        <p:nvSpPr>
          <p:cNvPr id="19" name="Supuesto 2"/>
          <p:cNvSpPr/>
          <p:nvPr/>
        </p:nvSpPr>
        <p:spPr>
          <a:xfrm>
            <a:off x="4480560" y="2441448"/>
            <a:ext cx="384048" cy="384048"/>
          </a:xfrm>
          <a:prstGeom prst="ellipse">
            <a:avLst/>
          </a:prstGeom>
          <a:solidFill>
            <a:srgbClr val="262A3F"/>
          </a:solidFill>
          <a:ln w="12700">
            <a:solidFill>
              <a:srgbClr val="262A3F"/>
            </a:solidFill>
            <a:prstDash val="solid"/>
          </a:ln>
        </p:spPr>
      </p:sp>
      <p:sp>
        <p:nvSpPr>
          <p:cNvPr id="20" name="Text 16"/>
          <p:cNvSpPr txBox="1"/>
          <p:nvPr/>
        </p:nvSpPr>
        <p:spPr>
          <a:xfrm>
            <a:off x="4480560" y="244144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21" name="Text 17"/>
          <p:cNvSpPr txBox="1"/>
          <p:nvPr/>
        </p:nvSpPr>
        <p:spPr>
          <a:xfrm>
            <a:off x="5010912" y="2404872"/>
            <a:ext cx="3657600" cy="292608"/>
          </a:xfrm>
          <a:prstGeom prst="rect">
            <a:avLst/>
          </a:prstGeom>
          <a:noFill/>
          <a:ln/>
        </p:spPr>
        <p:txBody>
          <a:bodyPr wrap="square" lIns="0" tIns="0" rIns="0" bIns="0" rtlCol="0" anchor="t"/>
          <a:lstStyle/>
          <a:p>
            <a:pPr indent="0" marL="0">
              <a:buNone/>
            </a:pPr>
            <a:r>
              <a:rPr lang="en-US" sz="1600" b="1" dirty="0">
                <a:solidFill>
                  <a:schemeClr val="tx1"/>
                </a:solidFill>
              </a:rPr>
              <a:t>Mecanismo de cambio</a:t>
            </a:r>
            <a:endParaRPr lang="en-US" sz="1600" dirty="0"/>
          </a:p>
        </p:txBody>
      </p:sp>
      <p:sp>
        <p:nvSpPr>
          <p:cNvPr id="22" name="Text 18"/>
          <p:cNvSpPr txBox="1"/>
          <p:nvPr/>
        </p:nvSpPr>
        <p:spPr>
          <a:xfrm>
            <a:off x="5010912" y="2697480"/>
            <a:ext cx="3657600" cy="457200"/>
          </a:xfrm>
          <a:prstGeom prst="rect">
            <a:avLst/>
          </a:prstGeom>
          <a:noFill/>
          <a:ln/>
        </p:spPr>
        <p:txBody>
          <a:bodyPr wrap="square" lIns="0" tIns="0" rIns="0" bIns="0" rtlCol="0" anchor="t"/>
          <a:lstStyle/>
          <a:p>
            <a:pPr indent="0" marL="0">
              <a:buNone/>
            </a:pPr>
            <a:r>
              <a:rPr lang="en-US" sz="1300" dirty="0">
                <a:solidFill>
                  <a:schemeClr val="tx1"/>
                </a:solidFill>
              </a:rPr>
              <a:t>¿Cómo sabe uno, sin ayuda, cuándo dejar la intuición y pensar?</a:t>
            </a:r>
            <a:endParaRPr lang="en-US" sz="1300" dirty="0"/>
          </a:p>
        </p:txBody>
      </p:sp>
      <p:sp>
        <p:nvSpPr>
          <p:cNvPr id="23" name="Hipótesis"/>
          <p:cNvSpPr/>
          <p:nvPr/>
        </p:nvSpPr>
        <p:spPr>
          <a:xfrm>
            <a:off x="457200" y="3291840"/>
            <a:ext cx="8229600" cy="1234440"/>
          </a:xfrm>
          <a:prstGeom prst="roundRect">
            <a:avLst>
              <a:gd name="adj" fmla="val 5926"/>
            </a:avLst>
          </a:prstGeom>
          <a:solidFill>
            <a:srgbClr val="262A3F"/>
          </a:solidFill>
          <a:ln w="12700">
            <a:solidFill>
              <a:srgbClr val="262A3F"/>
            </a:solidFill>
            <a:prstDash val="solid"/>
          </a:ln>
        </p:spPr>
      </p:sp>
      <p:sp>
        <p:nvSpPr>
          <p:cNvPr id="24" name="Text 20"/>
          <p:cNvSpPr txBox="1"/>
          <p:nvPr/>
        </p:nvSpPr>
        <p:spPr>
          <a:xfrm>
            <a:off x="685800" y="3429000"/>
            <a:ext cx="2743200" cy="274320"/>
          </a:xfrm>
          <a:prstGeom prst="rect">
            <a:avLst/>
          </a:prstGeom>
          <a:noFill/>
          <a:ln/>
        </p:spPr>
        <p:txBody>
          <a:bodyPr wrap="square" lIns="0" tIns="0" rIns="0" bIns="0" rtlCol="0" anchor="t"/>
          <a:lstStyle/>
          <a:p>
            <a:pPr indent="0" marL="0">
              <a:buNone/>
            </a:pPr>
            <a:r>
              <a:rPr lang="en-US" sz="1100" b="1" spc="150" kern="0" dirty="0">
                <a:solidFill>
                  <a:schemeClr val="accent1"/>
                </a:solidFill>
              </a:rPr>
              <a:t>HIPÓTESIS</a:t>
            </a:r>
            <a:endParaRPr lang="en-US" sz="1100" dirty="0"/>
          </a:p>
        </p:txBody>
      </p:sp>
      <p:sp>
        <p:nvSpPr>
          <p:cNvPr id="25" name="Text 21"/>
          <p:cNvSpPr txBox="1"/>
          <p:nvPr/>
        </p:nvSpPr>
        <p:spPr>
          <a:xfrm>
            <a:off x="685800" y="3730752"/>
            <a:ext cx="7772400" cy="685800"/>
          </a:xfrm>
          <a:prstGeom prst="rect">
            <a:avLst/>
          </a:prstGeom>
          <a:noFill/>
          <a:ln/>
        </p:spPr>
        <p:txBody>
          <a:bodyPr wrap="square" lIns="0" tIns="0" rIns="0" bIns="0" rtlCol="0" anchor="t"/>
          <a:lstStyle/>
          <a:p>
            <a:pPr indent="0" marL="0">
              <a:buNone/>
            </a:pPr>
            <a:r>
              <a:rPr lang="en-US" sz="1700" dirty="0">
                <a:solidFill>
                  <a:schemeClr val="bg1"/>
                </a:solidFill>
                <a:latin typeface="Cambria" pitchFamily="34" charset="0"/>
                <a:ea typeface="Cambria" pitchFamily="34" charset="-122"/>
                <a:cs typeface="Cambria" pitchFamily="34" charset="-120"/>
              </a:rPr>
              <a:t>Los dos problemas están ligados: mientras se sostenga la exclusividad, no puede haber un mecanismo de cambio coherente.</a:t>
            </a:r>
            <a:endParaRPr lang="en-US" sz="1700" dirty="0"/>
          </a:p>
        </p:txBody>
      </p:sp>
      <p:sp>
        <p:nvSpPr>
          <p:cNvPr id="26" name="Text 0"/>
          <p:cNvSpPr/>
          <p:nvPr>
            <p:ph idx="101" type="body" hasCustomPrompt="1"/>
          </p:nvPr>
        </p:nvSpPr>
        <p:spPr>
          <a:xfrm>
            <a:off x="457200" y="4681728"/>
            <a:ext cx="7863840" cy="347472"/>
          </a:xfrm>
          <a:prstGeom prst="rect">
            <a:avLst/>
          </a:prstGeom>
          <a:noFill/>
          <a:ln/>
        </p:spPr>
        <p:txBody>
          <a:bodyPr wrap="square" lIns="0" tIns="0" rIns="0" bIns="0" rtlCol="0" anchor="ctr"/>
          <a:lstStyle/>
          <a:p>
            <a:pPr indent="0" marL="0">
              <a:buNone/>
            </a:pPr>
            <a:r>
              <a:rPr lang="en-US" sz="1000" i="1" dirty="0">
                <a:solidFill>
                  <a:schemeClr val="tx2"/>
                </a:solidFill>
              </a:rPr>
              <a:t>De Neys (2023a, pp. 1-2)</a:t>
            </a:r>
            <a:endParaRPr lang="en-US" sz="1000" dirty="0"/>
          </a:p>
        </p:txBody>
      </p:sp>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Etiqueta de rol"/>
          <p:cNvSpPr/>
          <p:nvPr/>
        </p:nvSpPr>
        <p:spPr>
          <a:xfrm>
            <a:off x="457200" y="201168"/>
            <a:ext cx="1563624" cy="274320"/>
          </a:xfrm>
          <a:prstGeom prst="roundRect">
            <a:avLst>
              <a:gd name="adj" fmla="val 50000"/>
            </a:avLst>
          </a:prstGeom>
          <a:solidFill>
            <a:srgbClr val="E9A23B"/>
          </a:solidFill>
          <a:ln w="12700">
            <a:solidFill>
              <a:srgbClr val="E9A23B"/>
            </a:solidFill>
            <a:prstDash val="solid"/>
          </a:ln>
        </p:spPr>
      </p:sp>
      <p:sp>
        <p:nvSpPr>
          <p:cNvPr id="3" name="Texto de etiqueta"/>
          <p:cNvSpPr txBox="1"/>
          <p:nvPr/>
        </p:nvSpPr>
        <p:spPr>
          <a:xfrm>
            <a:off x="457200" y="201168"/>
            <a:ext cx="1563624" cy="274320"/>
          </a:xfrm>
          <a:prstGeom prst="rect">
            <a:avLst/>
          </a:prstGeom>
          <a:noFill/>
          <a:ln/>
        </p:spPr>
        <p:txBody>
          <a:bodyPr wrap="square" lIns="0" tIns="0" rIns="0" bIns="0" rtlCol="0" anchor="ctr"/>
          <a:lstStyle/>
          <a:p>
            <a:pPr algn="ctr" indent="0" marL="0">
              <a:buNone/>
            </a:pPr>
            <a:r>
              <a:rPr lang="en-US" sz="1100" b="1" spc="150" kern="0" dirty="0">
                <a:solidFill>
                  <a:schemeClr val="bg1"/>
                </a:solidFill>
              </a:rPr>
              <a:t>EL ARTÍCULO</a:t>
            </a:r>
            <a:endParaRPr lang="en-US" sz="1100" dirty="0"/>
          </a:p>
        </p:txBody>
      </p:sp>
      <p:sp>
        <p:nvSpPr>
          <p:cNvPr id="4" name="Marca del recorrido"/>
          <p:cNvSpPr txBox="1"/>
          <p:nvPr/>
        </p:nvSpPr>
        <p:spPr>
          <a:xfrm>
            <a:off x="4114800" y="201168"/>
            <a:ext cx="4572000" cy="274320"/>
          </a:xfrm>
          <a:prstGeom prst="rect">
            <a:avLst/>
          </a:prstGeom>
          <a:noFill/>
          <a:ln/>
        </p:spPr>
        <p:txBody>
          <a:bodyPr wrap="square" lIns="0" tIns="0" rIns="0" bIns="0" rtlCol="0" anchor="ctr"/>
          <a:lstStyle/>
          <a:p>
            <a:pPr algn="r" indent="0" marL="0">
              <a:buNone/>
            </a:pPr>
            <a:r>
              <a:rPr lang="en-US" sz="1000" b="1" spc="150" kern="0" dirty="0">
                <a:solidFill>
                  <a:schemeClr val="tx2"/>
                </a:solidFill>
              </a:rPr>
              <a:t>ARTÍCULO · INTRODUCCIÓN</a:t>
            </a:r>
            <a:endParaRPr lang="en-US" sz="1000" dirty="0"/>
          </a:p>
        </p:txBody>
      </p:sp>
      <p:sp>
        <p:nvSpPr>
          <p:cNvPr id="5" name="Text 0"/>
          <p:cNvSpPr/>
          <p:nvPr>
            <p:ph idx="100" type="title" hasCustomPrompt="1"/>
          </p:nvPr>
        </p:nvSpPr>
        <p:spPr>
          <a:xfrm>
            <a:off x="457200" y="566928"/>
            <a:ext cx="8229600" cy="640080"/>
          </a:xfrm>
          <a:prstGeom prst="rect">
            <a:avLst/>
          </a:prstGeom>
          <a:noFill/>
          <a:ln/>
        </p:spPr>
        <p:txBody>
          <a:bodyPr wrap="square" lIns="0" tIns="0" rIns="0" bIns="0" rtlCol="0" anchor="t"/>
          <a:lstStyle/>
          <a:p>
            <a:pPr algn="l" indent="0" marL="0">
              <a:buNone/>
            </a:pPr>
            <a:r>
              <a:rPr lang="en-US" sz="2800" b="1" dirty="0">
                <a:solidFill>
                  <a:schemeClr val="tx1"/>
                </a:solidFill>
              </a:rPr>
              <a:t>Objetivos y estructura del artículo</a:t>
            </a:r>
            <a:endParaRPr lang="en-US" sz="2800" dirty="0"/>
          </a:p>
        </p:txBody>
      </p:sp>
      <p:sp>
        <p:nvSpPr>
          <p:cNvPr id="6" name="Objetivo general"/>
          <p:cNvSpPr/>
          <p:nvPr/>
        </p:nvSpPr>
        <p:spPr>
          <a:xfrm>
            <a:off x="457200" y="1280160"/>
            <a:ext cx="8229600" cy="713232"/>
          </a:xfrm>
          <a:prstGeom prst="roundRect">
            <a:avLst>
              <a:gd name="adj" fmla="val 10256"/>
            </a:avLst>
          </a:prstGeom>
          <a:solidFill>
            <a:srgbClr val="F1F2F6"/>
          </a:solidFill>
          <a:ln w="12700">
            <a:solidFill>
              <a:srgbClr val="F1F2F6"/>
            </a:solidFill>
            <a:prstDash val="solid"/>
          </a:ln>
        </p:spPr>
      </p:sp>
      <p:sp>
        <p:nvSpPr>
          <p:cNvPr id="7" name="Text 5"/>
          <p:cNvSpPr txBox="1"/>
          <p:nvPr/>
        </p:nvSpPr>
        <p:spPr>
          <a:xfrm>
            <a:off x="685800" y="1280160"/>
            <a:ext cx="7772400" cy="713232"/>
          </a:xfrm>
          <a:prstGeom prst="rect">
            <a:avLst/>
          </a:prstGeom>
          <a:noFill/>
          <a:ln/>
        </p:spPr>
        <p:txBody>
          <a:bodyPr wrap="square" lIns="0" tIns="0" rIns="0" bIns="0" rtlCol="0" anchor="ctr"/>
          <a:lstStyle/>
          <a:p>
            <a:pPr indent="0" marL="0">
              <a:buNone/>
            </a:pPr>
            <a:r>
              <a:rPr lang="en-US" sz="1500" b="1" dirty="0">
                <a:solidFill>
                  <a:schemeClr val="tx1"/>
                </a:solidFill>
              </a:rPr>
              <a:t>Objetivo general: </a:t>
            </a:r>
            <a:pPr indent="0" marL="0">
              <a:buNone/>
            </a:pPr>
            <a:r>
              <a:rPr lang="en-US" sz="1500" dirty="0">
                <a:solidFill>
                  <a:schemeClr val="tx1"/>
                </a:solidFill>
              </a:rPr>
              <a:t>revisar los supuestos de los modelos duales y proponer una arquitectura más viable.</a:t>
            </a:r>
            <a:endParaRPr lang="en-US" sz="1500" dirty="0"/>
          </a:p>
        </p:txBody>
      </p:sp>
      <p:sp>
        <p:nvSpPr>
          <p:cNvPr id="8" name="Text 6"/>
          <p:cNvSpPr txBox="1"/>
          <p:nvPr/>
        </p:nvSpPr>
        <p:spPr>
          <a:xfrm>
            <a:off x="457200" y="2121408"/>
            <a:ext cx="8229600" cy="274320"/>
          </a:xfrm>
          <a:prstGeom prst="rect">
            <a:avLst/>
          </a:prstGeom>
          <a:noFill/>
          <a:ln/>
        </p:spPr>
        <p:txBody>
          <a:bodyPr wrap="square" lIns="0" tIns="0" rIns="0" bIns="0" rtlCol="0" anchor="t"/>
          <a:lstStyle/>
          <a:p>
            <a:pPr indent="0" marL="0">
              <a:buNone/>
            </a:pPr>
            <a:r>
              <a:rPr lang="en-US" sz="1300" b="1" dirty="0">
                <a:solidFill>
                  <a:schemeClr val="tx2"/>
                </a:solidFill>
              </a:rPr>
              <a:t>Objetivos específicos = las secciones del artículo · y quién las presenta hoy</a:t>
            </a:r>
            <a:endParaRPr lang="en-US" sz="1300" dirty="0"/>
          </a:p>
        </p:txBody>
      </p:sp>
      <p:sp>
        <p:nvSpPr>
          <p:cNvPr id="9" name="Sección 1"/>
          <p:cNvSpPr/>
          <p:nvPr/>
        </p:nvSpPr>
        <p:spPr>
          <a:xfrm>
            <a:off x="457200" y="2487168"/>
            <a:ext cx="1280160" cy="1371600"/>
          </a:xfrm>
          <a:prstGeom prst="roundRect">
            <a:avLst>
              <a:gd name="adj" fmla="val 5714"/>
            </a:avLst>
          </a:prstGeom>
          <a:solidFill>
            <a:srgbClr val="F1F2F6"/>
          </a:solidFill>
          <a:ln w="12700">
            <a:solidFill>
              <a:srgbClr val="F1F2F6"/>
            </a:solidFill>
            <a:prstDash val="solid"/>
          </a:ln>
        </p:spPr>
      </p:sp>
      <p:sp>
        <p:nvSpPr>
          <p:cNvPr id="10" name="Text 8"/>
          <p:cNvSpPr txBox="1"/>
          <p:nvPr/>
        </p:nvSpPr>
        <p:spPr>
          <a:xfrm>
            <a:off x="566928" y="2560320"/>
            <a:ext cx="1097280" cy="411480"/>
          </a:xfrm>
          <a:prstGeom prst="rect">
            <a:avLst/>
          </a:prstGeom>
          <a:noFill/>
          <a:ln/>
        </p:spPr>
        <p:txBody>
          <a:bodyPr wrap="square" lIns="0" tIns="0" rIns="0" bIns="0" rtlCol="0" anchor="t"/>
          <a:lstStyle/>
          <a:p>
            <a:pPr indent="0" marL="0">
              <a:buNone/>
            </a:pPr>
            <a:r>
              <a:rPr lang="en-US" sz="1100" b="1" dirty="0">
                <a:solidFill>
                  <a:schemeClr val="tx2"/>
                </a:solidFill>
              </a:rPr>
              <a:t>Sección 1</a:t>
            </a:r>
            <a:endParaRPr lang="en-US" sz="1100" dirty="0"/>
          </a:p>
        </p:txBody>
      </p:sp>
      <p:sp>
        <p:nvSpPr>
          <p:cNvPr id="11" name="Text 9"/>
          <p:cNvSpPr txBox="1"/>
          <p:nvPr/>
        </p:nvSpPr>
        <p:spPr>
          <a:xfrm>
            <a:off x="566928" y="2999232"/>
            <a:ext cx="1097280" cy="777240"/>
          </a:xfrm>
          <a:prstGeom prst="rect">
            <a:avLst/>
          </a:prstGeom>
          <a:noFill/>
          <a:ln/>
        </p:spPr>
        <p:txBody>
          <a:bodyPr wrap="square" lIns="0" tIns="0" rIns="0" bIns="0" rtlCol="0" anchor="t"/>
          <a:lstStyle/>
          <a:p>
            <a:pPr indent="0" marL="0">
              <a:buNone/>
            </a:pPr>
            <a:r>
              <a:rPr lang="en-US" sz="1400" b="1" dirty="0">
                <a:solidFill>
                  <a:schemeClr val="tx1"/>
                </a:solidFill>
              </a:rPr>
              <a:t>Revisar la evidencia</a:t>
            </a:r>
            <a:endParaRPr lang="en-US" sz="1400" dirty="0"/>
          </a:p>
        </p:txBody>
      </p:sp>
      <p:sp>
        <p:nvSpPr>
          <p:cNvPr id="12" name="Expositor 1"/>
          <p:cNvSpPr/>
          <p:nvPr/>
        </p:nvSpPr>
        <p:spPr>
          <a:xfrm>
            <a:off x="566928" y="3959352"/>
            <a:ext cx="347472" cy="347472"/>
          </a:xfrm>
          <a:prstGeom prst="ellipse">
            <a:avLst/>
          </a:prstGeom>
          <a:solidFill>
            <a:srgbClr val="E9A23B"/>
          </a:solidFill>
          <a:ln w="12700">
            <a:solidFill>
              <a:srgbClr val="E9A23B"/>
            </a:solidFill>
            <a:prstDash val="solid"/>
          </a:ln>
        </p:spPr>
      </p:sp>
      <p:sp>
        <p:nvSpPr>
          <p:cNvPr id="13" name="Text 11"/>
          <p:cNvSpPr txBox="1"/>
          <p:nvPr/>
        </p:nvSpPr>
        <p:spPr>
          <a:xfrm>
            <a:off x="566928" y="3959352"/>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4" name="Sección 2"/>
          <p:cNvSpPr/>
          <p:nvPr/>
        </p:nvSpPr>
        <p:spPr>
          <a:xfrm>
            <a:off x="1847088" y="2487168"/>
            <a:ext cx="1280160" cy="1371600"/>
          </a:xfrm>
          <a:prstGeom prst="roundRect">
            <a:avLst>
              <a:gd name="adj" fmla="val 5714"/>
            </a:avLst>
          </a:prstGeom>
          <a:solidFill>
            <a:srgbClr val="F1F2F6"/>
          </a:solidFill>
          <a:ln w="12700">
            <a:solidFill>
              <a:srgbClr val="F1F2F6"/>
            </a:solidFill>
            <a:prstDash val="solid"/>
          </a:ln>
        </p:spPr>
      </p:sp>
      <p:sp>
        <p:nvSpPr>
          <p:cNvPr id="15" name="Text 13"/>
          <p:cNvSpPr txBox="1"/>
          <p:nvPr/>
        </p:nvSpPr>
        <p:spPr>
          <a:xfrm>
            <a:off x="1956816" y="2560320"/>
            <a:ext cx="1097280" cy="411480"/>
          </a:xfrm>
          <a:prstGeom prst="rect">
            <a:avLst/>
          </a:prstGeom>
          <a:noFill/>
          <a:ln/>
        </p:spPr>
        <p:txBody>
          <a:bodyPr wrap="square" lIns="0" tIns="0" rIns="0" bIns="0" rtlCol="0" anchor="t"/>
          <a:lstStyle/>
          <a:p>
            <a:pPr indent="0" marL="0">
              <a:buNone/>
            </a:pPr>
            <a:r>
              <a:rPr lang="en-US" sz="1100" b="1" dirty="0">
                <a:solidFill>
                  <a:schemeClr val="tx2"/>
                </a:solidFill>
              </a:rPr>
              <a:t>Sección 2</a:t>
            </a:r>
            <a:endParaRPr lang="en-US" sz="1100" dirty="0"/>
          </a:p>
        </p:txBody>
      </p:sp>
      <p:sp>
        <p:nvSpPr>
          <p:cNvPr id="16" name="Text 14"/>
          <p:cNvSpPr txBox="1"/>
          <p:nvPr/>
        </p:nvSpPr>
        <p:spPr>
          <a:xfrm>
            <a:off x="1956816" y="2999232"/>
            <a:ext cx="1097280" cy="777240"/>
          </a:xfrm>
          <a:prstGeom prst="rect">
            <a:avLst/>
          </a:prstGeom>
          <a:noFill/>
          <a:ln/>
        </p:spPr>
        <p:txBody>
          <a:bodyPr wrap="square" lIns="0" tIns="0" rIns="0" bIns="0" rtlCol="0" anchor="t"/>
          <a:lstStyle/>
          <a:p>
            <a:pPr indent="0" marL="0">
              <a:buNone/>
            </a:pPr>
            <a:r>
              <a:rPr lang="en-US" sz="1400" b="1" dirty="0">
                <a:solidFill>
                  <a:schemeClr val="tx1"/>
                </a:solidFill>
              </a:rPr>
              <a:t>Analizar el cambio</a:t>
            </a:r>
            <a:endParaRPr lang="en-US" sz="1400" dirty="0"/>
          </a:p>
        </p:txBody>
      </p:sp>
      <p:sp>
        <p:nvSpPr>
          <p:cNvPr id="17" name="Expositor 2"/>
          <p:cNvSpPr/>
          <p:nvPr/>
        </p:nvSpPr>
        <p:spPr>
          <a:xfrm>
            <a:off x="1956816" y="3959352"/>
            <a:ext cx="347472" cy="347472"/>
          </a:xfrm>
          <a:prstGeom prst="ellipse">
            <a:avLst/>
          </a:prstGeom>
          <a:solidFill>
            <a:srgbClr val="2A8C82"/>
          </a:solidFill>
          <a:ln w="12700">
            <a:solidFill>
              <a:srgbClr val="2A8C82"/>
            </a:solidFill>
            <a:prstDash val="solid"/>
          </a:ln>
        </p:spPr>
      </p:sp>
      <p:sp>
        <p:nvSpPr>
          <p:cNvPr id="18" name="Text 16"/>
          <p:cNvSpPr txBox="1"/>
          <p:nvPr/>
        </p:nvSpPr>
        <p:spPr>
          <a:xfrm>
            <a:off x="1956816" y="3959352"/>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9" name="Sección 3"/>
          <p:cNvSpPr/>
          <p:nvPr/>
        </p:nvSpPr>
        <p:spPr>
          <a:xfrm>
            <a:off x="3236976" y="2487168"/>
            <a:ext cx="1280160" cy="1371600"/>
          </a:xfrm>
          <a:prstGeom prst="roundRect">
            <a:avLst>
              <a:gd name="adj" fmla="val 5714"/>
            </a:avLst>
          </a:prstGeom>
          <a:solidFill>
            <a:srgbClr val="F1F2F6"/>
          </a:solidFill>
          <a:ln w="12700">
            <a:solidFill>
              <a:srgbClr val="F1F2F6"/>
            </a:solidFill>
            <a:prstDash val="solid"/>
          </a:ln>
        </p:spPr>
      </p:sp>
      <p:sp>
        <p:nvSpPr>
          <p:cNvPr id="20" name="Text 18"/>
          <p:cNvSpPr txBox="1"/>
          <p:nvPr/>
        </p:nvSpPr>
        <p:spPr>
          <a:xfrm>
            <a:off x="3346704" y="2560320"/>
            <a:ext cx="1097280" cy="411480"/>
          </a:xfrm>
          <a:prstGeom prst="rect">
            <a:avLst/>
          </a:prstGeom>
          <a:noFill/>
          <a:ln/>
        </p:spPr>
        <p:txBody>
          <a:bodyPr wrap="square" lIns="0" tIns="0" rIns="0" bIns="0" rtlCol="0" anchor="t"/>
          <a:lstStyle/>
          <a:p>
            <a:pPr indent="0" marL="0">
              <a:buNone/>
            </a:pPr>
            <a:r>
              <a:rPr lang="en-US" sz="1100" b="1" dirty="0">
                <a:solidFill>
                  <a:schemeClr val="tx2"/>
                </a:solidFill>
              </a:rPr>
              <a:t>Sección 3</a:t>
            </a:r>
            <a:endParaRPr lang="en-US" sz="1100" dirty="0"/>
          </a:p>
        </p:txBody>
      </p:sp>
      <p:sp>
        <p:nvSpPr>
          <p:cNvPr id="21" name="Text 19"/>
          <p:cNvSpPr txBox="1"/>
          <p:nvPr/>
        </p:nvSpPr>
        <p:spPr>
          <a:xfrm>
            <a:off x="3346704" y="2999232"/>
            <a:ext cx="1097280" cy="777240"/>
          </a:xfrm>
          <a:prstGeom prst="rect">
            <a:avLst/>
          </a:prstGeom>
          <a:noFill/>
          <a:ln/>
        </p:spPr>
        <p:txBody>
          <a:bodyPr wrap="square" lIns="0" tIns="0" rIns="0" bIns="0" rtlCol="0" anchor="t"/>
          <a:lstStyle/>
          <a:p>
            <a:pPr indent="0" marL="0">
              <a:buNone/>
            </a:pPr>
            <a:r>
              <a:rPr lang="en-US" sz="1400" b="1" dirty="0">
                <a:solidFill>
                  <a:schemeClr val="tx1"/>
                </a:solidFill>
              </a:rPr>
              <a:t>Proponer un modelo</a:t>
            </a:r>
            <a:endParaRPr lang="en-US" sz="1400" dirty="0"/>
          </a:p>
        </p:txBody>
      </p:sp>
      <p:sp>
        <p:nvSpPr>
          <p:cNvPr id="22" name="Expositor 2"/>
          <p:cNvSpPr/>
          <p:nvPr/>
        </p:nvSpPr>
        <p:spPr>
          <a:xfrm>
            <a:off x="3346704" y="3959352"/>
            <a:ext cx="347472" cy="347472"/>
          </a:xfrm>
          <a:prstGeom prst="ellipse">
            <a:avLst/>
          </a:prstGeom>
          <a:solidFill>
            <a:srgbClr val="2A8C82"/>
          </a:solidFill>
          <a:ln w="12700">
            <a:solidFill>
              <a:srgbClr val="2A8C82"/>
            </a:solidFill>
            <a:prstDash val="solid"/>
          </a:ln>
        </p:spPr>
      </p:sp>
      <p:sp>
        <p:nvSpPr>
          <p:cNvPr id="23" name="Text 21"/>
          <p:cNvSpPr txBox="1"/>
          <p:nvPr/>
        </p:nvSpPr>
        <p:spPr>
          <a:xfrm>
            <a:off x="3346704" y="3959352"/>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24" name="Sección 4"/>
          <p:cNvSpPr/>
          <p:nvPr/>
        </p:nvSpPr>
        <p:spPr>
          <a:xfrm>
            <a:off x="4626864" y="2487168"/>
            <a:ext cx="1280160" cy="1371600"/>
          </a:xfrm>
          <a:prstGeom prst="roundRect">
            <a:avLst>
              <a:gd name="adj" fmla="val 5714"/>
            </a:avLst>
          </a:prstGeom>
          <a:solidFill>
            <a:srgbClr val="F1F2F6"/>
          </a:solidFill>
          <a:ln w="12700">
            <a:solidFill>
              <a:srgbClr val="F1F2F6"/>
            </a:solidFill>
            <a:prstDash val="solid"/>
          </a:ln>
        </p:spPr>
      </p:sp>
      <p:sp>
        <p:nvSpPr>
          <p:cNvPr id="25" name="Text 23"/>
          <p:cNvSpPr txBox="1"/>
          <p:nvPr/>
        </p:nvSpPr>
        <p:spPr>
          <a:xfrm>
            <a:off x="4736592" y="2560320"/>
            <a:ext cx="1097280" cy="411480"/>
          </a:xfrm>
          <a:prstGeom prst="rect">
            <a:avLst/>
          </a:prstGeom>
          <a:noFill/>
          <a:ln/>
        </p:spPr>
        <p:txBody>
          <a:bodyPr wrap="square" lIns="0" tIns="0" rIns="0" bIns="0" rtlCol="0" anchor="t"/>
          <a:lstStyle/>
          <a:p>
            <a:pPr indent="0" marL="0">
              <a:buNone/>
            </a:pPr>
            <a:r>
              <a:rPr lang="en-US" sz="1100" b="1" dirty="0">
                <a:solidFill>
                  <a:schemeClr val="tx2"/>
                </a:solidFill>
              </a:rPr>
              <a:t>Sección 4</a:t>
            </a:r>
            <a:endParaRPr lang="en-US" sz="1100" dirty="0"/>
          </a:p>
        </p:txBody>
      </p:sp>
      <p:sp>
        <p:nvSpPr>
          <p:cNvPr id="26" name="Text 24"/>
          <p:cNvSpPr txBox="1"/>
          <p:nvPr/>
        </p:nvSpPr>
        <p:spPr>
          <a:xfrm>
            <a:off x="4736592" y="2999232"/>
            <a:ext cx="1097280" cy="777240"/>
          </a:xfrm>
          <a:prstGeom prst="rect">
            <a:avLst/>
          </a:prstGeom>
          <a:noFill/>
          <a:ln/>
        </p:spPr>
        <p:txBody>
          <a:bodyPr wrap="square" lIns="0" tIns="0" rIns="0" bIns="0" rtlCol="0" anchor="t"/>
          <a:lstStyle/>
          <a:p>
            <a:pPr indent="0" marL="0">
              <a:buNone/>
            </a:pPr>
            <a:r>
              <a:rPr lang="en-US" sz="1400" b="1" dirty="0">
                <a:solidFill>
                  <a:schemeClr val="tx1"/>
                </a:solidFill>
              </a:rPr>
              <a:t>Preguntas pendientes</a:t>
            </a:r>
            <a:endParaRPr lang="en-US" sz="1400" dirty="0"/>
          </a:p>
        </p:txBody>
      </p:sp>
      <p:sp>
        <p:nvSpPr>
          <p:cNvPr id="27" name="Expositor 3"/>
          <p:cNvSpPr/>
          <p:nvPr/>
        </p:nvSpPr>
        <p:spPr>
          <a:xfrm>
            <a:off x="4736592" y="3959352"/>
            <a:ext cx="347472" cy="347472"/>
          </a:xfrm>
          <a:prstGeom prst="ellipse">
            <a:avLst/>
          </a:prstGeom>
          <a:solidFill>
            <a:srgbClr val="2A8C82"/>
          </a:solidFill>
          <a:ln w="12700">
            <a:solidFill>
              <a:srgbClr val="2A8C82"/>
            </a:solidFill>
            <a:prstDash val="solid"/>
          </a:ln>
        </p:spPr>
      </p:sp>
      <p:sp>
        <p:nvSpPr>
          <p:cNvPr id="28" name="Text 26"/>
          <p:cNvSpPr txBox="1"/>
          <p:nvPr/>
        </p:nvSpPr>
        <p:spPr>
          <a:xfrm>
            <a:off x="4736592" y="3959352"/>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29" name="Expositor 4"/>
          <p:cNvSpPr/>
          <p:nvPr/>
        </p:nvSpPr>
        <p:spPr>
          <a:xfrm>
            <a:off x="5148072" y="3959352"/>
            <a:ext cx="347472" cy="347472"/>
          </a:xfrm>
          <a:prstGeom prst="ellipse">
            <a:avLst/>
          </a:prstGeom>
          <a:solidFill>
            <a:srgbClr val="D2553F"/>
          </a:solidFill>
          <a:ln w="12700">
            <a:solidFill>
              <a:srgbClr val="D2553F"/>
            </a:solidFill>
            <a:prstDash val="solid"/>
          </a:ln>
        </p:spPr>
      </p:sp>
      <p:sp>
        <p:nvSpPr>
          <p:cNvPr id="30" name="Text 28"/>
          <p:cNvSpPr txBox="1"/>
          <p:nvPr/>
        </p:nvSpPr>
        <p:spPr>
          <a:xfrm>
            <a:off x="5148072" y="3959352"/>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31" name="Sección 5"/>
          <p:cNvSpPr/>
          <p:nvPr/>
        </p:nvSpPr>
        <p:spPr>
          <a:xfrm>
            <a:off x="6016752" y="2487168"/>
            <a:ext cx="1280160" cy="1371600"/>
          </a:xfrm>
          <a:prstGeom prst="roundRect">
            <a:avLst>
              <a:gd name="adj" fmla="val 5714"/>
            </a:avLst>
          </a:prstGeom>
          <a:solidFill>
            <a:srgbClr val="F1F2F6"/>
          </a:solidFill>
          <a:ln w="12700">
            <a:solidFill>
              <a:srgbClr val="F1F2F6"/>
            </a:solidFill>
            <a:prstDash val="solid"/>
          </a:ln>
        </p:spPr>
      </p:sp>
      <p:sp>
        <p:nvSpPr>
          <p:cNvPr id="32" name="Text 30"/>
          <p:cNvSpPr txBox="1"/>
          <p:nvPr/>
        </p:nvSpPr>
        <p:spPr>
          <a:xfrm>
            <a:off x="6126480" y="2560320"/>
            <a:ext cx="1097280" cy="411480"/>
          </a:xfrm>
          <a:prstGeom prst="rect">
            <a:avLst/>
          </a:prstGeom>
          <a:noFill/>
          <a:ln/>
        </p:spPr>
        <p:txBody>
          <a:bodyPr wrap="square" lIns="0" tIns="0" rIns="0" bIns="0" rtlCol="0" anchor="t"/>
          <a:lstStyle/>
          <a:p>
            <a:pPr indent="0" marL="0">
              <a:buNone/>
            </a:pPr>
            <a:r>
              <a:rPr lang="en-US" sz="1100" b="1" dirty="0">
                <a:solidFill>
                  <a:schemeClr val="tx2"/>
                </a:solidFill>
              </a:rPr>
              <a:t>Sección 5</a:t>
            </a:r>
            <a:endParaRPr lang="en-US" sz="1100" dirty="0"/>
          </a:p>
        </p:txBody>
      </p:sp>
      <p:sp>
        <p:nvSpPr>
          <p:cNvPr id="33" name="Text 31"/>
          <p:cNvSpPr txBox="1"/>
          <p:nvPr/>
        </p:nvSpPr>
        <p:spPr>
          <a:xfrm>
            <a:off x="6126480" y="2999232"/>
            <a:ext cx="1097280" cy="777240"/>
          </a:xfrm>
          <a:prstGeom prst="rect">
            <a:avLst/>
          </a:prstGeom>
          <a:noFill/>
          <a:ln/>
        </p:spPr>
        <p:txBody>
          <a:bodyPr wrap="square" lIns="0" tIns="0" rIns="0" bIns="0" rtlCol="0" anchor="t"/>
          <a:lstStyle/>
          <a:p>
            <a:pPr indent="0" marL="0">
              <a:buNone/>
            </a:pPr>
            <a:r>
              <a:rPr lang="en-US" sz="1400" b="1" dirty="0">
                <a:solidFill>
                  <a:schemeClr val="tx1"/>
                </a:solidFill>
              </a:rPr>
              <a:t>Conclusión</a:t>
            </a:r>
            <a:endParaRPr lang="en-US" sz="1400" dirty="0"/>
          </a:p>
        </p:txBody>
      </p:sp>
      <p:sp>
        <p:nvSpPr>
          <p:cNvPr id="34" name="Expositor 5"/>
          <p:cNvSpPr/>
          <p:nvPr/>
        </p:nvSpPr>
        <p:spPr>
          <a:xfrm>
            <a:off x="6126480" y="3959352"/>
            <a:ext cx="347472" cy="347472"/>
          </a:xfrm>
          <a:prstGeom prst="ellipse">
            <a:avLst/>
          </a:prstGeom>
          <a:solidFill>
            <a:srgbClr val="D2553F"/>
          </a:solidFill>
          <a:ln w="12700">
            <a:solidFill>
              <a:srgbClr val="D2553F"/>
            </a:solidFill>
            <a:prstDash val="solid"/>
          </a:ln>
        </p:spPr>
      </p:sp>
      <p:sp>
        <p:nvSpPr>
          <p:cNvPr id="35" name="Text 33"/>
          <p:cNvSpPr txBox="1"/>
          <p:nvPr/>
        </p:nvSpPr>
        <p:spPr>
          <a:xfrm>
            <a:off x="6126480" y="3959352"/>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36" name="34 comentarios + respuesta"/>
          <p:cNvSpPr/>
          <p:nvPr/>
        </p:nvSpPr>
        <p:spPr>
          <a:xfrm>
            <a:off x="7406640" y="2487168"/>
            <a:ext cx="1280160" cy="1371600"/>
          </a:xfrm>
          <a:prstGeom prst="roundRect">
            <a:avLst>
              <a:gd name="adj" fmla="val 5714"/>
            </a:avLst>
          </a:prstGeom>
          <a:solidFill>
            <a:srgbClr val="F1F2F6"/>
          </a:solidFill>
          <a:ln w="12700">
            <a:solidFill>
              <a:srgbClr val="F1F2F6"/>
            </a:solidFill>
            <a:prstDash val="solid"/>
          </a:ln>
        </p:spPr>
      </p:sp>
      <p:sp>
        <p:nvSpPr>
          <p:cNvPr id="37" name="Text 35"/>
          <p:cNvSpPr txBox="1"/>
          <p:nvPr/>
        </p:nvSpPr>
        <p:spPr>
          <a:xfrm>
            <a:off x="7516368" y="2560320"/>
            <a:ext cx="1097280" cy="411480"/>
          </a:xfrm>
          <a:prstGeom prst="rect">
            <a:avLst/>
          </a:prstGeom>
          <a:noFill/>
          <a:ln/>
        </p:spPr>
        <p:txBody>
          <a:bodyPr wrap="square" lIns="0" tIns="0" rIns="0" bIns="0" rtlCol="0" anchor="t"/>
          <a:lstStyle/>
          <a:p>
            <a:pPr indent="0" marL="0">
              <a:buNone/>
            </a:pPr>
            <a:r>
              <a:rPr lang="en-US" sz="1100" b="1" dirty="0">
                <a:solidFill>
                  <a:schemeClr val="tx2"/>
                </a:solidFill>
              </a:rPr>
              <a:t>34 comentarios + respuesta</a:t>
            </a:r>
            <a:endParaRPr lang="en-US" sz="1100" dirty="0"/>
          </a:p>
        </p:txBody>
      </p:sp>
      <p:sp>
        <p:nvSpPr>
          <p:cNvPr id="38" name="Text 36"/>
          <p:cNvSpPr txBox="1"/>
          <p:nvPr/>
        </p:nvSpPr>
        <p:spPr>
          <a:xfrm>
            <a:off x="7516368" y="2999232"/>
            <a:ext cx="1097280" cy="777240"/>
          </a:xfrm>
          <a:prstGeom prst="rect">
            <a:avLst/>
          </a:prstGeom>
          <a:noFill/>
          <a:ln/>
        </p:spPr>
        <p:txBody>
          <a:bodyPr wrap="square" lIns="0" tIns="0" rIns="0" bIns="0" rtlCol="0" anchor="t"/>
          <a:lstStyle/>
          <a:p>
            <a:pPr indent="0" marL="0">
              <a:buNone/>
            </a:pPr>
            <a:r>
              <a:rPr lang="en-US" sz="1400" b="1" dirty="0">
                <a:solidFill>
                  <a:schemeClr val="tx1"/>
                </a:solidFill>
              </a:rPr>
              <a:t>La discusión</a:t>
            </a:r>
            <a:endParaRPr lang="en-US" sz="1400" dirty="0"/>
          </a:p>
        </p:txBody>
      </p:sp>
      <p:sp>
        <p:nvSpPr>
          <p:cNvPr id="39" name="Expositor 5"/>
          <p:cNvSpPr/>
          <p:nvPr/>
        </p:nvSpPr>
        <p:spPr>
          <a:xfrm>
            <a:off x="7516368" y="3959352"/>
            <a:ext cx="347472" cy="347472"/>
          </a:xfrm>
          <a:prstGeom prst="ellipse">
            <a:avLst/>
          </a:prstGeom>
          <a:solidFill>
            <a:srgbClr val="D2553F"/>
          </a:solidFill>
          <a:ln w="12700">
            <a:solidFill>
              <a:srgbClr val="D2553F"/>
            </a:solidFill>
            <a:prstDash val="solid"/>
          </a:ln>
        </p:spPr>
      </p:sp>
      <p:sp>
        <p:nvSpPr>
          <p:cNvPr id="40" name="Text 38"/>
          <p:cNvSpPr txBox="1"/>
          <p:nvPr/>
        </p:nvSpPr>
        <p:spPr>
          <a:xfrm>
            <a:off x="7516368" y="3959352"/>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41" name="Text 0"/>
          <p:cNvSpPr/>
          <p:nvPr>
            <p:ph idx="101" type="body" hasCustomPrompt="1"/>
          </p:nvPr>
        </p:nvSpPr>
        <p:spPr>
          <a:xfrm>
            <a:off x="457200" y="4681728"/>
            <a:ext cx="7863840" cy="347472"/>
          </a:xfrm>
          <a:prstGeom prst="rect">
            <a:avLst/>
          </a:prstGeom>
          <a:noFill/>
          <a:ln/>
        </p:spPr>
        <p:txBody>
          <a:bodyPr wrap="square" lIns="0" tIns="0" rIns="0" bIns="0" rtlCol="0" anchor="ctr"/>
          <a:lstStyle/>
          <a:p>
            <a:pPr indent="0" marL="0">
              <a:buNone/>
            </a:pPr>
            <a:r>
              <a:rPr lang="en-US" sz="1000" i="1" dirty="0">
                <a:solidFill>
                  <a:schemeClr val="tx2"/>
                </a:solidFill>
              </a:rPr>
              <a:t>De Neys (2023a, pp. 1-2; 2023b, p. 66)</a:t>
            </a:r>
            <a:endParaRPr lang="en-US" sz="1000" dirty="0"/>
          </a:p>
        </p:txBody>
      </p:sp>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Etiqueta de rol"/>
          <p:cNvSpPr/>
          <p:nvPr/>
        </p:nvSpPr>
        <p:spPr>
          <a:xfrm>
            <a:off x="457200" y="201168"/>
            <a:ext cx="1865376" cy="274320"/>
          </a:xfrm>
          <a:prstGeom prst="roundRect">
            <a:avLst>
              <a:gd name="adj" fmla="val 50000"/>
            </a:avLst>
          </a:prstGeom>
          <a:solidFill>
            <a:srgbClr val="E9A23B"/>
          </a:solidFill>
          <a:ln w="12700">
            <a:solidFill>
              <a:srgbClr val="E9A23B"/>
            </a:solidFill>
            <a:prstDash val="solid"/>
          </a:ln>
        </p:spPr>
      </p:sp>
      <p:sp>
        <p:nvSpPr>
          <p:cNvPr id="3" name="Texto de etiqueta"/>
          <p:cNvSpPr txBox="1"/>
          <p:nvPr/>
        </p:nvSpPr>
        <p:spPr>
          <a:xfrm>
            <a:off x="457200" y="201168"/>
            <a:ext cx="1865376" cy="274320"/>
          </a:xfrm>
          <a:prstGeom prst="rect">
            <a:avLst/>
          </a:prstGeom>
          <a:noFill/>
          <a:ln/>
        </p:spPr>
        <p:txBody>
          <a:bodyPr wrap="square" lIns="0" tIns="0" rIns="0" bIns="0" rtlCol="0" anchor="ctr"/>
          <a:lstStyle/>
          <a:p>
            <a:pPr algn="ctr" indent="0" marL="0">
              <a:buNone/>
            </a:pPr>
            <a:r>
              <a:rPr lang="en-US" sz="1100" b="1" spc="150" kern="0" dirty="0">
                <a:solidFill>
                  <a:schemeClr val="bg1"/>
                </a:solidFill>
              </a:rPr>
              <a:t>EL EXPERIMENTO</a:t>
            </a:r>
            <a:endParaRPr lang="en-US" sz="1100" dirty="0"/>
          </a:p>
        </p:txBody>
      </p:sp>
      <p:sp>
        <p:nvSpPr>
          <p:cNvPr id="4" name="Marca del recorrido"/>
          <p:cNvSpPr txBox="1"/>
          <p:nvPr/>
        </p:nvSpPr>
        <p:spPr>
          <a:xfrm>
            <a:off x="4114800" y="201168"/>
            <a:ext cx="4572000" cy="274320"/>
          </a:xfrm>
          <a:prstGeom prst="rect">
            <a:avLst/>
          </a:prstGeom>
          <a:noFill/>
          <a:ln/>
        </p:spPr>
        <p:txBody>
          <a:bodyPr wrap="square" lIns="0" tIns="0" rIns="0" bIns="0" rtlCol="0" anchor="ctr"/>
          <a:lstStyle/>
          <a:p>
            <a:pPr algn="r" indent="0" marL="0">
              <a:buNone/>
            </a:pPr>
            <a:r>
              <a:rPr lang="en-US" sz="1000" b="1" spc="150" kern="0" dirty="0">
                <a:solidFill>
                  <a:schemeClr val="tx2"/>
                </a:solidFill>
              </a:rPr>
              <a:t>ARTÍCULO · SECCIÓN 1</a:t>
            </a:r>
            <a:endParaRPr lang="en-US" sz="1000" dirty="0"/>
          </a:p>
        </p:txBody>
      </p:sp>
      <p:sp>
        <p:nvSpPr>
          <p:cNvPr id="5" name="Text 0"/>
          <p:cNvSpPr/>
          <p:nvPr>
            <p:ph idx="100" type="title" hasCustomPrompt="1"/>
          </p:nvPr>
        </p:nvSpPr>
        <p:spPr>
          <a:xfrm>
            <a:off x="457200" y="566928"/>
            <a:ext cx="8229600" cy="640080"/>
          </a:xfrm>
          <a:prstGeom prst="rect">
            <a:avLst/>
          </a:prstGeom>
          <a:noFill/>
          <a:ln/>
        </p:spPr>
        <p:txBody>
          <a:bodyPr wrap="square" lIns="0" tIns="0" rIns="0" bIns="0" rtlCol="0" anchor="t"/>
          <a:lstStyle/>
          <a:p>
            <a:pPr algn="l" indent="0" marL="0">
              <a:buNone/>
            </a:pPr>
            <a:r>
              <a:rPr lang="en-US" sz="2800" b="1" dirty="0">
                <a:solidFill>
                  <a:schemeClr val="tx1"/>
                </a:solidFill>
              </a:rPr>
              <a:t>Método: participantes, instrumentos y variables</a:t>
            </a:r>
            <a:endParaRPr lang="en-US" sz="2800" dirty="0"/>
          </a:p>
        </p:txBody>
      </p:sp>
      <p:sp>
        <p:nvSpPr>
          <p:cNvPr id="6" name="Tipo"/>
          <p:cNvSpPr/>
          <p:nvPr/>
        </p:nvSpPr>
        <p:spPr>
          <a:xfrm>
            <a:off x="457200" y="1280160"/>
            <a:ext cx="2651760" cy="658368"/>
          </a:xfrm>
          <a:prstGeom prst="roundRect">
            <a:avLst>
              <a:gd name="adj" fmla="val 11111"/>
            </a:avLst>
          </a:prstGeom>
          <a:solidFill>
            <a:srgbClr val="F1F2F6"/>
          </a:solidFill>
          <a:ln w="12700">
            <a:solidFill>
              <a:srgbClr val="F1F2F6"/>
            </a:solidFill>
            <a:prstDash val="solid"/>
          </a:ln>
        </p:spPr>
      </p:sp>
      <p:sp>
        <p:nvSpPr>
          <p:cNvPr id="7" name="Text 5"/>
          <p:cNvSpPr txBox="1"/>
          <p:nvPr/>
        </p:nvSpPr>
        <p:spPr>
          <a:xfrm>
            <a:off x="594360" y="1280160"/>
            <a:ext cx="2423160" cy="658368"/>
          </a:xfrm>
          <a:prstGeom prst="rect">
            <a:avLst/>
          </a:prstGeom>
          <a:noFill/>
          <a:ln/>
        </p:spPr>
        <p:txBody>
          <a:bodyPr wrap="square" lIns="0" tIns="0" rIns="0" bIns="0" rtlCol="0" anchor="ctr"/>
          <a:lstStyle/>
          <a:p>
            <a:pPr indent="0" marL="0">
              <a:buNone/>
            </a:pPr>
            <a:r>
              <a:rPr lang="en-US" sz="1300" b="1" dirty="0">
                <a:solidFill>
                  <a:schemeClr val="tx1"/>
                </a:solidFill>
              </a:rPr>
              <a:t>Tipo: </a:t>
            </a:r>
            <a:pPr indent="0" marL="0">
              <a:buNone/>
            </a:pPr>
            <a:r>
              <a:rPr lang="en-US" sz="1300" dirty="0">
                <a:solidFill>
                  <a:schemeClr val="tx1"/>
                </a:solidFill>
              </a:rPr>
              <a:t>Revisión teórica, no estudio empírico</a:t>
            </a:r>
            <a:endParaRPr lang="en-US" sz="1300" dirty="0"/>
          </a:p>
        </p:txBody>
      </p:sp>
      <p:sp>
        <p:nvSpPr>
          <p:cNvPr id="8" name="Participantes"/>
          <p:cNvSpPr/>
          <p:nvPr/>
        </p:nvSpPr>
        <p:spPr>
          <a:xfrm>
            <a:off x="3246120" y="1280160"/>
            <a:ext cx="2651760" cy="658368"/>
          </a:xfrm>
          <a:prstGeom prst="roundRect">
            <a:avLst>
              <a:gd name="adj" fmla="val 11111"/>
            </a:avLst>
          </a:prstGeom>
          <a:solidFill>
            <a:srgbClr val="F1F2F6"/>
          </a:solidFill>
          <a:ln w="12700">
            <a:solidFill>
              <a:srgbClr val="F1F2F6"/>
            </a:solidFill>
            <a:prstDash val="solid"/>
          </a:ln>
        </p:spPr>
      </p:sp>
      <p:sp>
        <p:nvSpPr>
          <p:cNvPr id="9" name="Text 7"/>
          <p:cNvSpPr txBox="1"/>
          <p:nvPr/>
        </p:nvSpPr>
        <p:spPr>
          <a:xfrm>
            <a:off x="3383280" y="1280160"/>
            <a:ext cx="2423160" cy="658368"/>
          </a:xfrm>
          <a:prstGeom prst="rect">
            <a:avLst/>
          </a:prstGeom>
          <a:noFill/>
          <a:ln/>
        </p:spPr>
        <p:txBody>
          <a:bodyPr wrap="square" lIns="0" tIns="0" rIns="0" bIns="0" rtlCol="0" anchor="ctr"/>
          <a:lstStyle/>
          <a:p>
            <a:pPr indent="0" marL="0">
              <a:buNone/>
            </a:pPr>
            <a:r>
              <a:rPr lang="en-US" sz="1300" b="1" dirty="0">
                <a:solidFill>
                  <a:schemeClr val="tx1"/>
                </a:solidFill>
              </a:rPr>
              <a:t>Participantes: </a:t>
            </a:r>
            <a:pPr indent="0" marL="0">
              <a:buNone/>
            </a:pPr>
            <a:r>
              <a:rPr lang="en-US" sz="1300" dirty="0">
                <a:solidFill>
                  <a:schemeClr val="tx1"/>
                </a:solidFill>
              </a:rPr>
              <a:t>Sin participantes propios: estudios con adultos</a:t>
            </a:r>
            <a:endParaRPr lang="en-US" sz="1300" dirty="0"/>
          </a:p>
        </p:txBody>
      </p:sp>
      <p:sp>
        <p:nvSpPr>
          <p:cNvPr id="10" name="Campos"/>
          <p:cNvSpPr/>
          <p:nvPr/>
        </p:nvSpPr>
        <p:spPr>
          <a:xfrm>
            <a:off x="6035040" y="1280160"/>
            <a:ext cx="2651760" cy="658368"/>
          </a:xfrm>
          <a:prstGeom prst="roundRect">
            <a:avLst>
              <a:gd name="adj" fmla="val 11111"/>
            </a:avLst>
          </a:prstGeom>
          <a:solidFill>
            <a:srgbClr val="F1F2F6"/>
          </a:solidFill>
          <a:ln w="12700">
            <a:solidFill>
              <a:srgbClr val="F1F2F6"/>
            </a:solidFill>
            <a:prstDash val="solid"/>
          </a:ln>
        </p:spPr>
      </p:sp>
      <p:sp>
        <p:nvSpPr>
          <p:cNvPr id="11" name="Text 9"/>
          <p:cNvSpPr txBox="1"/>
          <p:nvPr/>
        </p:nvSpPr>
        <p:spPr>
          <a:xfrm>
            <a:off x="6172200" y="1280160"/>
            <a:ext cx="2423160" cy="658368"/>
          </a:xfrm>
          <a:prstGeom prst="rect">
            <a:avLst/>
          </a:prstGeom>
          <a:noFill/>
          <a:ln/>
        </p:spPr>
        <p:txBody>
          <a:bodyPr wrap="square" lIns="0" tIns="0" rIns="0" bIns="0" rtlCol="0" anchor="ctr"/>
          <a:lstStyle/>
          <a:p>
            <a:pPr indent="0" marL="0">
              <a:buNone/>
            </a:pPr>
            <a:r>
              <a:rPr lang="en-US" sz="1300" b="1" dirty="0">
                <a:solidFill>
                  <a:schemeClr val="tx1"/>
                </a:solidFill>
              </a:rPr>
              <a:t>Campos: </a:t>
            </a:r>
            <a:pPr indent="0" marL="0">
              <a:buNone/>
            </a:pPr>
            <a:r>
              <a:rPr lang="en-US" sz="1300" dirty="0">
                <a:solidFill>
                  <a:schemeClr val="tx1"/>
                </a:solidFill>
              </a:rPr>
              <a:t>Razonamiento lógico · moral · cooperación</a:t>
            </a:r>
            <a:endParaRPr lang="en-US" sz="1300" dirty="0"/>
          </a:p>
        </p:txBody>
      </p:sp>
      <p:sp>
        <p:nvSpPr>
          <p:cNvPr id="12" name="Problema del bate y la pelota"/>
          <p:cNvSpPr/>
          <p:nvPr/>
        </p:nvSpPr>
        <p:spPr>
          <a:xfrm>
            <a:off x="457200" y="2075688"/>
            <a:ext cx="8229600" cy="749808"/>
          </a:xfrm>
          <a:prstGeom prst="roundRect">
            <a:avLst>
              <a:gd name="adj" fmla="val 9756"/>
            </a:avLst>
          </a:prstGeom>
          <a:solidFill>
            <a:srgbClr val="F1F2F6"/>
          </a:solidFill>
          <a:ln w="12700">
            <a:solidFill>
              <a:srgbClr val="F1F2F6"/>
            </a:solidFill>
            <a:prstDash val="solid"/>
          </a:ln>
        </p:spPr>
      </p:sp>
      <p:sp>
        <p:nvSpPr>
          <p:cNvPr id="13" name="Text 11"/>
          <p:cNvSpPr txBox="1"/>
          <p:nvPr/>
        </p:nvSpPr>
        <p:spPr>
          <a:xfrm>
            <a:off x="685800" y="2075688"/>
            <a:ext cx="7772400" cy="749808"/>
          </a:xfrm>
          <a:prstGeom prst="rect">
            <a:avLst/>
          </a:prstGeom>
          <a:noFill/>
          <a:ln/>
        </p:spPr>
        <p:txBody>
          <a:bodyPr wrap="square" lIns="0" tIns="0" rIns="0" bIns="0" rtlCol="0" anchor="ctr"/>
          <a:lstStyle/>
          <a:p>
            <a:pPr indent="0" marL="0">
              <a:spcAft>
                <a:spcPts val="300"/>
              </a:spcAft>
              <a:buNone/>
            </a:pPr>
            <a:r>
              <a:rPr lang="en-US" sz="1400" i="1" dirty="0">
                <a:solidFill>
                  <a:schemeClr val="tx1"/>
                </a:solidFill>
              </a:rPr>
              <a:t>«Un bate y una pelota cuestan 1,10 dólares. El bate cuesta 1 dólar más. ¿Cuánto cuesta la pelota?»</a:t>
            </a:r>
            <a:endParaRPr lang="en-US" sz="1400" dirty="0"/>
          </a:p>
          <a:p>
            <a:pPr indent="0" marL="0">
              <a:spcAft>
                <a:spcPts val="300"/>
              </a:spcAft>
              <a:buNone/>
            </a:pPr>
            <a:r>
              <a:rPr lang="en-US" sz="1400" b="1" dirty="0">
                <a:solidFill>
                  <a:schemeClr val="accent3"/>
                </a:solidFill>
              </a:rPr>
              <a:t>Intuitiva: 10 centavos   ·   Correcta: 5 centavos</a:t>
            </a:r>
            <a:endParaRPr lang="en-US" sz="1400" dirty="0"/>
          </a:p>
        </p:txBody>
      </p:sp>
      <p:sp>
        <p:nvSpPr>
          <p:cNvPr id="14" name="Paso 1"/>
          <p:cNvSpPr/>
          <p:nvPr/>
        </p:nvSpPr>
        <p:spPr>
          <a:xfrm>
            <a:off x="457200" y="2990088"/>
            <a:ext cx="566928" cy="566928"/>
          </a:xfrm>
          <a:prstGeom prst="ellipse">
            <a:avLst/>
          </a:prstGeom>
          <a:solidFill>
            <a:srgbClr val="E9A23B"/>
          </a:solidFill>
          <a:ln w="12700">
            <a:solidFill>
              <a:srgbClr val="E9A23B"/>
            </a:solidFill>
            <a:prstDash val="solid"/>
          </a:ln>
        </p:spPr>
      </p:sp>
      <p:sp>
        <p:nvSpPr>
          <p:cNvPr id="15" name="Text 13"/>
          <p:cNvSpPr txBox="1"/>
          <p:nvPr/>
        </p:nvSpPr>
        <p:spPr>
          <a:xfrm>
            <a:off x="457200" y="2990088"/>
            <a:ext cx="566928" cy="566928"/>
          </a:xfrm>
          <a:prstGeom prst="rect">
            <a:avLst/>
          </a:prstGeom>
          <a:noFill/>
          <a:ln/>
        </p:spPr>
        <p:txBody>
          <a:bodyPr wrap="square" lIns="0" tIns="0" rIns="0" bIns="0" rtlCol="0" anchor="ctr"/>
          <a:lstStyle/>
          <a:p>
            <a:pPr algn="ctr" indent="0" marL="0">
              <a:buNone/>
            </a:pPr>
            <a:endParaRPr lang="en-US" sz="1000" dirty="0"/>
          </a:p>
        </p:txBody>
      </p:sp>
      <p:pic>
        <p:nvPicPr>
          <p:cNvPr id="16" name="Image 0" descr="Respuesta 1">    </p:cNvPr>
          <p:cNvPicPr>
            <a:picLocks noChangeAspect="1"/>
          </p:cNvPicPr>
          <p:nvPr/>
        </p:nvPicPr>
        <p:blipFill>
          <a:blip r:embed="rId1"/>
          <a:stretch>
            <a:fillRect/>
          </a:stretch>
        </p:blipFill>
        <p:spPr>
          <a:xfrm>
            <a:off x="603504" y="3136392"/>
            <a:ext cx="274320" cy="274320"/>
          </a:xfrm>
          <a:prstGeom prst="rect">
            <a:avLst/>
          </a:prstGeom>
        </p:spPr>
      </p:pic>
      <p:sp>
        <p:nvSpPr>
          <p:cNvPr id="17" name="Text 14"/>
          <p:cNvSpPr txBox="1"/>
          <p:nvPr/>
        </p:nvSpPr>
        <p:spPr>
          <a:xfrm>
            <a:off x="1143000" y="2990088"/>
            <a:ext cx="1783080" cy="566928"/>
          </a:xfrm>
          <a:prstGeom prst="rect">
            <a:avLst/>
          </a:prstGeom>
          <a:noFill/>
          <a:ln/>
        </p:spPr>
        <p:txBody>
          <a:bodyPr wrap="square" lIns="0" tIns="0" rIns="0" bIns="0" rtlCol="0" anchor="ctr"/>
          <a:lstStyle/>
          <a:p>
            <a:pPr indent="0" marL="0">
              <a:buNone/>
            </a:pPr>
            <a:r>
              <a:rPr lang="en-US" sz="1600" b="1" dirty="0">
                <a:solidFill>
                  <a:schemeClr val="tx1"/>
                </a:solidFill>
              </a:rPr>
              <a:t>Respuesta 1</a:t>
            </a:r>
            <a:endParaRPr lang="en-US" sz="1600" dirty="0"/>
          </a:p>
        </p:txBody>
      </p:sp>
      <p:sp>
        <p:nvSpPr>
          <p:cNvPr id="18" name="Text 15"/>
          <p:cNvSpPr txBox="1"/>
          <p:nvPr/>
        </p:nvSpPr>
        <p:spPr>
          <a:xfrm>
            <a:off x="457200" y="3639312"/>
            <a:ext cx="2560320" cy="868680"/>
          </a:xfrm>
          <a:prstGeom prst="rect">
            <a:avLst/>
          </a:prstGeom>
          <a:noFill/>
          <a:ln/>
        </p:spPr>
        <p:txBody>
          <a:bodyPr wrap="square" lIns="0" tIns="0" rIns="0" bIns="0" rtlCol="0" anchor="t"/>
          <a:lstStyle/>
          <a:p>
            <a:pPr indent="0" marL="0">
              <a:buNone/>
            </a:pPr>
            <a:r>
              <a:rPr lang="en-US" sz="1300" dirty="0">
                <a:solidFill>
                  <a:schemeClr val="tx1"/>
                </a:solidFill>
              </a:rPr>
              <a:t>Con presión de tiempo y tarea de memoria: no se puede deliberar</a:t>
            </a:r>
            <a:endParaRPr lang="en-US" sz="1300" dirty="0"/>
          </a:p>
        </p:txBody>
      </p:sp>
      <p:sp>
        <p:nvSpPr>
          <p:cNvPr id="19" name="Text 16"/>
          <p:cNvSpPr txBox="1"/>
          <p:nvPr/>
        </p:nvSpPr>
        <p:spPr>
          <a:xfrm>
            <a:off x="2926080" y="2990088"/>
            <a:ext cx="320040" cy="566928"/>
          </a:xfrm>
          <a:prstGeom prst="rect">
            <a:avLst/>
          </a:prstGeom>
          <a:noFill/>
          <a:ln/>
        </p:spPr>
        <p:txBody>
          <a:bodyPr wrap="square" lIns="0" tIns="0" rIns="0" bIns="0" rtlCol="0" anchor="ctr"/>
          <a:lstStyle/>
          <a:p>
            <a:pPr algn="ctr" indent="0" marL="0">
              <a:buNone/>
            </a:pPr>
            <a:r>
              <a:rPr lang="en-US" sz="2000" dirty="0">
                <a:solidFill>
                  <a:schemeClr val="tx2"/>
                </a:solidFill>
              </a:rPr>
              <a:t>→</a:t>
            </a:r>
            <a:endParaRPr lang="en-US" sz="2000" dirty="0"/>
          </a:p>
        </p:txBody>
      </p:sp>
      <p:sp>
        <p:nvSpPr>
          <p:cNvPr id="20" name="Paso 2"/>
          <p:cNvSpPr/>
          <p:nvPr/>
        </p:nvSpPr>
        <p:spPr>
          <a:xfrm>
            <a:off x="3291840" y="2990088"/>
            <a:ext cx="566928" cy="566928"/>
          </a:xfrm>
          <a:prstGeom prst="ellipse">
            <a:avLst/>
          </a:prstGeom>
          <a:solidFill>
            <a:srgbClr val="2A8C82"/>
          </a:solidFill>
          <a:ln w="12700">
            <a:solidFill>
              <a:srgbClr val="2A8C82"/>
            </a:solidFill>
            <a:prstDash val="solid"/>
          </a:ln>
        </p:spPr>
      </p:sp>
      <p:sp>
        <p:nvSpPr>
          <p:cNvPr id="21" name="Text 18"/>
          <p:cNvSpPr txBox="1"/>
          <p:nvPr/>
        </p:nvSpPr>
        <p:spPr>
          <a:xfrm>
            <a:off x="3291840" y="2990088"/>
            <a:ext cx="566928" cy="566928"/>
          </a:xfrm>
          <a:prstGeom prst="rect">
            <a:avLst/>
          </a:prstGeom>
          <a:noFill/>
          <a:ln/>
        </p:spPr>
        <p:txBody>
          <a:bodyPr wrap="square" lIns="0" tIns="0" rIns="0" bIns="0" rtlCol="0" anchor="ctr"/>
          <a:lstStyle/>
          <a:p>
            <a:pPr algn="ctr" indent="0" marL="0">
              <a:buNone/>
            </a:pPr>
            <a:endParaRPr lang="en-US" sz="1000" dirty="0"/>
          </a:p>
        </p:txBody>
      </p:sp>
      <p:pic>
        <p:nvPicPr>
          <p:cNvPr id="22" name="Image 1" descr="Respuesta 2">    </p:cNvPr>
          <p:cNvPicPr>
            <a:picLocks noChangeAspect="1"/>
          </p:cNvPicPr>
          <p:nvPr/>
        </p:nvPicPr>
        <p:blipFill>
          <a:blip r:embed="rId2"/>
          <a:stretch>
            <a:fillRect/>
          </a:stretch>
        </p:blipFill>
        <p:spPr>
          <a:xfrm>
            <a:off x="3438144" y="3136392"/>
            <a:ext cx="274320" cy="274320"/>
          </a:xfrm>
          <a:prstGeom prst="rect">
            <a:avLst/>
          </a:prstGeom>
        </p:spPr>
      </p:pic>
      <p:sp>
        <p:nvSpPr>
          <p:cNvPr id="23" name="Text 19"/>
          <p:cNvSpPr txBox="1"/>
          <p:nvPr/>
        </p:nvSpPr>
        <p:spPr>
          <a:xfrm>
            <a:off x="3977640" y="2990088"/>
            <a:ext cx="1783080" cy="566928"/>
          </a:xfrm>
          <a:prstGeom prst="rect">
            <a:avLst/>
          </a:prstGeom>
          <a:noFill/>
          <a:ln/>
        </p:spPr>
        <p:txBody>
          <a:bodyPr wrap="square" lIns="0" tIns="0" rIns="0" bIns="0" rtlCol="0" anchor="ctr"/>
          <a:lstStyle/>
          <a:p>
            <a:pPr indent="0" marL="0">
              <a:buNone/>
            </a:pPr>
            <a:r>
              <a:rPr lang="en-US" sz="1600" b="1" dirty="0">
                <a:solidFill>
                  <a:schemeClr val="tx1"/>
                </a:solidFill>
              </a:rPr>
              <a:t>Respuesta 2</a:t>
            </a:r>
            <a:endParaRPr lang="en-US" sz="1600" dirty="0"/>
          </a:p>
        </p:txBody>
      </p:sp>
      <p:sp>
        <p:nvSpPr>
          <p:cNvPr id="24" name="Text 20"/>
          <p:cNvSpPr txBox="1"/>
          <p:nvPr/>
        </p:nvSpPr>
        <p:spPr>
          <a:xfrm>
            <a:off x="3291840" y="3639312"/>
            <a:ext cx="2560320" cy="868680"/>
          </a:xfrm>
          <a:prstGeom prst="rect">
            <a:avLst/>
          </a:prstGeom>
          <a:noFill/>
          <a:ln/>
        </p:spPr>
        <p:txBody>
          <a:bodyPr wrap="square" lIns="0" tIns="0" rIns="0" bIns="0" rtlCol="0" anchor="t"/>
          <a:lstStyle/>
          <a:p>
            <a:pPr indent="0" marL="0">
              <a:buNone/>
            </a:pPr>
            <a:r>
              <a:rPr lang="en-US" sz="1300" dirty="0">
                <a:solidFill>
                  <a:schemeClr val="tx1"/>
                </a:solidFill>
              </a:rPr>
              <a:t>Sin límite de tiempo: se puede pensar todo lo necesario</a:t>
            </a:r>
            <a:endParaRPr lang="en-US" sz="1300" dirty="0"/>
          </a:p>
        </p:txBody>
      </p:sp>
      <p:sp>
        <p:nvSpPr>
          <p:cNvPr id="25" name="Text 21"/>
          <p:cNvSpPr txBox="1"/>
          <p:nvPr/>
        </p:nvSpPr>
        <p:spPr>
          <a:xfrm>
            <a:off x="5760720" y="2990088"/>
            <a:ext cx="320040" cy="566928"/>
          </a:xfrm>
          <a:prstGeom prst="rect">
            <a:avLst/>
          </a:prstGeom>
          <a:noFill/>
          <a:ln/>
        </p:spPr>
        <p:txBody>
          <a:bodyPr wrap="square" lIns="0" tIns="0" rIns="0" bIns="0" rtlCol="0" anchor="ctr"/>
          <a:lstStyle/>
          <a:p>
            <a:pPr algn="ctr" indent="0" marL="0">
              <a:buNone/>
            </a:pPr>
            <a:r>
              <a:rPr lang="en-US" sz="2000" dirty="0">
                <a:solidFill>
                  <a:schemeClr val="tx2"/>
                </a:solidFill>
              </a:rPr>
              <a:t>→</a:t>
            </a:r>
            <a:endParaRPr lang="en-US" sz="2000" dirty="0"/>
          </a:p>
        </p:txBody>
      </p:sp>
      <p:sp>
        <p:nvSpPr>
          <p:cNvPr id="26" name="Paso 3"/>
          <p:cNvSpPr/>
          <p:nvPr/>
        </p:nvSpPr>
        <p:spPr>
          <a:xfrm>
            <a:off x="6126480" y="2990088"/>
            <a:ext cx="566928" cy="566928"/>
          </a:xfrm>
          <a:prstGeom prst="ellipse">
            <a:avLst/>
          </a:prstGeom>
          <a:solidFill>
            <a:srgbClr val="262A3F"/>
          </a:solidFill>
          <a:ln w="12700">
            <a:solidFill>
              <a:srgbClr val="262A3F"/>
            </a:solidFill>
            <a:prstDash val="solid"/>
          </a:ln>
        </p:spPr>
      </p:sp>
      <p:sp>
        <p:nvSpPr>
          <p:cNvPr id="27" name="Text 23"/>
          <p:cNvSpPr txBox="1"/>
          <p:nvPr/>
        </p:nvSpPr>
        <p:spPr>
          <a:xfrm>
            <a:off x="6126480" y="2990088"/>
            <a:ext cx="566928" cy="566928"/>
          </a:xfrm>
          <a:prstGeom prst="rect">
            <a:avLst/>
          </a:prstGeom>
          <a:noFill/>
          <a:ln/>
        </p:spPr>
        <p:txBody>
          <a:bodyPr wrap="square" lIns="0" tIns="0" rIns="0" bIns="0" rtlCol="0" anchor="ctr"/>
          <a:lstStyle/>
          <a:p>
            <a:pPr algn="ctr" indent="0" marL="0">
              <a:buNone/>
            </a:pPr>
            <a:endParaRPr lang="en-US" sz="1000" dirty="0"/>
          </a:p>
        </p:txBody>
      </p:sp>
      <p:pic>
        <p:nvPicPr>
          <p:cNvPr id="28" name="Image 2" descr="Variables">    </p:cNvPr>
          <p:cNvPicPr>
            <a:picLocks noChangeAspect="1"/>
          </p:cNvPicPr>
          <p:nvPr/>
        </p:nvPicPr>
        <p:blipFill>
          <a:blip r:embed="rId3"/>
          <a:stretch>
            <a:fillRect/>
          </a:stretch>
        </p:blipFill>
        <p:spPr>
          <a:xfrm>
            <a:off x="6272784" y="3136392"/>
            <a:ext cx="274320" cy="274320"/>
          </a:xfrm>
          <a:prstGeom prst="rect">
            <a:avLst/>
          </a:prstGeom>
        </p:spPr>
      </p:pic>
      <p:sp>
        <p:nvSpPr>
          <p:cNvPr id="29" name="Text 24"/>
          <p:cNvSpPr txBox="1"/>
          <p:nvPr/>
        </p:nvSpPr>
        <p:spPr>
          <a:xfrm>
            <a:off x="6812280" y="2990088"/>
            <a:ext cx="1783080" cy="566928"/>
          </a:xfrm>
          <a:prstGeom prst="rect">
            <a:avLst/>
          </a:prstGeom>
          <a:noFill/>
          <a:ln/>
        </p:spPr>
        <p:txBody>
          <a:bodyPr wrap="square" lIns="0" tIns="0" rIns="0" bIns="0" rtlCol="0" anchor="ctr"/>
          <a:lstStyle/>
          <a:p>
            <a:pPr indent="0" marL="0">
              <a:buNone/>
            </a:pPr>
            <a:r>
              <a:rPr lang="en-US" sz="1600" b="1" dirty="0">
                <a:solidFill>
                  <a:schemeClr val="tx1"/>
                </a:solidFill>
              </a:rPr>
              <a:t>Variables</a:t>
            </a:r>
            <a:endParaRPr lang="en-US" sz="1600" dirty="0"/>
          </a:p>
        </p:txBody>
      </p:sp>
      <p:sp>
        <p:nvSpPr>
          <p:cNvPr id="30" name="Text 25"/>
          <p:cNvSpPr txBox="1"/>
          <p:nvPr/>
        </p:nvSpPr>
        <p:spPr>
          <a:xfrm>
            <a:off x="6126480" y="3639312"/>
            <a:ext cx="2560320" cy="868680"/>
          </a:xfrm>
          <a:prstGeom prst="rect">
            <a:avLst/>
          </a:prstGeom>
          <a:noFill/>
          <a:ln/>
        </p:spPr>
        <p:txBody>
          <a:bodyPr wrap="square" lIns="0" tIns="0" rIns="0" bIns="0" rtlCol="0" anchor="t"/>
          <a:lstStyle/>
          <a:p>
            <a:pPr indent="0" marL="0">
              <a:buNone/>
            </a:pPr>
            <a:r>
              <a:rPr lang="en-US" sz="1300" dirty="0">
                <a:solidFill>
                  <a:schemeClr val="tx1"/>
                </a:solidFill>
              </a:rPr>
              <a:t>Respuesta, tiempo y confianza, con y sin conflicto</a:t>
            </a:r>
            <a:endParaRPr lang="en-US" sz="1300" dirty="0"/>
          </a:p>
        </p:txBody>
      </p:sp>
      <p:sp>
        <p:nvSpPr>
          <p:cNvPr id="31" name="Text 0"/>
          <p:cNvSpPr/>
          <p:nvPr>
            <p:ph idx="101" type="body" hasCustomPrompt="1"/>
          </p:nvPr>
        </p:nvSpPr>
        <p:spPr>
          <a:xfrm>
            <a:off x="457200" y="4681728"/>
            <a:ext cx="7863840" cy="347472"/>
          </a:xfrm>
          <a:prstGeom prst="rect">
            <a:avLst/>
          </a:prstGeom>
          <a:noFill/>
          <a:ln/>
        </p:spPr>
        <p:txBody>
          <a:bodyPr wrap="square" lIns="0" tIns="0" rIns="0" bIns="0" rtlCol="0" anchor="ctr"/>
          <a:lstStyle/>
          <a:p>
            <a:pPr indent="0" marL="0">
              <a:buNone/>
            </a:pPr>
            <a:r>
              <a:rPr lang="en-US" sz="1000" i="1" dirty="0">
                <a:solidFill>
                  <a:schemeClr val="tx2"/>
                </a:solidFill>
              </a:rPr>
              <a:t>Paradigma de dos respuestas · De Neys (2023a, pp. 3-5)</a:t>
            </a:r>
            <a:endParaRPr lang="en-US" sz="1000" dirty="0"/>
          </a:p>
        </p:txBody>
      </p:sp>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Etiqueta de rol"/>
          <p:cNvSpPr/>
          <p:nvPr/>
        </p:nvSpPr>
        <p:spPr>
          <a:xfrm>
            <a:off x="457200" y="201168"/>
            <a:ext cx="1865376" cy="274320"/>
          </a:xfrm>
          <a:prstGeom prst="roundRect">
            <a:avLst>
              <a:gd name="adj" fmla="val 50000"/>
            </a:avLst>
          </a:prstGeom>
          <a:solidFill>
            <a:srgbClr val="E9A23B"/>
          </a:solidFill>
          <a:ln w="12700">
            <a:solidFill>
              <a:srgbClr val="E9A23B"/>
            </a:solidFill>
            <a:prstDash val="solid"/>
          </a:ln>
        </p:spPr>
      </p:sp>
      <p:sp>
        <p:nvSpPr>
          <p:cNvPr id="3" name="Texto de etiqueta"/>
          <p:cNvSpPr txBox="1"/>
          <p:nvPr/>
        </p:nvSpPr>
        <p:spPr>
          <a:xfrm>
            <a:off x="457200" y="201168"/>
            <a:ext cx="1865376" cy="274320"/>
          </a:xfrm>
          <a:prstGeom prst="rect">
            <a:avLst/>
          </a:prstGeom>
          <a:noFill/>
          <a:ln/>
        </p:spPr>
        <p:txBody>
          <a:bodyPr wrap="square" lIns="0" tIns="0" rIns="0" bIns="0" rtlCol="0" anchor="ctr"/>
          <a:lstStyle/>
          <a:p>
            <a:pPr algn="ctr" indent="0" marL="0">
              <a:buNone/>
            </a:pPr>
            <a:r>
              <a:rPr lang="en-US" sz="1100" b="1" spc="150" kern="0" dirty="0">
                <a:solidFill>
                  <a:schemeClr val="bg1"/>
                </a:solidFill>
              </a:rPr>
              <a:t>EL EXPERIMENTO</a:t>
            </a:r>
            <a:endParaRPr lang="en-US" sz="1100" dirty="0"/>
          </a:p>
        </p:txBody>
      </p:sp>
      <p:sp>
        <p:nvSpPr>
          <p:cNvPr id="4" name="Marca del recorrido"/>
          <p:cNvSpPr txBox="1"/>
          <p:nvPr/>
        </p:nvSpPr>
        <p:spPr>
          <a:xfrm>
            <a:off x="4114800" y="201168"/>
            <a:ext cx="4572000" cy="274320"/>
          </a:xfrm>
          <a:prstGeom prst="rect">
            <a:avLst/>
          </a:prstGeom>
          <a:noFill/>
          <a:ln/>
        </p:spPr>
        <p:txBody>
          <a:bodyPr wrap="square" lIns="0" tIns="0" rIns="0" bIns="0" rtlCol="0" anchor="ctr"/>
          <a:lstStyle/>
          <a:p>
            <a:pPr algn="r" indent="0" marL="0">
              <a:buNone/>
            </a:pPr>
            <a:r>
              <a:rPr lang="en-US" sz="1000" b="1" spc="150" kern="0" dirty="0">
                <a:solidFill>
                  <a:schemeClr val="tx2"/>
                </a:solidFill>
              </a:rPr>
              <a:t>ARTÍCULO · SECCIÓN 1</a:t>
            </a:r>
            <a:endParaRPr lang="en-US" sz="1000" dirty="0"/>
          </a:p>
        </p:txBody>
      </p:sp>
      <p:sp>
        <p:nvSpPr>
          <p:cNvPr id="5" name="Text 0"/>
          <p:cNvSpPr/>
          <p:nvPr>
            <p:ph idx="100" type="title" hasCustomPrompt="1"/>
          </p:nvPr>
        </p:nvSpPr>
        <p:spPr>
          <a:xfrm>
            <a:off x="457200" y="566928"/>
            <a:ext cx="8229600" cy="640080"/>
          </a:xfrm>
          <a:prstGeom prst="rect">
            <a:avLst/>
          </a:prstGeom>
          <a:noFill/>
          <a:ln/>
        </p:spPr>
        <p:txBody>
          <a:bodyPr wrap="square" lIns="0" tIns="0" rIns="0" bIns="0" rtlCol="0" anchor="t"/>
          <a:lstStyle/>
          <a:p>
            <a:pPr algn="l" indent="0" marL="0">
              <a:buNone/>
            </a:pPr>
            <a:r>
              <a:rPr lang="en-US" sz="2800" b="1" dirty="0">
                <a:solidFill>
                  <a:schemeClr val="tx1"/>
                </a:solidFill>
              </a:rPr>
              <a:t>La lógica no siempre llega tarde</a:t>
            </a:r>
            <a:endParaRPr lang="en-US" sz="2800" dirty="0"/>
          </a:p>
        </p:txBody>
      </p:sp>
      <p:graphicFrame>
        <p:nvGraphicFramePr>
          <p:cNvPr id="6" name="Gráfico 62 vs 52" descr=""/>
          <p:cNvGraphicFramePr/>
          <p:nvPr/>
        </p:nvGraphicFramePr>
        <p:xfrm>
          <a:off x="365760" y="1280160"/>
          <a:ext cx="3931920" cy="3246120"/>
        </p:xfrm>
        <a:graphic xmlns:a="http://schemas.openxmlformats.org/drawingml/2006/main">
          <a:graphicData uri="http://schemas.openxmlformats.org/drawingml/2006/chart">
            <c:chart xmlns:c="http://schemas.openxmlformats.org/drawingml/2006/chart" r:id="rId1"/>
          </a:graphicData>
        </a:graphic>
      </p:graphicFrame>
      <p:sp>
        <p:nvSpPr>
          <p:cNvPr id="7" name="Resultado 1"/>
          <p:cNvSpPr/>
          <p:nvPr/>
        </p:nvSpPr>
        <p:spPr>
          <a:xfrm>
            <a:off x="4572000" y="1325880"/>
            <a:ext cx="4114800" cy="749808"/>
          </a:xfrm>
          <a:prstGeom prst="roundRect">
            <a:avLst>
              <a:gd name="adj" fmla="val 9756"/>
            </a:avLst>
          </a:prstGeom>
          <a:solidFill>
            <a:srgbClr val="F1F2F6"/>
          </a:solidFill>
          <a:ln w="12700">
            <a:solidFill>
              <a:srgbClr val="F1F2F6"/>
            </a:solidFill>
            <a:prstDash val="solid"/>
          </a:ln>
        </p:spPr>
      </p:sp>
      <p:sp>
        <p:nvSpPr>
          <p:cNvPr id="8" name="Marca 1"/>
          <p:cNvSpPr/>
          <p:nvPr/>
        </p:nvSpPr>
        <p:spPr>
          <a:xfrm>
            <a:off x="4736592" y="1527048"/>
            <a:ext cx="347472" cy="347472"/>
          </a:xfrm>
          <a:prstGeom prst="ellipse">
            <a:avLst/>
          </a:prstGeom>
          <a:solidFill>
            <a:srgbClr val="262A3F"/>
          </a:solidFill>
          <a:ln w="12700">
            <a:solidFill>
              <a:srgbClr val="262A3F"/>
            </a:solidFill>
            <a:prstDash val="solid"/>
          </a:ln>
        </p:spPr>
      </p:sp>
      <p:sp>
        <p:nvSpPr>
          <p:cNvPr id="9" name="Text 6"/>
          <p:cNvSpPr txBox="1"/>
          <p:nvPr/>
        </p:nvSpPr>
        <p:spPr>
          <a:xfrm>
            <a:off x="4736592" y="1527048"/>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0" name="Text 7"/>
          <p:cNvSpPr txBox="1"/>
          <p:nvPr/>
        </p:nvSpPr>
        <p:spPr>
          <a:xfrm>
            <a:off x="5230368" y="1362456"/>
            <a:ext cx="3383280" cy="676656"/>
          </a:xfrm>
          <a:prstGeom prst="rect">
            <a:avLst/>
          </a:prstGeom>
          <a:noFill/>
          <a:ln/>
        </p:spPr>
        <p:txBody>
          <a:bodyPr wrap="square" lIns="0" tIns="0" rIns="0" bIns="0" rtlCol="0" anchor="ctr"/>
          <a:lstStyle/>
          <a:p>
            <a:pPr indent="0" marL="0">
              <a:buNone/>
            </a:pPr>
            <a:r>
              <a:rPr lang="en-US" sz="1300" dirty="0">
                <a:solidFill>
                  <a:schemeClr val="tx1"/>
                </a:solidFill>
              </a:rPr>
              <a:t>Impedir la deliberación baja el acierto, pero mucho menos de lo esperado.</a:t>
            </a:r>
            <a:endParaRPr lang="en-US" sz="1300" dirty="0"/>
          </a:p>
        </p:txBody>
      </p:sp>
      <p:sp>
        <p:nvSpPr>
          <p:cNvPr id="11" name="Resultado 2"/>
          <p:cNvSpPr/>
          <p:nvPr/>
        </p:nvSpPr>
        <p:spPr>
          <a:xfrm>
            <a:off x="4572000" y="2194560"/>
            <a:ext cx="4114800" cy="749808"/>
          </a:xfrm>
          <a:prstGeom prst="roundRect">
            <a:avLst>
              <a:gd name="adj" fmla="val 9756"/>
            </a:avLst>
          </a:prstGeom>
          <a:solidFill>
            <a:srgbClr val="F1F2F6"/>
          </a:solidFill>
          <a:ln w="12700">
            <a:solidFill>
              <a:srgbClr val="F1F2F6"/>
            </a:solidFill>
            <a:prstDash val="solid"/>
          </a:ln>
        </p:spPr>
      </p:sp>
      <p:sp>
        <p:nvSpPr>
          <p:cNvPr id="12" name="Marca 2"/>
          <p:cNvSpPr/>
          <p:nvPr/>
        </p:nvSpPr>
        <p:spPr>
          <a:xfrm>
            <a:off x="4736592" y="2395728"/>
            <a:ext cx="347472" cy="347472"/>
          </a:xfrm>
          <a:prstGeom prst="ellipse">
            <a:avLst/>
          </a:prstGeom>
          <a:solidFill>
            <a:srgbClr val="2A8C82"/>
          </a:solidFill>
          <a:ln w="12700">
            <a:solidFill>
              <a:srgbClr val="2A8C82"/>
            </a:solidFill>
            <a:prstDash val="solid"/>
          </a:ln>
        </p:spPr>
      </p:sp>
      <p:sp>
        <p:nvSpPr>
          <p:cNvPr id="13" name="Text 10"/>
          <p:cNvSpPr txBox="1"/>
          <p:nvPr/>
        </p:nvSpPr>
        <p:spPr>
          <a:xfrm>
            <a:off x="4736592" y="2395728"/>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4" name="Text 11"/>
          <p:cNvSpPr txBox="1"/>
          <p:nvPr/>
        </p:nvSpPr>
        <p:spPr>
          <a:xfrm>
            <a:off x="5230368" y="2231136"/>
            <a:ext cx="3383280" cy="676656"/>
          </a:xfrm>
          <a:prstGeom prst="rect">
            <a:avLst/>
          </a:prstGeom>
          <a:noFill/>
          <a:ln/>
        </p:spPr>
        <p:txBody>
          <a:bodyPr wrap="square" lIns="0" tIns="0" rIns="0" bIns="0" rtlCol="0" anchor="ctr"/>
          <a:lstStyle/>
          <a:p>
            <a:pPr indent="0" marL="0">
              <a:buNone/>
            </a:pPr>
            <a:r>
              <a:rPr lang="en-US" sz="1300" dirty="0">
                <a:solidFill>
                  <a:schemeClr val="tx1"/>
                </a:solidFill>
              </a:rPr>
              <a:t>Quienes aciertan al final ya acertaban en la respuesta rápida.</a:t>
            </a:r>
            <a:endParaRPr lang="en-US" sz="1300" dirty="0"/>
          </a:p>
        </p:txBody>
      </p:sp>
      <p:sp>
        <p:nvSpPr>
          <p:cNvPr id="15" name="Resultado 3"/>
          <p:cNvSpPr/>
          <p:nvPr/>
        </p:nvSpPr>
        <p:spPr>
          <a:xfrm>
            <a:off x="4572000" y="3063240"/>
            <a:ext cx="4114800" cy="749808"/>
          </a:xfrm>
          <a:prstGeom prst="roundRect">
            <a:avLst>
              <a:gd name="adj" fmla="val 9756"/>
            </a:avLst>
          </a:prstGeom>
          <a:solidFill>
            <a:srgbClr val="F1F2F6"/>
          </a:solidFill>
          <a:ln w="12700">
            <a:solidFill>
              <a:srgbClr val="F1F2F6"/>
            </a:solidFill>
            <a:prstDash val="solid"/>
          </a:ln>
        </p:spPr>
      </p:sp>
      <p:sp>
        <p:nvSpPr>
          <p:cNvPr id="16" name="Marca 3"/>
          <p:cNvSpPr/>
          <p:nvPr/>
        </p:nvSpPr>
        <p:spPr>
          <a:xfrm>
            <a:off x="4736592" y="3264408"/>
            <a:ext cx="347472" cy="347472"/>
          </a:xfrm>
          <a:prstGeom prst="ellipse">
            <a:avLst/>
          </a:prstGeom>
          <a:solidFill>
            <a:srgbClr val="E9A23B"/>
          </a:solidFill>
          <a:ln w="12700">
            <a:solidFill>
              <a:srgbClr val="E9A23B"/>
            </a:solidFill>
            <a:prstDash val="solid"/>
          </a:ln>
        </p:spPr>
      </p:sp>
      <p:sp>
        <p:nvSpPr>
          <p:cNvPr id="17" name="Text 14"/>
          <p:cNvSpPr txBox="1"/>
          <p:nvPr/>
        </p:nvSpPr>
        <p:spPr>
          <a:xfrm>
            <a:off x="4736592" y="3264408"/>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8" name="Text 15"/>
          <p:cNvSpPr txBox="1"/>
          <p:nvPr/>
        </p:nvSpPr>
        <p:spPr>
          <a:xfrm>
            <a:off x="5230368" y="3099816"/>
            <a:ext cx="3383280" cy="676656"/>
          </a:xfrm>
          <a:prstGeom prst="rect">
            <a:avLst/>
          </a:prstGeom>
          <a:noFill/>
          <a:ln/>
        </p:spPr>
        <p:txBody>
          <a:bodyPr wrap="square" lIns="0" tIns="0" rIns="0" bIns="0" rtlCol="0" anchor="ctr"/>
          <a:lstStyle/>
          <a:p>
            <a:pPr indent="0" marL="0">
              <a:buNone/>
            </a:pPr>
            <a:r>
              <a:rPr lang="en-US" sz="1300" dirty="0">
                <a:solidFill>
                  <a:schemeClr val="tx1"/>
                </a:solidFill>
              </a:rPr>
              <a:t>Quienes se equivocan tardan más y confían menos cuando hay conflicto.</a:t>
            </a:r>
            <a:endParaRPr lang="en-US" sz="1300" dirty="0"/>
          </a:p>
        </p:txBody>
      </p:sp>
      <p:sp>
        <p:nvSpPr>
          <p:cNvPr id="19" name="Conclusión de la sección"/>
          <p:cNvSpPr/>
          <p:nvPr/>
        </p:nvSpPr>
        <p:spPr>
          <a:xfrm>
            <a:off x="4572000" y="3950208"/>
            <a:ext cx="4114800" cy="603504"/>
          </a:xfrm>
          <a:prstGeom prst="roundRect">
            <a:avLst>
              <a:gd name="adj" fmla="val 12121"/>
            </a:avLst>
          </a:prstGeom>
          <a:solidFill>
            <a:srgbClr val="262A3F"/>
          </a:solidFill>
          <a:ln w="12700">
            <a:solidFill>
              <a:srgbClr val="262A3F"/>
            </a:solidFill>
            <a:prstDash val="solid"/>
          </a:ln>
        </p:spPr>
      </p:sp>
      <p:sp>
        <p:nvSpPr>
          <p:cNvPr id="20" name="Text 17"/>
          <p:cNvSpPr txBox="1"/>
          <p:nvPr/>
        </p:nvSpPr>
        <p:spPr>
          <a:xfrm>
            <a:off x="4736592" y="3950208"/>
            <a:ext cx="3840480" cy="603504"/>
          </a:xfrm>
          <a:prstGeom prst="rect">
            <a:avLst/>
          </a:prstGeom>
          <a:noFill/>
          <a:ln/>
        </p:spPr>
        <p:txBody>
          <a:bodyPr wrap="square" lIns="0" tIns="0" rIns="0" bIns="0" rtlCol="0" anchor="ctr"/>
          <a:lstStyle/>
          <a:p>
            <a:pPr indent="0" marL="0">
              <a:buNone/>
            </a:pPr>
            <a:r>
              <a:rPr lang="en-US" sz="1400" b="1" dirty="0">
                <a:solidFill>
                  <a:schemeClr val="bg1"/>
                </a:solidFill>
              </a:rPr>
              <a:t>→ La exclusividad no tiene una base empírica sólida</a:t>
            </a:r>
            <a:endParaRPr lang="en-US" sz="1400" dirty="0"/>
          </a:p>
        </p:txBody>
      </p:sp>
      <p:sp>
        <p:nvSpPr>
          <p:cNvPr id="21" name="Text 0"/>
          <p:cNvSpPr/>
          <p:nvPr>
            <p:ph idx="101" type="body" hasCustomPrompt="1"/>
          </p:nvPr>
        </p:nvSpPr>
        <p:spPr>
          <a:xfrm>
            <a:off x="457200" y="4681728"/>
            <a:ext cx="7863840" cy="347472"/>
          </a:xfrm>
          <a:prstGeom prst="rect">
            <a:avLst/>
          </a:prstGeom>
          <a:noFill/>
          <a:ln/>
        </p:spPr>
        <p:txBody>
          <a:bodyPr wrap="square" lIns="0" tIns="0" rIns="0" bIns="0" rtlCol="0" anchor="ctr"/>
          <a:lstStyle/>
          <a:p>
            <a:pPr indent="0" marL="0">
              <a:buNone/>
            </a:pPr>
            <a:r>
              <a:rPr lang="en-US" sz="1000" i="1" dirty="0">
                <a:solidFill>
                  <a:schemeClr val="tx2"/>
                </a:solidFill>
              </a:rPr>
              <a:t>Lawson et al. (2020, como se citó en De Neys, 2023a, p. 4); De Neys (2023a, pp. 4-5)</a:t>
            </a:r>
            <a:endParaRPr lang="en-US" sz="1000" dirty="0"/>
          </a:p>
        </p:txBody>
      </p:sp>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Etiqueta de rol"/>
          <p:cNvSpPr/>
          <p:nvPr/>
        </p:nvSpPr>
        <p:spPr>
          <a:xfrm>
            <a:off x="457200" y="201168"/>
            <a:ext cx="1463040" cy="274320"/>
          </a:xfrm>
          <a:prstGeom prst="roundRect">
            <a:avLst>
              <a:gd name="adj" fmla="val 50000"/>
            </a:avLst>
          </a:prstGeom>
          <a:solidFill>
            <a:srgbClr val="2A8C82"/>
          </a:solidFill>
          <a:ln w="12700">
            <a:solidFill>
              <a:srgbClr val="2A8C82"/>
            </a:solidFill>
            <a:prstDash val="solid"/>
          </a:ln>
        </p:spPr>
      </p:sp>
      <p:sp>
        <p:nvSpPr>
          <p:cNvPr id="3" name="Texto de etiqueta"/>
          <p:cNvSpPr txBox="1"/>
          <p:nvPr/>
        </p:nvSpPr>
        <p:spPr>
          <a:xfrm>
            <a:off x="457200" y="201168"/>
            <a:ext cx="1463040" cy="274320"/>
          </a:xfrm>
          <a:prstGeom prst="rect">
            <a:avLst/>
          </a:prstGeom>
          <a:noFill/>
          <a:ln/>
        </p:spPr>
        <p:txBody>
          <a:bodyPr wrap="square" lIns="0" tIns="0" rIns="0" bIns="0" rtlCol="0" anchor="ctr"/>
          <a:lstStyle/>
          <a:p>
            <a:pPr algn="ctr" indent="0" marL="0">
              <a:buNone/>
            </a:pPr>
            <a:r>
              <a:rPr lang="en-US" sz="1100" b="1" spc="150" kern="0" dirty="0">
                <a:solidFill>
                  <a:schemeClr val="bg1"/>
                </a:solidFill>
              </a:rPr>
              <a:t>ACIERTO 1</a:t>
            </a:r>
            <a:endParaRPr lang="en-US" sz="1100" dirty="0"/>
          </a:p>
        </p:txBody>
      </p:sp>
      <p:sp>
        <p:nvSpPr>
          <p:cNvPr id="4" name="Marca del recorrido"/>
          <p:cNvSpPr txBox="1"/>
          <p:nvPr/>
        </p:nvSpPr>
        <p:spPr>
          <a:xfrm>
            <a:off x="4114800" y="201168"/>
            <a:ext cx="4572000" cy="274320"/>
          </a:xfrm>
          <a:prstGeom prst="rect">
            <a:avLst/>
          </a:prstGeom>
          <a:noFill/>
          <a:ln/>
        </p:spPr>
        <p:txBody>
          <a:bodyPr wrap="square" lIns="0" tIns="0" rIns="0" bIns="0" rtlCol="0" anchor="ctr"/>
          <a:lstStyle/>
          <a:p>
            <a:pPr algn="r" indent="0" marL="0">
              <a:buNone/>
            </a:pPr>
            <a:r>
              <a:rPr lang="en-US" sz="1000" b="1" spc="150" kern="0" dirty="0">
                <a:solidFill>
                  <a:schemeClr val="tx2"/>
                </a:solidFill>
              </a:rPr>
              <a:t>ARTÍCULO · SECCIÓN 2</a:t>
            </a:r>
            <a:endParaRPr lang="en-US" sz="1000" dirty="0"/>
          </a:p>
        </p:txBody>
      </p:sp>
      <p:sp>
        <p:nvSpPr>
          <p:cNvPr id="5" name="Text 0"/>
          <p:cNvSpPr/>
          <p:nvPr>
            <p:ph idx="100" type="title" hasCustomPrompt="1"/>
          </p:nvPr>
        </p:nvSpPr>
        <p:spPr>
          <a:xfrm>
            <a:off x="457200" y="566928"/>
            <a:ext cx="8229600" cy="640080"/>
          </a:xfrm>
          <a:prstGeom prst="rect">
            <a:avLst/>
          </a:prstGeom>
          <a:noFill/>
          <a:ln/>
        </p:spPr>
        <p:txBody>
          <a:bodyPr wrap="square" lIns="0" tIns="0" rIns="0" bIns="0" rtlCol="0" anchor="t"/>
          <a:lstStyle/>
          <a:p>
            <a:pPr algn="l" indent="0" marL="0">
              <a:buNone/>
            </a:pPr>
            <a:r>
              <a:rPr lang="en-US" sz="2800" b="1" dirty="0">
                <a:solidFill>
                  <a:schemeClr val="tx1"/>
                </a:solidFill>
              </a:rPr>
              <a:t>¿Cómo sabemos cuándo ponernos a pensar?</a:t>
            </a:r>
            <a:endParaRPr lang="en-US" sz="2800" dirty="0"/>
          </a:p>
        </p:txBody>
      </p:sp>
      <p:sp>
        <p:nvSpPr>
          <p:cNvPr id="6" name="El sistema 2 vigila"/>
          <p:cNvSpPr/>
          <p:nvPr/>
        </p:nvSpPr>
        <p:spPr>
          <a:xfrm>
            <a:off x="457200" y="1298448"/>
            <a:ext cx="1554480" cy="2011680"/>
          </a:xfrm>
          <a:prstGeom prst="roundRect">
            <a:avLst>
              <a:gd name="adj" fmla="val 4706"/>
            </a:avLst>
          </a:prstGeom>
          <a:solidFill>
            <a:srgbClr val="F1F2F6"/>
          </a:solidFill>
          <a:ln w="12700">
            <a:solidFill>
              <a:srgbClr val="F1F2F6"/>
            </a:solidFill>
            <a:prstDash val="solid"/>
          </a:ln>
        </p:spPr>
      </p:sp>
      <p:pic>
        <p:nvPicPr>
          <p:cNvPr id="7" name="Image 0" descr="Falla">    </p:cNvPr>
          <p:cNvPicPr>
            <a:picLocks noChangeAspect="1"/>
          </p:cNvPicPr>
          <p:nvPr/>
        </p:nvPicPr>
        <p:blipFill>
          <a:blip r:embed="rId1"/>
          <a:stretch>
            <a:fillRect/>
          </a:stretch>
        </p:blipFill>
        <p:spPr>
          <a:xfrm>
            <a:off x="594360" y="1444752"/>
            <a:ext cx="365760" cy="365760"/>
          </a:xfrm>
          <a:prstGeom prst="rect">
            <a:avLst/>
          </a:prstGeom>
        </p:spPr>
      </p:pic>
      <p:sp>
        <p:nvSpPr>
          <p:cNvPr id="8" name="Text 5"/>
          <p:cNvSpPr txBox="1"/>
          <p:nvPr/>
        </p:nvSpPr>
        <p:spPr>
          <a:xfrm>
            <a:off x="594360" y="1920240"/>
            <a:ext cx="1325880" cy="685800"/>
          </a:xfrm>
          <a:prstGeom prst="rect">
            <a:avLst/>
          </a:prstGeom>
          <a:noFill/>
          <a:ln/>
        </p:spPr>
        <p:txBody>
          <a:bodyPr wrap="square" lIns="0" tIns="0" rIns="0" bIns="0" rtlCol="0" anchor="t"/>
          <a:lstStyle/>
          <a:p>
            <a:pPr indent="0" marL="0">
              <a:buNone/>
            </a:pPr>
            <a:r>
              <a:rPr lang="en-US" sz="1400" b="1" dirty="0">
                <a:solidFill>
                  <a:schemeClr val="tx1"/>
                </a:solidFill>
              </a:rPr>
              <a:t>El sistema 2 vigila</a:t>
            </a:r>
            <a:endParaRPr lang="en-US" sz="1400" dirty="0"/>
          </a:p>
        </p:txBody>
      </p:sp>
      <p:sp>
        <p:nvSpPr>
          <p:cNvPr id="9" name="Text 6"/>
          <p:cNvSpPr txBox="1"/>
          <p:nvPr/>
        </p:nvSpPr>
        <p:spPr>
          <a:xfrm>
            <a:off x="594360" y="2633472"/>
            <a:ext cx="1325880" cy="731520"/>
          </a:xfrm>
          <a:prstGeom prst="rect">
            <a:avLst/>
          </a:prstGeom>
          <a:noFill/>
          <a:ln/>
        </p:spPr>
        <p:txBody>
          <a:bodyPr wrap="square" lIns="0" tIns="0" rIns="0" bIns="0" rtlCol="0" anchor="t"/>
          <a:lstStyle/>
          <a:p>
            <a:pPr indent="0" marL="0">
              <a:buNone/>
            </a:pPr>
            <a:r>
              <a:rPr lang="en-US" sz="1300" dirty="0">
                <a:solidFill>
                  <a:schemeClr val="tx2"/>
                </a:solidFill>
              </a:rPr>
              <a:t>Ya tendría que estar activo: paradoja</a:t>
            </a:r>
            <a:endParaRPr lang="en-US" sz="1300" dirty="0"/>
          </a:p>
        </p:txBody>
      </p:sp>
      <p:sp>
        <p:nvSpPr>
          <p:cNvPr id="10" name="Deliberación de bajo esfuerzo"/>
          <p:cNvSpPr/>
          <p:nvPr/>
        </p:nvSpPr>
        <p:spPr>
          <a:xfrm>
            <a:off x="2130552" y="1298448"/>
            <a:ext cx="1554480" cy="2011680"/>
          </a:xfrm>
          <a:prstGeom prst="roundRect">
            <a:avLst>
              <a:gd name="adj" fmla="val 4706"/>
            </a:avLst>
          </a:prstGeom>
          <a:solidFill>
            <a:srgbClr val="F1F2F6"/>
          </a:solidFill>
          <a:ln w="12700">
            <a:solidFill>
              <a:srgbClr val="F1F2F6"/>
            </a:solidFill>
            <a:prstDash val="solid"/>
          </a:ln>
        </p:spPr>
      </p:sp>
      <p:pic>
        <p:nvPicPr>
          <p:cNvPr id="11" name="Image 1" descr="Falla">    </p:cNvPr>
          <p:cNvPicPr>
            <a:picLocks noChangeAspect="1"/>
          </p:cNvPicPr>
          <p:nvPr/>
        </p:nvPicPr>
        <p:blipFill>
          <a:blip r:embed="rId2"/>
          <a:stretch>
            <a:fillRect/>
          </a:stretch>
        </p:blipFill>
        <p:spPr>
          <a:xfrm>
            <a:off x="2267712" y="1444752"/>
            <a:ext cx="365760" cy="365760"/>
          </a:xfrm>
          <a:prstGeom prst="rect">
            <a:avLst/>
          </a:prstGeom>
        </p:spPr>
      </p:pic>
      <p:sp>
        <p:nvSpPr>
          <p:cNvPr id="12" name="Text 8"/>
          <p:cNvSpPr txBox="1"/>
          <p:nvPr/>
        </p:nvSpPr>
        <p:spPr>
          <a:xfrm>
            <a:off x="2267712" y="1920240"/>
            <a:ext cx="1325880" cy="685800"/>
          </a:xfrm>
          <a:prstGeom prst="rect">
            <a:avLst/>
          </a:prstGeom>
          <a:noFill/>
          <a:ln/>
        </p:spPr>
        <p:txBody>
          <a:bodyPr wrap="square" lIns="0" tIns="0" rIns="0" bIns="0" rtlCol="0" anchor="t"/>
          <a:lstStyle/>
          <a:p>
            <a:pPr indent="0" marL="0">
              <a:buNone/>
            </a:pPr>
            <a:r>
              <a:rPr lang="en-US" sz="1400" b="1" dirty="0">
                <a:solidFill>
                  <a:schemeClr val="tx1"/>
                </a:solidFill>
              </a:rPr>
              <a:t>Deliberación de bajo esfuerzo</a:t>
            </a:r>
            <a:endParaRPr lang="en-US" sz="1400" dirty="0"/>
          </a:p>
        </p:txBody>
      </p:sp>
      <p:sp>
        <p:nvSpPr>
          <p:cNvPr id="13" name="Text 9"/>
          <p:cNvSpPr txBox="1"/>
          <p:nvPr/>
        </p:nvSpPr>
        <p:spPr>
          <a:xfrm>
            <a:off x="2267712" y="2633472"/>
            <a:ext cx="1325880" cy="731520"/>
          </a:xfrm>
          <a:prstGeom prst="rect">
            <a:avLst/>
          </a:prstGeom>
          <a:noFill/>
          <a:ln/>
        </p:spPr>
        <p:txBody>
          <a:bodyPr wrap="square" lIns="0" tIns="0" rIns="0" bIns="0" rtlCol="0" anchor="t"/>
          <a:lstStyle/>
          <a:p>
            <a:pPr indent="0" marL="0">
              <a:buNone/>
            </a:pPr>
            <a:r>
              <a:rPr lang="en-US" sz="1300" dirty="0">
                <a:solidFill>
                  <a:schemeClr val="tx2"/>
                </a:solidFill>
              </a:rPr>
              <a:t>Solo corre el problema un paso</a:t>
            </a:r>
            <a:endParaRPr lang="en-US" sz="1300" dirty="0"/>
          </a:p>
        </p:txBody>
      </p:sp>
      <p:sp>
        <p:nvSpPr>
          <p:cNvPr id="14" name="Un sistema 3"/>
          <p:cNvSpPr/>
          <p:nvPr/>
        </p:nvSpPr>
        <p:spPr>
          <a:xfrm>
            <a:off x="3803904" y="1298448"/>
            <a:ext cx="1554480" cy="2011680"/>
          </a:xfrm>
          <a:prstGeom prst="roundRect">
            <a:avLst>
              <a:gd name="adj" fmla="val 4706"/>
            </a:avLst>
          </a:prstGeom>
          <a:solidFill>
            <a:srgbClr val="F1F2F6"/>
          </a:solidFill>
          <a:ln w="12700">
            <a:solidFill>
              <a:srgbClr val="F1F2F6"/>
            </a:solidFill>
            <a:prstDash val="solid"/>
          </a:ln>
        </p:spPr>
      </p:sp>
      <p:pic>
        <p:nvPicPr>
          <p:cNvPr id="15" name="Image 2" descr="Falla">    </p:cNvPr>
          <p:cNvPicPr>
            <a:picLocks noChangeAspect="1"/>
          </p:cNvPicPr>
          <p:nvPr/>
        </p:nvPicPr>
        <p:blipFill>
          <a:blip r:embed="rId3"/>
          <a:stretch>
            <a:fillRect/>
          </a:stretch>
        </p:blipFill>
        <p:spPr>
          <a:xfrm>
            <a:off x="3941064" y="1444752"/>
            <a:ext cx="365760" cy="365760"/>
          </a:xfrm>
          <a:prstGeom prst="rect">
            <a:avLst/>
          </a:prstGeom>
        </p:spPr>
      </p:pic>
      <p:sp>
        <p:nvSpPr>
          <p:cNvPr id="16" name="Text 11"/>
          <p:cNvSpPr txBox="1"/>
          <p:nvPr/>
        </p:nvSpPr>
        <p:spPr>
          <a:xfrm>
            <a:off x="3941064" y="1920240"/>
            <a:ext cx="1325880" cy="685800"/>
          </a:xfrm>
          <a:prstGeom prst="rect">
            <a:avLst/>
          </a:prstGeom>
          <a:noFill/>
          <a:ln/>
        </p:spPr>
        <p:txBody>
          <a:bodyPr wrap="square" lIns="0" tIns="0" rIns="0" bIns="0" rtlCol="0" anchor="t"/>
          <a:lstStyle/>
          <a:p>
            <a:pPr indent="0" marL="0">
              <a:buNone/>
            </a:pPr>
            <a:r>
              <a:rPr lang="en-US" sz="1400" b="1" dirty="0">
                <a:solidFill>
                  <a:schemeClr val="tx1"/>
                </a:solidFill>
              </a:rPr>
              <a:t>Un sistema 3</a:t>
            </a:r>
            <a:endParaRPr lang="en-US" sz="1400" dirty="0"/>
          </a:p>
        </p:txBody>
      </p:sp>
      <p:sp>
        <p:nvSpPr>
          <p:cNvPr id="17" name="Text 12"/>
          <p:cNvSpPr txBox="1"/>
          <p:nvPr/>
        </p:nvSpPr>
        <p:spPr>
          <a:xfrm>
            <a:off x="3941064" y="2633472"/>
            <a:ext cx="1325880" cy="731520"/>
          </a:xfrm>
          <a:prstGeom prst="rect">
            <a:avLst/>
          </a:prstGeom>
          <a:noFill/>
          <a:ln/>
        </p:spPr>
        <p:txBody>
          <a:bodyPr wrap="square" lIns="0" tIns="0" rIns="0" bIns="0" rtlCol="0" anchor="t"/>
          <a:lstStyle/>
          <a:p>
            <a:pPr indent="0" marL="0">
              <a:buNone/>
            </a:pPr>
            <a:r>
              <a:rPr lang="en-US" sz="1300" dirty="0">
                <a:solidFill>
                  <a:schemeClr val="tx2"/>
                </a:solidFill>
              </a:rPr>
              <a:t>Regresión infinita</a:t>
            </a:r>
            <a:endParaRPr lang="en-US" sz="1300" dirty="0"/>
          </a:p>
        </p:txBody>
      </p:sp>
      <p:sp>
        <p:nvSpPr>
          <p:cNvPr id="18" name="Siempre en paralelo"/>
          <p:cNvSpPr/>
          <p:nvPr/>
        </p:nvSpPr>
        <p:spPr>
          <a:xfrm>
            <a:off x="5477256" y="1298448"/>
            <a:ext cx="1554480" cy="2011680"/>
          </a:xfrm>
          <a:prstGeom prst="roundRect">
            <a:avLst>
              <a:gd name="adj" fmla="val 4706"/>
            </a:avLst>
          </a:prstGeom>
          <a:solidFill>
            <a:srgbClr val="F1F2F6"/>
          </a:solidFill>
          <a:ln w="12700">
            <a:solidFill>
              <a:srgbClr val="F1F2F6"/>
            </a:solidFill>
            <a:prstDash val="solid"/>
          </a:ln>
        </p:spPr>
      </p:sp>
      <p:pic>
        <p:nvPicPr>
          <p:cNvPr id="19" name="Image 3" descr="Falla">    </p:cNvPr>
          <p:cNvPicPr>
            <a:picLocks noChangeAspect="1"/>
          </p:cNvPicPr>
          <p:nvPr/>
        </p:nvPicPr>
        <p:blipFill>
          <a:blip r:embed="rId4"/>
          <a:stretch>
            <a:fillRect/>
          </a:stretch>
        </p:blipFill>
        <p:spPr>
          <a:xfrm>
            <a:off x="5614416" y="1444752"/>
            <a:ext cx="365760" cy="365760"/>
          </a:xfrm>
          <a:prstGeom prst="rect">
            <a:avLst/>
          </a:prstGeom>
        </p:spPr>
      </p:pic>
      <p:sp>
        <p:nvSpPr>
          <p:cNvPr id="20" name="Text 14"/>
          <p:cNvSpPr txBox="1"/>
          <p:nvPr/>
        </p:nvSpPr>
        <p:spPr>
          <a:xfrm>
            <a:off x="5614416" y="1920240"/>
            <a:ext cx="1325880" cy="685800"/>
          </a:xfrm>
          <a:prstGeom prst="rect">
            <a:avLst/>
          </a:prstGeom>
          <a:noFill/>
          <a:ln/>
        </p:spPr>
        <p:txBody>
          <a:bodyPr wrap="square" lIns="0" tIns="0" rIns="0" bIns="0" rtlCol="0" anchor="t"/>
          <a:lstStyle/>
          <a:p>
            <a:pPr indent="0" marL="0">
              <a:buNone/>
            </a:pPr>
            <a:r>
              <a:rPr lang="en-US" sz="1400" b="1" dirty="0">
                <a:solidFill>
                  <a:schemeClr val="tx1"/>
                </a:solidFill>
              </a:rPr>
              <a:t>Siempre en paralelo</a:t>
            </a:r>
            <a:endParaRPr lang="en-US" sz="1400" dirty="0"/>
          </a:p>
        </p:txBody>
      </p:sp>
      <p:sp>
        <p:nvSpPr>
          <p:cNvPr id="21" name="Text 15"/>
          <p:cNvSpPr txBox="1"/>
          <p:nvPr/>
        </p:nvSpPr>
        <p:spPr>
          <a:xfrm>
            <a:off x="5614416" y="2633472"/>
            <a:ext cx="1325880" cy="731520"/>
          </a:xfrm>
          <a:prstGeom prst="rect">
            <a:avLst/>
          </a:prstGeom>
          <a:noFill/>
          <a:ln/>
        </p:spPr>
        <p:txBody>
          <a:bodyPr wrap="square" lIns="0" tIns="0" rIns="0" bIns="0" rtlCol="0" anchor="t"/>
          <a:lstStyle/>
          <a:p>
            <a:pPr indent="0" marL="0">
              <a:buNone/>
            </a:pPr>
            <a:r>
              <a:rPr lang="en-US" sz="1300" dirty="0">
                <a:solidFill>
                  <a:schemeClr val="tx2"/>
                </a:solidFill>
              </a:rPr>
              <a:t>Pierde la economía de tener dos</a:t>
            </a:r>
            <a:endParaRPr lang="en-US" sz="1300" dirty="0"/>
          </a:p>
        </p:txBody>
      </p:sp>
      <p:sp>
        <p:nvSpPr>
          <p:cNvPr id="22" name="Nunca cambiar"/>
          <p:cNvSpPr/>
          <p:nvPr/>
        </p:nvSpPr>
        <p:spPr>
          <a:xfrm>
            <a:off x="7150608" y="1298448"/>
            <a:ext cx="1554480" cy="2011680"/>
          </a:xfrm>
          <a:prstGeom prst="roundRect">
            <a:avLst>
              <a:gd name="adj" fmla="val 4706"/>
            </a:avLst>
          </a:prstGeom>
          <a:solidFill>
            <a:srgbClr val="F1F2F6"/>
          </a:solidFill>
          <a:ln w="12700">
            <a:solidFill>
              <a:srgbClr val="F1F2F6"/>
            </a:solidFill>
            <a:prstDash val="solid"/>
          </a:ln>
        </p:spPr>
      </p:sp>
      <p:pic>
        <p:nvPicPr>
          <p:cNvPr id="23" name="Image 4" descr="Falla">    </p:cNvPr>
          <p:cNvPicPr>
            <a:picLocks noChangeAspect="1"/>
          </p:cNvPicPr>
          <p:nvPr/>
        </p:nvPicPr>
        <p:blipFill>
          <a:blip r:embed="rId5"/>
          <a:stretch>
            <a:fillRect/>
          </a:stretch>
        </p:blipFill>
        <p:spPr>
          <a:xfrm>
            <a:off x="7287768" y="1444752"/>
            <a:ext cx="365760" cy="365760"/>
          </a:xfrm>
          <a:prstGeom prst="rect">
            <a:avLst/>
          </a:prstGeom>
        </p:spPr>
      </p:pic>
      <p:sp>
        <p:nvSpPr>
          <p:cNvPr id="24" name="Text 17"/>
          <p:cNvSpPr txBox="1"/>
          <p:nvPr/>
        </p:nvSpPr>
        <p:spPr>
          <a:xfrm>
            <a:off x="7287768" y="1920240"/>
            <a:ext cx="1325880" cy="685800"/>
          </a:xfrm>
          <a:prstGeom prst="rect">
            <a:avLst/>
          </a:prstGeom>
          <a:noFill/>
          <a:ln/>
        </p:spPr>
        <p:txBody>
          <a:bodyPr wrap="square" lIns="0" tIns="0" rIns="0" bIns="0" rtlCol="0" anchor="t"/>
          <a:lstStyle/>
          <a:p>
            <a:pPr indent="0" marL="0">
              <a:buNone/>
            </a:pPr>
            <a:r>
              <a:rPr lang="en-US" sz="1400" b="1" dirty="0">
                <a:solidFill>
                  <a:schemeClr val="tx1"/>
                </a:solidFill>
              </a:rPr>
              <a:t>Nunca cambiar</a:t>
            </a:r>
            <a:endParaRPr lang="en-US" sz="1400" dirty="0"/>
          </a:p>
        </p:txBody>
      </p:sp>
      <p:sp>
        <p:nvSpPr>
          <p:cNvPr id="25" name="Text 18"/>
          <p:cNvSpPr txBox="1"/>
          <p:nvPr/>
        </p:nvSpPr>
        <p:spPr>
          <a:xfrm>
            <a:off x="7287768" y="2633472"/>
            <a:ext cx="1325880" cy="731520"/>
          </a:xfrm>
          <a:prstGeom prst="rect">
            <a:avLst/>
          </a:prstGeom>
          <a:noFill/>
          <a:ln/>
        </p:spPr>
        <p:txBody>
          <a:bodyPr wrap="square" lIns="0" tIns="0" rIns="0" bIns="0" rtlCol="0" anchor="t"/>
          <a:lstStyle/>
          <a:p>
            <a:pPr indent="0" marL="0">
              <a:buNone/>
            </a:pPr>
            <a:r>
              <a:rPr lang="en-US" sz="1300" dirty="0">
                <a:solidFill>
                  <a:schemeClr val="tx2"/>
                </a:solidFill>
              </a:rPr>
              <a:t>No explica a quienes aciertan</a:t>
            </a:r>
            <a:endParaRPr lang="en-US" sz="1300" dirty="0"/>
          </a:p>
        </p:txBody>
      </p:sp>
      <p:sp>
        <p:nvSpPr>
          <p:cNvPr id="26" name="La salida"/>
          <p:cNvSpPr/>
          <p:nvPr/>
        </p:nvSpPr>
        <p:spPr>
          <a:xfrm>
            <a:off x="457200" y="3493008"/>
            <a:ext cx="8229600" cy="1005840"/>
          </a:xfrm>
          <a:prstGeom prst="roundRect">
            <a:avLst>
              <a:gd name="adj" fmla="val 7273"/>
            </a:avLst>
          </a:prstGeom>
          <a:solidFill>
            <a:srgbClr val="2A8C82"/>
          </a:solidFill>
          <a:ln w="12700">
            <a:solidFill>
              <a:srgbClr val="2A8C82"/>
            </a:solidFill>
            <a:prstDash val="solid"/>
          </a:ln>
        </p:spPr>
      </p:sp>
      <p:sp>
        <p:nvSpPr>
          <p:cNvPr id="27" name="Text 20"/>
          <p:cNvSpPr txBox="1"/>
          <p:nvPr/>
        </p:nvSpPr>
        <p:spPr>
          <a:xfrm>
            <a:off x="685800" y="3493008"/>
            <a:ext cx="7772400" cy="1005840"/>
          </a:xfrm>
          <a:prstGeom prst="rect">
            <a:avLst/>
          </a:prstGeom>
          <a:noFill/>
          <a:ln/>
        </p:spPr>
        <p:txBody>
          <a:bodyPr wrap="square" lIns="0" tIns="0" rIns="0" bIns="0" rtlCol="0" anchor="ctr"/>
          <a:lstStyle/>
          <a:p>
            <a:pPr indent="0" marL="0">
              <a:buNone/>
            </a:pPr>
            <a:r>
              <a:rPr lang="en-US" sz="1600" b="1" dirty="0">
                <a:solidFill>
                  <a:schemeClr val="bg1"/>
                </a:solidFill>
              </a:rPr>
              <a:t>La salida: </a:t>
            </a:r>
            <a:pPr indent="0" marL="0">
              <a:buNone/>
            </a:pPr>
            <a:r>
              <a:rPr lang="en-US" sz="1600" dirty="0">
                <a:solidFill>
                  <a:schemeClr val="bg1"/>
                </a:solidFill>
              </a:rPr>
              <a:t>que el cambio lo decida el propio sistema 1. Y eso solo funciona si el sistema 1 también genera la respuesta lógica, es decir, sin exclusividad.</a:t>
            </a:r>
            <a:endParaRPr lang="en-US" sz="1600" dirty="0"/>
          </a:p>
        </p:txBody>
      </p:sp>
      <p:sp>
        <p:nvSpPr>
          <p:cNvPr id="28" name="Text 0"/>
          <p:cNvSpPr/>
          <p:nvPr>
            <p:ph idx="101" type="body" hasCustomPrompt="1"/>
          </p:nvPr>
        </p:nvSpPr>
        <p:spPr>
          <a:xfrm>
            <a:off x="457200" y="4681728"/>
            <a:ext cx="7863840" cy="347472"/>
          </a:xfrm>
          <a:prstGeom prst="rect">
            <a:avLst/>
          </a:prstGeom>
          <a:noFill/>
          <a:ln/>
        </p:spPr>
        <p:txBody>
          <a:bodyPr wrap="square" lIns="0" tIns="0" rIns="0" bIns="0" rtlCol="0" anchor="ctr"/>
          <a:lstStyle/>
          <a:p>
            <a:pPr indent="0" marL="0">
              <a:buNone/>
            </a:pPr>
            <a:r>
              <a:rPr lang="en-US" sz="1000" i="1" dirty="0">
                <a:solidFill>
                  <a:schemeClr val="tx2"/>
                </a:solidFill>
              </a:rPr>
              <a:t>Las explicaciones tradicionales del cambio · De Neys (2023a, pp. 6-7)</a:t>
            </a:r>
            <a:endParaRPr lang="en-US" sz="1000" dirty="0"/>
          </a:p>
        </p:txBody>
      </p:sp>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Etiqueta de rol"/>
          <p:cNvSpPr/>
          <p:nvPr/>
        </p:nvSpPr>
        <p:spPr>
          <a:xfrm>
            <a:off x="457200" y="201168"/>
            <a:ext cx="1463040" cy="274320"/>
          </a:xfrm>
          <a:prstGeom prst="roundRect">
            <a:avLst>
              <a:gd name="adj" fmla="val 50000"/>
            </a:avLst>
          </a:prstGeom>
          <a:solidFill>
            <a:srgbClr val="2A8C82"/>
          </a:solidFill>
          <a:ln w="12700">
            <a:solidFill>
              <a:srgbClr val="2A8C82"/>
            </a:solidFill>
            <a:prstDash val="solid"/>
          </a:ln>
        </p:spPr>
      </p:sp>
      <p:sp>
        <p:nvSpPr>
          <p:cNvPr id="3" name="Texto de etiqueta"/>
          <p:cNvSpPr txBox="1"/>
          <p:nvPr/>
        </p:nvSpPr>
        <p:spPr>
          <a:xfrm>
            <a:off x="457200" y="201168"/>
            <a:ext cx="1463040" cy="274320"/>
          </a:xfrm>
          <a:prstGeom prst="rect">
            <a:avLst/>
          </a:prstGeom>
          <a:noFill/>
          <a:ln/>
        </p:spPr>
        <p:txBody>
          <a:bodyPr wrap="square" lIns="0" tIns="0" rIns="0" bIns="0" rtlCol="0" anchor="ctr"/>
          <a:lstStyle/>
          <a:p>
            <a:pPr algn="ctr" indent="0" marL="0">
              <a:buNone/>
            </a:pPr>
            <a:r>
              <a:rPr lang="en-US" sz="1100" b="1" spc="150" kern="0" dirty="0">
                <a:solidFill>
                  <a:schemeClr val="bg1"/>
                </a:solidFill>
              </a:rPr>
              <a:t>ACIERTO 1</a:t>
            </a:r>
            <a:endParaRPr lang="en-US" sz="1100" dirty="0"/>
          </a:p>
        </p:txBody>
      </p:sp>
      <p:sp>
        <p:nvSpPr>
          <p:cNvPr id="4" name="Marca del recorrido"/>
          <p:cNvSpPr txBox="1"/>
          <p:nvPr/>
        </p:nvSpPr>
        <p:spPr>
          <a:xfrm>
            <a:off x="4114800" y="201168"/>
            <a:ext cx="4572000" cy="274320"/>
          </a:xfrm>
          <a:prstGeom prst="rect">
            <a:avLst/>
          </a:prstGeom>
          <a:noFill/>
          <a:ln/>
        </p:spPr>
        <p:txBody>
          <a:bodyPr wrap="square" lIns="0" tIns="0" rIns="0" bIns="0" rtlCol="0" anchor="ctr"/>
          <a:lstStyle/>
          <a:p>
            <a:pPr algn="r" indent="0" marL="0">
              <a:buNone/>
            </a:pPr>
            <a:r>
              <a:rPr lang="en-US" sz="1000" b="1" spc="150" kern="0" dirty="0">
                <a:solidFill>
                  <a:schemeClr val="tx2"/>
                </a:solidFill>
              </a:rPr>
              <a:t>ARTÍCULO · SECCIÓN 3</a:t>
            </a:r>
            <a:endParaRPr lang="en-US" sz="1000" dirty="0"/>
          </a:p>
        </p:txBody>
      </p:sp>
      <p:sp>
        <p:nvSpPr>
          <p:cNvPr id="5" name="Text 0"/>
          <p:cNvSpPr/>
          <p:nvPr>
            <p:ph idx="100" type="title" hasCustomPrompt="1"/>
          </p:nvPr>
        </p:nvSpPr>
        <p:spPr>
          <a:xfrm>
            <a:off x="457200" y="566928"/>
            <a:ext cx="8229600" cy="640080"/>
          </a:xfrm>
          <a:prstGeom prst="rect">
            <a:avLst/>
          </a:prstGeom>
          <a:noFill/>
          <a:ln/>
        </p:spPr>
        <p:txBody>
          <a:bodyPr wrap="square" lIns="0" tIns="0" rIns="0" bIns="0" rtlCol="0" anchor="t"/>
          <a:lstStyle/>
          <a:p>
            <a:pPr algn="l" indent="0" marL="0">
              <a:buNone/>
            </a:pPr>
            <a:r>
              <a:rPr lang="en-US" sz="2800" b="1" dirty="0">
                <a:solidFill>
                  <a:schemeClr val="tx1"/>
                </a:solidFill>
              </a:rPr>
              <a:t>La propuesta: un modelo no exclusivo</a:t>
            </a:r>
            <a:endParaRPr lang="en-US" sz="2800" dirty="0"/>
          </a:p>
        </p:txBody>
      </p:sp>
      <p:sp>
        <p:nvSpPr>
          <p:cNvPr id="6" name="Intuiciones"/>
          <p:cNvSpPr/>
          <p:nvPr/>
        </p:nvSpPr>
        <p:spPr>
          <a:xfrm>
            <a:off x="457200" y="1325880"/>
            <a:ext cx="1874520" cy="2286000"/>
          </a:xfrm>
          <a:prstGeom prst="roundRect">
            <a:avLst>
              <a:gd name="adj" fmla="val 3902"/>
            </a:avLst>
          </a:prstGeom>
          <a:solidFill>
            <a:srgbClr val="F1F2F6"/>
          </a:solidFill>
          <a:ln w="12700">
            <a:solidFill>
              <a:srgbClr val="F1F2F6"/>
            </a:solidFill>
            <a:prstDash val="solid"/>
          </a:ln>
        </p:spPr>
      </p:sp>
      <p:sp>
        <p:nvSpPr>
          <p:cNvPr id="7" name="Componente 1"/>
          <p:cNvSpPr/>
          <p:nvPr/>
        </p:nvSpPr>
        <p:spPr>
          <a:xfrm>
            <a:off x="640080" y="1508760"/>
            <a:ext cx="457200" cy="457200"/>
          </a:xfrm>
          <a:prstGeom prst="ellipse">
            <a:avLst/>
          </a:prstGeom>
          <a:solidFill>
            <a:srgbClr val="E9A23B"/>
          </a:solidFill>
          <a:ln w="12700">
            <a:solidFill>
              <a:srgbClr val="E9A23B"/>
            </a:solidFill>
            <a:prstDash val="solid"/>
          </a:ln>
        </p:spPr>
      </p:sp>
      <p:sp>
        <p:nvSpPr>
          <p:cNvPr id="8" name="Text 6"/>
          <p:cNvSpPr txBox="1"/>
          <p:nvPr/>
        </p:nvSpPr>
        <p:spPr>
          <a:xfrm>
            <a:off x="640080" y="15087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9" name="Text 7"/>
          <p:cNvSpPr txBox="1"/>
          <p:nvPr/>
        </p:nvSpPr>
        <p:spPr>
          <a:xfrm>
            <a:off x="640080" y="2057400"/>
            <a:ext cx="1600200" cy="365760"/>
          </a:xfrm>
          <a:prstGeom prst="rect">
            <a:avLst/>
          </a:prstGeom>
          <a:noFill/>
          <a:ln/>
        </p:spPr>
        <p:txBody>
          <a:bodyPr wrap="square" lIns="0" tIns="0" rIns="0" bIns="0" rtlCol="0" anchor="t"/>
          <a:lstStyle/>
          <a:p>
            <a:pPr indent="0" marL="0">
              <a:buNone/>
            </a:pPr>
            <a:r>
              <a:rPr lang="en-US" sz="1500" b="1" dirty="0">
                <a:solidFill>
                  <a:schemeClr val="tx1"/>
                </a:solidFill>
              </a:rPr>
              <a:t>Intuiciones</a:t>
            </a:r>
            <a:endParaRPr lang="en-US" sz="1500" dirty="0"/>
          </a:p>
        </p:txBody>
      </p:sp>
      <p:sp>
        <p:nvSpPr>
          <p:cNvPr id="10" name="Text 8"/>
          <p:cNvSpPr txBox="1"/>
          <p:nvPr/>
        </p:nvSpPr>
        <p:spPr>
          <a:xfrm>
            <a:off x="640080" y="2441448"/>
            <a:ext cx="1554480" cy="1097280"/>
          </a:xfrm>
          <a:prstGeom prst="rect">
            <a:avLst/>
          </a:prstGeom>
          <a:noFill/>
          <a:ln/>
        </p:spPr>
        <p:txBody>
          <a:bodyPr wrap="square" lIns="0" tIns="0" rIns="0" bIns="0" rtlCol="0" anchor="t"/>
          <a:lstStyle/>
          <a:p>
            <a:pPr indent="0" marL="0">
              <a:buNone/>
            </a:pPr>
            <a:r>
              <a:rPr lang="en-US" sz="1300" dirty="0">
                <a:solidFill>
                  <a:schemeClr val="tx1"/>
                </a:solidFill>
              </a:rPr>
              <a:t>El sistema 1 activa varias, de distinta fuerza, incluida la lógica</a:t>
            </a:r>
            <a:endParaRPr lang="en-US" sz="1300" dirty="0"/>
          </a:p>
        </p:txBody>
      </p:sp>
      <p:sp>
        <p:nvSpPr>
          <p:cNvPr id="11" name="Monitoreo"/>
          <p:cNvSpPr/>
          <p:nvPr/>
        </p:nvSpPr>
        <p:spPr>
          <a:xfrm>
            <a:off x="2560320" y="1325880"/>
            <a:ext cx="1874520" cy="2286000"/>
          </a:xfrm>
          <a:prstGeom prst="roundRect">
            <a:avLst>
              <a:gd name="adj" fmla="val 3902"/>
            </a:avLst>
          </a:prstGeom>
          <a:solidFill>
            <a:srgbClr val="F1F2F6"/>
          </a:solidFill>
          <a:ln w="12700">
            <a:solidFill>
              <a:srgbClr val="F1F2F6"/>
            </a:solidFill>
            <a:prstDash val="solid"/>
          </a:ln>
        </p:spPr>
      </p:sp>
      <p:sp>
        <p:nvSpPr>
          <p:cNvPr id="12" name="Componente 2"/>
          <p:cNvSpPr/>
          <p:nvPr/>
        </p:nvSpPr>
        <p:spPr>
          <a:xfrm>
            <a:off x="2743200" y="1508760"/>
            <a:ext cx="457200" cy="457200"/>
          </a:xfrm>
          <a:prstGeom prst="ellipse">
            <a:avLst/>
          </a:prstGeom>
          <a:solidFill>
            <a:srgbClr val="E9A23B"/>
          </a:solidFill>
          <a:ln w="12700">
            <a:solidFill>
              <a:srgbClr val="E9A23B"/>
            </a:solidFill>
            <a:prstDash val="solid"/>
          </a:ln>
        </p:spPr>
      </p:sp>
      <p:sp>
        <p:nvSpPr>
          <p:cNvPr id="13" name="Text 11"/>
          <p:cNvSpPr txBox="1"/>
          <p:nvPr/>
        </p:nvSpPr>
        <p:spPr>
          <a:xfrm>
            <a:off x="2743200" y="15087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4" name="Text 12"/>
          <p:cNvSpPr txBox="1"/>
          <p:nvPr/>
        </p:nvSpPr>
        <p:spPr>
          <a:xfrm>
            <a:off x="2743200" y="2057400"/>
            <a:ext cx="1600200" cy="365760"/>
          </a:xfrm>
          <a:prstGeom prst="rect">
            <a:avLst/>
          </a:prstGeom>
          <a:noFill/>
          <a:ln/>
        </p:spPr>
        <p:txBody>
          <a:bodyPr wrap="square" lIns="0" tIns="0" rIns="0" bIns="0" rtlCol="0" anchor="t"/>
          <a:lstStyle/>
          <a:p>
            <a:pPr indent="0" marL="0">
              <a:buNone/>
            </a:pPr>
            <a:r>
              <a:rPr lang="en-US" sz="1500" b="1" dirty="0">
                <a:solidFill>
                  <a:schemeClr val="tx1"/>
                </a:solidFill>
              </a:rPr>
              <a:t>Monitoreo</a:t>
            </a:r>
            <a:endParaRPr lang="en-US" sz="1500" dirty="0"/>
          </a:p>
        </p:txBody>
      </p:sp>
      <p:sp>
        <p:nvSpPr>
          <p:cNvPr id="15" name="Text 13"/>
          <p:cNvSpPr txBox="1"/>
          <p:nvPr/>
        </p:nvSpPr>
        <p:spPr>
          <a:xfrm>
            <a:off x="2743200" y="2441448"/>
            <a:ext cx="1554480" cy="1097280"/>
          </a:xfrm>
          <a:prstGeom prst="rect">
            <a:avLst/>
          </a:prstGeom>
          <a:noFill/>
          <a:ln/>
        </p:spPr>
        <p:txBody>
          <a:bodyPr wrap="square" lIns="0" tIns="0" rIns="0" bIns="0" rtlCol="0" anchor="t"/>
          <a:lstStyle/>
          <a:p>
            <a:pPr indent="0" marL="0">
              <a:buNone/>
            </a:pPr>
            <a:r>
              <a:rPr lang="en-US" sz="1300" dirty="0">
                <a:solidFill>
                  <a:schemeClr val="tx1"/>
                </a:solidFill>
              </a:rPr>
              <a:t>Compara las fuerzas:</a:t>
            </a:r>
            <a:endParaRPr lang="en-US" sz="1300" dirty="0"/>
          </a:p>
          <a:p>
            <a:pPr indent="0" marL="0">
              <a:buNone/>
            </a:pPr>
            <a:r>
              <a:rPr lang="en-US" sz="1300" b="1" dirty="0">
                <a:solidFill>
                  <a:schemeClr val="tx1"/>
                </a:solidFill>
              </a:rPr>
              <a:t>U = 1 − |I1 − I2|</a:t>
            </a:r>
            <a:endParaRPr lang="en-US" sz="1300" dirty="0"/>
          </a:p>
          <a:p>
            <a:pPr indent="0" marL="0">
              <a:buNone/>
            </a:pPr>
            <a:r>
              <a:rPr lang="en-US" sz="1300" dirty="0">
                <a:solidFill>
                  <a:schemeClr val="tx1"/>
                </a:solidFill>
              </a:rPr>
              <a:t>Si U pasa el umbral…</a:t>
            </a:r>
            <a:endParaRPr lang="en-US" sz="1300" dirty="0"/>
          </a:p>
        </p:txBody>
      </p:sp>
      <p:sp>
        <p:nvSpPr>
          <p:cNvPr id="16" name="Deliberación"/>
          <p:cNvSpPr/>
          <p:nvPr/>
        </p:nvSpPr>
        <p:spPr>
          <a:xfrm>
            <a:off x="4663440" y="1325880"/>
            <a:ext cx="1874520" cy="2286000"/>
          </a:xfrm>
          <a:prstGeom prst="roundRect">
            <a:avLst>
              <a:gd name="adj" fmla="val 3902"/>
            </a:avLst>
          </a:prstGeom>
          <a:solidFill>
            <a:srgbClr val="F1F2F6"/>
          </a:solidFill>
          <a:ln w="12700">
            <a:solidFill>
              <a:srgbClr val="F1F2F6"/>
            </a:solidFill>
            <a:prstDash val="solid"/>
          </a:ln>
        </p:spPr>
      </p:sp>
      <p:sp>
        <p:nvSpPr>
          <p:cNvPr id="17" name="Componente 3"/>
          <p:cNvSpPr/>
          <p:nvPr/>
        </p:nvSpPr>
        <p:spPr>
          <a:xfrm>
            <a:off x="4846320" y="1508760"/>
            <a:ext cx="457200" cy="457200"/>
          </a:xfrm>
          <a:prstGeom prst="ellipse">
            <a:avLst/>
          </a:prstGeom>
          <a:solidFill>
            <a:srgbClr val="2A8C82"/>
          </a:solidFill>
          <a:ln w="12700">
            <a:solidFill>
              <a:srgbClr val="2A8C82"/>
            </a:solidFill>
            <a:prstDash val="solid"/>
          </a:ln>
        </p:spPr>
      </p:sp>
      <p:sp>
        <p:nvSpPr>
          <p:cNvPr id="18" name="Text 16"/>
          <p:cNvSpPr txBox="1"/>
          <p:nvPr/>
        </p:nvSpPr>
        <p:spPr>
          <a:xfrm>
            <a:off x="4846320" y="15087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9" name="Text 17"/>
          <p:cNvSpPr txBox="1"/>
          <p:nvPr/>
        </p:nvSpPr>
        <p:spPr>
          <a:xfrm>
            <a:off x="4846320" y="2057400"/>
            <a:ext cx="1600200" cy="365760"/>
          </a:xfrm>
          <a:prstGeom prst="rect">
            <a:avLst/>
          </a:prstGeom>
          <a:noFill/>
          <a:ln/>
        </p:spPr>
        <p:txBody>
          <a:bodyPr wrap="square" lIns="0" tIns="0" rIns="0" bIns="0" rtlCol="0" anchor="t"/>
          <a:lstStyle/>
          <a:p>
            <a:pPr indent="0" marL="0">
              <a:buNone/>
            </a:pPr>
            <a:r>
              <a:rPr lang="en-US" sz="1500" b="1" dirty="0">
                <a:solidFill>
                  <a:schemeClr val="tx1"/>
                </a:solidFill>
              </a:rPr>
              <a:t>Deliberación</a:t>
            </a:r>
            <a:endParaRPr lang="en-US" sz="1500" dirty="0"/>
          </a:p>
        </p:txBody>
      </p:sp>
      <p:sp>
        <p:nvSpPr>
          <p:cNvPr id="20" name="Text 18"/>
          <p:cNvSpPr txBox="1"/>
          <p:nvPr/>
        </p:nvSpPr>
        <p:spPr>
          <a:xfrm>
            <a:off x="4846320" y="2441448"/>
            <a:ext cx="1554480" cy="1097280"/>
          </a:xfrm>
          <a:prstGeom prst="rect">
            <a:avLst/>
          </a:prstGeom>
          <a:noFill/>
          <a:ln/>
        </p:spPr>
        <p:txBody>
          <a:bodyPr wrap="square" lIns="0" tIns="0" rIns="0" bIns="0" rtlCol="0" anchor="t"/>
          <a:lstStyle/>
          <a:p>
            <a:pPr indent="0" marL="0">
              <a:buNone/>
            </a:pPr>
            <a:r>
              <a:rPr lang="en-US" sz="1300" dirty="0">
                <a:solidFill>
                  <a:schemeClr val="tx1"/>
                </a:solidFill>
              </a:rPr>
              <a:t>…se activa el sistema 2: inhibe, calcula o justifica. No garantiza acertar</a:t>
            </a:r>
            <a:endParaRPr lang="en-US" sz="1300" dirty="0"/>
          </a:p>
        </p:txBody>
      </p:sp>
      <p:sp>
        <p:nvSpPr>
          <p:cNvPr id="21" name="Retroalimentación"/>
          <p:cNvSpPr/>
          <p:nvPr/>
        </p:nvSpPr>
        <p:spPr>
          <a:xfrm>
            <a:off x="6766560" y="1325880"/>
            <a:ext cx="1874520" cy="2286000"/>
          </a:xfrm>
          <a:prstGeom prst="roundRect">
            <a:avLst>
              <a:gd name="adj" fmla="val 3902"/>
            </a:avLst>
          </a:prstGeom>
          <a:solidFill>
            <a:srgbClr val="F1F2F6"/>
          </a:solidFill>
          <a:ln w="12700">
            <a:solidFill>
              <a:srgbClr val="F1F2F6"/>
            </a:solidFill>
            <a:prstDash val="solid"/>
          </a:ln>
        </p:spPr>
      </p:sp>
      <p:sp>
        <p:nvSpPr>
          <p:cNvPr id="22" name="Componente 4"/>
          <p:cNvSpPr/>
          <p:nvPr/>
        </p:nvSpPr>
        <p:spPr>
          <a:xfrm>
            <a:off x="6949440" y="1508760"/>
            <a:ext cx="457200" cy="457200"/>
          </a:xfrm>
          <a:prstGeom prst="ellipse">
            <a:avLst/>
          </a:prstGeom>
          <a:solidFill>
            <a:srgbClr val="2A8C82"/>
          </a:solidFill>
          <a:ln w="12700">
            <a:solidFill>
              <a:srgbClr val="2A8C82"/>
            </a:solidFill>
            <a:prstDash val="solid"/>
          </a:ln>
        </p:spPr>
      </p:sp>
      <p:sp>
        <p:nvSpPr>
          <p:cNvPr id="23" name="Text 21"/>
          <p:cNvSpPr txBox="1"/>
          <p:nvPr/>
        </p:nvSpPr>
        <p:spPr>
          <a:xfrm>
            <a:off x="6949440" y="15087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4" name="Text 22"/>
          <p:cNvSpPr txBox="1"/>
          <p:nvPr/>
        </p:nvSpPr>
        <p:spPr>
          <a:xfrm>
            <a:off x="6949440" y="2057400"/>
            <a:ext cx="1600200" cy="365760"/>
          </a:xfrm>
          <a:prstGeom prst="rect">
            <a:avLst/>
          </a:prstGeom>
          <a:noFill/>
          <a:ln/>
        </p:spPr>
        <p:txBody>
          <a:bodyPr wrap="square" lIns="0" tIns="0" rIns="0" bIns="0" rtlCol="0" anchor="t"/>
          <a:lstStyle/>
          <a:p>
            <a:pPr indent="0" marL="0">
              <a:buNone/>
            </a:pPr>
            <a:r>
              <a:rPr lang="en-US" sz="1500" b="1" dirty="0">
                <a:solidFill>
                  <a:schemeClr val="tx1"/>
                </a:solidFill>
              </a:rPr>
              <a:t>Retroalimentación</a:t>
            </a:r>
            <a:endParaRPr lang="en-US" sz="1500" dirty="0"/>
          </a:p>
        </p:txBody>
      </p:sp>
      <p:sp>
        <p:nvSpPr>
          <p:cNvPr id="25" name="Text 23"/>
          <p:cNvSpPr txBox="1"/>
          <p:nvPr/>
        </p:nvSpPr>
        <p:spPr>
          <a:xfrm>
            <a:off x="6949440" y="2441448"/>
            <a:ext cx="1554480" cy="1097280"/>
          </a:xfrm>
          <a:prstGeom prst="rect">
            <a:avLst/>
          </a:prstGeom>
          <a:noFill/>
          <a:ln/>
        </p:spPr>
        <p:txBody>
          <a:bodyPr wrap="square" lIns="0" tIns="0" rIns="0" bIns="0" rtlCol="0" anchor="t"/>
          <a:lstStyle/>
          <a:p>
            <a:pPr indent="0" marL="0">
              <a:buNone/>
            </a:pPr>
            <a:r>
              <a:rPr lang="en-US" sz="1300" dirty="0">
                <a:solidFill>
                  <a:schemeClr val="tx1"/>
                </a:solidFill>
              </a:rPr>
              <a:t>Ajusta la fuerza de las intuiciones y apaga la deliberación</a:t>
            </a:r>
            <a:endParaRPr lang="en-US" sz="1300" dirty="0"/>
          </a:p>
        </p:txBody>
      </p:sp>
      <p:sp>
        <p:nvSpPr>
          <p:cNvPr id="26" name="Text 24"/>
          <p:cNvSpPr txBox="1"/>
          <p:nvPr/>
        </p:nvSpPr>
        <p:spPr>
          <a:xfrm>
            <a:off x="457200" y="3685032"/>
            <a:ext cx="8229600" cy="274320"/>
          </a:xfrm>
          <a:prstGeom prst="rect">
            <a:avLst/>
          </a:prstGeom>
          <a:noFill/>
          <a:ln/>
        </p:spPr>
        <p:txBody>
          <a:bodyPr wrap="square" lIns="0" tIns="0" rIns="0" bIns="0" rtlCol="0" anchor="t"/>
          <a:lstStyle/>
          <a:p>
            <a:pPr algn="r" indent="0" marL="0">
              <a:buNone/>
            </a:pPr>
            <a:r>
              <a:rPr lang="en-US" sz="1200" i="1" dirty="0">
                <a:solidFill>
                  <a:schemeClr val="tx2"/>
                </a:solidFill>
              </a:rPr>
              <a:t>↺  la retroalimentación vuelve a las intuiciones</a:t>
            </a:r>
            <a:endParaRPr lang="en-US" sz="1200" dirty="0"/>
          </a:p>
        </p:txBody>
      </p:sp>
      <p:sp>
        <p:nvSpPr>
          <p:cNvPr id="27" name="Text 25"/>
          <p:cNvSpPr txBox="1"/>
          <p:nvPr/>
        </p:nvSpPr>
        <p:spPr>
          <a:xfrm>
            <a:off x="457200" y="4069080"/>
            <a:ext cx="8229600" cy="411480"/>
          </a:xfrm>
          <a:prstGeom prst="rect">
            <a:avLst/>
          </a:prstGeom>
          <a:noFill/>
          <a:ln/>
        </p:spPr>
        <p:txBody>
          <a:bodyPr wrap="square" lIns="0" tIns="0" rIns="0" bIns="0" rtlCol="0" anchor="t"/>
          <a:lstStyle/>
          <a:p>
            <a:pPr indent="0" marL="0">
              <a:buNone/>
            </a:pPr>
            <a:r>
              <a:rPr lang="en-US" sz="1600" b="1" dirty="0">
                <a:solidFill>
                  <a:schemeClr val="tx1"/>
                </a:solidFill>
              </a:rPr>
              <a:t>Conclusión del autor: </a:t>
            </a:r>
            <a:pPr indent="0" marL="0">
              <a:buNone/>
            </a:pPr>
            <a:r>
              <a:rPr lang="en-US" sz="1600" dirty="0">
                <a:solidFill>
                  <a:schemeClr val="tx1"/>
                </a:solidFill>
              </a:rPr>
              <a:t>todo modelo dual viable debe ser no exclusivo.</a:t>
            </a:r>
            <a:endParaRPr lang="en-US" sz="1600" dirty="0"/>
          </a:p>
        </p:txBody>
      </p:sp>
      <p:sp>
        <p:nvSpPr>
          <p:cNvPr id="28" name="Text 0"/>
          <p:cNvSpPr/>
          <p:nvPr>
            <p:ph idx="101" type="body" hasCustomPrompt="1"/>
          </p:nvPr>
        </p:nvSpPr>
        <p:spPr>
          <a:xfrm>
            <a:off x="457200" y="4681728"/>
            <a:ext cx="7863840" cy="347472"/>
          </a:xfrm>
          <a:prstGeom prst="rect">
            <a:avLst/>
          </a:prstGeom>
          <a:noFill/>
          <a:ln/>
        </p:spPr>
        <p:txBody>
          <a:bodyPr wrap="square" lIns="0" tIns="0" rIns="0" bIns="0" rtlCol="0" anchor="ctr"/>
          <a:lstStyle/>
          <a:p>
            <a:pPr indent="0" marL="0">
              <a:buNone/>
            </a:pPr>
            <a:r>
              <a:rPr lang="en-US" sz="1000" i="1" dirty="0">
                <a:solidFill>
                  <a:schemeClr val="tx2"/>
                </a:solidFill>
              </a:rPr>
              <a:t>De Neys (2023a, pp. 7-11)</a:t>
            </a:r>
            <a:endParaRPr lang="en-US" sz="1000" dirty="0"/>
          </a:p>
        </p:txBody>
      </p:sp>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Etiqueta de rol"/>
          <p:cNvSpPr/>
          <p:nvPr/>
        </p:nvSpPr>
        <p:spPr>
          <a:xfrm>
            <a:off x="457200" y="201168"/>
            <a:ext cx="1463040" cy="274320"/>
          </a:xfrm>
          <a:prstGeom prst="roundRect">
            <a:avLst>
              <a:gd name="adj" fmla="val 50000"/>
            </a:avLst>
          </a:prstGeom>
          <a:solidFill>
            <a:srgbClr val="2A8C82"/>
          </a:solidFill>
          <a:ln w="12700">
            <a:solidFill>
              <a:srgbClr val="2A8C82"/>
            </a:solidFill>
            <a:prstDash val="solid"/>
          </a:ln>
        </p:spPr>
      </p:sp>
      <p:sp>
        <p:nvSpPr>
          <p:cNvPr id="3" name="Texto de etiqueta"/>
          <p:cNvSpPr txBox="1"/>
          <p:nvPr/>
        </p:nvSpPr>
        <p:spPr>
          <a:xfrm>
            <a:off x="457200" y="201168"/>
            <a:ext cx="1463040" cy="274320"/>
          </a:xfrm>
          <a:prstGeom prst="rect">
            <a:avLst/>
          </a:prstGeom>
          <a:noFill/>
          <a:ln/>
        </p:spPr>
        <p:txBody>
          <a:bodyPr wrap="square" lIns="0" tIns="0" rIns="0" bIns="0" rtlCol="0" anchor="ctr"/>
          <a:lstStyle/>
          <a:p>
            <a:pPr algn="ctr" indent="0" marL="0">
              <a:buNone/>
            </a:pPr>
            <a:r>
              <a:rPr lang="en-US" sz="1100" b="1" spc="150" kern="0" dirty="0">
                <a:solidFill>
                  <a:schemeClr val="bg1"/>
                </a:solidFill>
              </a:rPr>
              <a:t>ACIERTO 1</a:t>
            </a:r>
            <a:endParaRPr lang="en-US" sz="1100" dirty="0"/>
          </a:p>
        </p:txBody>
      </p:sp>
      <p:sp>
        <p:nvSpPr>
          <p:cNvPr id="4" name="Marca del recorrido"/>
          <p:cNvSpPr txBox="1"/>
          <p:nvPr/>
        </p:nvSpPr>
        <p:spPr>
          <a:xfrm>
            <a:off x="4114800" y="201168"/>
            <a:ext cx="4572000" cy="274320"/>
          </a:xfrm>
          <a:prstGeom prst="rect">
            <a:avLst/>
          </a:prstGeom>
          <a:noFill/>
          <a:ln/>
        </p:spPr>
        <p:txBody>
          <a:bodyPr wrap="square" lIns="0" tIns="0" rIns="0" bIns="0" rtlCol="0" anchor="ctr"/>
          <a:lstStyle/>
          <a:p>
            <a:pPr algn="r" indent="0" marL="0">
              <a:buNone/>
            </a:pPr>
            <a:r>
              <a:rPr lang="en-US" sz="1000" b="1" spc="150" kern="0" dirty="0">
                <a:solidFill>
                  <a:schemeClr val="tx2"/>
                </a:solidFill>
              </a:rPr>
              <a:t>NUESTRA LECTURA</a:t>
            </a:r>
            <a:endParaRPr lang="en-US" sz="1000" dirty="0"/>
          </a:p>
        </p:txBody>
      </p:sp>
      <p:sp>
        <p:nvSpPr>
          <p:cNvPr id="5" name="Text 0"/>
          <p:cNvSpPr/>
          <p:nvPr>
            <p:ph idx="100" type="title" hasCustomPrompt="1"/>
          </p:nvPr>
        </p:nvSpPr>
        <p:spPr>
          <a:xfrm>
            <a:off x="457200" y="566928"/>
            <a:ext cx="8229600" cy="640080"/>
          </a:xfrm>
          <a:prstGeom prst="rect">
            <a:avLst/>
          </a:prstGeom>
          <a:noFill/>
          <a:ln/>
        </p:spPr>
        <p:txBody>
          <a:bodyPr wrap="square" lIns="0" tIns="0" rIns="0" bIns="0" rtlCol="0" anchor="t"/>
          <a:lstStyle/>
          <a:p>
            <a:pPr algn="l" indent="0" marL="0">
              <a:buNone/>
            </a:pPr>
            <a:r>
              <a:rPr lang="en-US" sz="2800" b="1" dirty="0">
                <a:solidFill>
                  <a:schemeClr val="tx1"/>
                </a:solidFill>
              </a:rPr>
              <a:t>El control que faltaba</a:t>
            </a:r>
            <a:endParaRPr lang="en-US" sz="2800" dirty="0"/>
          </a:p>
        </p:txBody>
      </p:sp>
      <p:sp>
        <p:nvSpPr>
          <p:cNvPr id="6" name="Evans"/>
          <p:cNvSpPr/>
          <p:nvPr/>
        </p:nvSpPr>
        <p:spPr>
          <a:xfrm>
            <a:off x="457200" y="1298448"/>
            <a:ext cx="3931920" cy="2011680"/>
          </a:xfrm>
          <a:prstGeom prst="roundRect">
            <a:avLst>
              <a:gd name="adj" fmla="val 3636"/>
            </a:avLst>
          </a:prstGeom>
          <a:solidFill>
            <a:srgbClr val="F1F2F6"/>
          </a:solidFill>
          <a:ln w="12700">
            <a:solidFill>
              <a:srgbClr val="F1F2F6"/>
            </a:solidFill>
            <a:prstDash val="solid"/>
          </a:ln>
        </p:spPr>
      </p:sp>
      <p:sp>
        <p:nvSpPr>
          <p:cNvPr id="7" name="Text 5"/>
          <p:cNvSpPr txBox="1"/>
          <p:nvPr/>
        </p:nvSpPr>
        <p:spPr>
          <a:xfrm>
            <a:off x="640080" y="1389888"/>
            <a:ext cx="3657600" cy="365760"/>
          </a:xfrm>
          <a:prstGeom prst="rect">
            <a:avLst/>
          </a:prstGeom>
          <a:noFill/>
          <a:ln/>
        </p:spPr>
        <p:txBody>
          <a:bodyPr wrap="square" lIns="0" tIns="0" rIns="0" bIns="0" rtlCol="0" anchor="t"/>
          <a:lstStyle/>
          <a:p>
            <a:pPr indent="0" marL="0">
              <a:buNone/>
            </a:pPr>
            <a:r>
              <a:rPr lang="en-US" sz="1500" b="1" dirty="0">
                <a:solidFill>
                  <a:schemeClr val="tx1"/>
                </a:solidFill>
              </a:rPr>
              <a:t>Teoría heurístico-analítica (Evans)</a:t>
            </a:r>
            <a:endParaRPr lang="en-US" sz="1500" dirty="0"/>
          </a:p>
        </p:txBody>
      </p:sp>
      <p:sp>
        <p:nvSpPr>
          <p:cNvPr id="8" name="Text 6"/>
          <p:cNvSpPr txBox="1"/>
          <p:nvPr/>
        </p:nvSpPr>
        <p:spPr>
          <a:xfrm>
            <a:off x="640080" y="1801368"/>
            <a:ext cx="3657600" cy="14173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Estadio heurístico → sesgos</a:t>
            </a:r>
            <a:endParaRPr lang="en-US" sz="1400" dirty="0"/>
          </a:p>
          <a:p>
            <a:pPr marL="342900" indent="-342900">
              <a:spcAft>
                <a:spcPts val="600"/>
              </a:spcAft>
              <a:buSzPct val="100000"/>
              <a:buChar char="•"/>
            </a:pPr>
            <a:r>
              <a:rPr lang="en-US" sz="1400" dirty="0">
                <a:solidFill>
                  <a:schemeClr val="tx1"/>
                </a:solidFill>
              </a:rPr>
              <a:t>Estadio analítico → competencia lógica</a:t>
            </a:r>
            <a:endParaRPr lang="en-US" sz="1400" dirty="0"/>
          </a:p>
          <a:p>
            <a:pPr marL="342900" indent="-342900">
              <a:spcAft>
                <a:spcPts val="600"/>
              </a:spcAft>
              <a:buSzPct val="100000"/>
              <a:buChar char="•"/>
            </a:pPr>
            <a:r>
              <a:rPr lang="en-US" sz="1400" b="1" dirty="0">
                <a:solidFill>
                  <a:schemeClr val="accent3"/>
                </a:solidFill>
              </a:rPr>
              <a:t>¿Qué activa lo analítico? No lo especifica</a:t>
            </a:r>
            <a:endParaRPr lang="en-US" sz="1400" dirty="0"/>
          </a:p>
        </p:txBody>
      </p:sp>
      <p:sp>
        <p:nvSpPr>
          <p:cNvPr id="9" name="De Neys"/>
          <p:cNvSpPr/>
          <p:nvPr/>
        </p:nvSpPr>
        <p:spPr>
          <a:xfrm>
            <a:off x="4754880" y="1298448"/>
            <a:ext cx="3931920" cy="2011680"/>
          </a:xfrm>
          <a:prstGeom prst="roundRect">
            <a:avLst>
              <a:gd name="adj" fmla="val 3636"/>
            </a:avLst>
          </a:prstGeom>
          <a:solidFill>
            <a:srgbClr val="2A8C82"/>
          </a:solidFill>
          <a:ln w="12700">
            <a:solidFill>
              <a:srgbClr val="2A8C82"/>
            </a:solidFill>
            <a:prstDash val="solid"/>
          </a:ln>
        </p:spPr>
      </p:sp>
      <p:sp>
        <p:nvSpPr>
          <p:cNvPr id="10" name="Text 8"/>
          <p:cNvSpPr txBox="1"/>
          <p:nvPr/>
        </p:nvSpPr>
        <p:spPr>
          <a:xfrm>
            <a:off x="4937760" y="1389888"/>
            <a:ext cx="3657600" cy="365760"/>
          </a:xfrm>
          <a:prstGeom prst="rect">
            <a:avLst/>
          </a:prstGeom>
          <a:noFill/>
          <a:ln/>
        </p:spPr>
        <p:txBody>
          <a:bodyPr wrap="square" lIns="0" tIns="0" rIns="0" bIns="0" rtlCol="0" anchor="t"/>
          <a:lstStyle/>
          <a:p>
            <a:pPr indent="0" marL="0">
              <a:buNone/>
            </a:pPr>
            <a:r>
              <a:rPr lang="en-US" sz="1500" b="1" dirty="0">
                <a:solidFill>
                  <a:schemeClr val="bg1"/>
                </a:solidFill>
              </a:rPr>
              <a:t>De Neys (2023)</a:t>
            </a:r>
            <a:endParaRPr lang="en-US" sz="1500" dirty="0"/>
          </a:p>
        </p:txBody>
      </p:sp>
      <p:sp>
        <p:nvSpPr>
          <p:cNvPr id="11" name="Text 9"/>
          <p:cNvSpPr txBox="1"/>
          <p:nvPr/>
        </p:nvSpPr>
        <p:spPr>
          <a:xfrm>
            <a:off x="4937760" y="1801368"/>
            <a:ext cx="3657600" cy="14173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bg1"/>
                </a:solidFill>
              </a:rPr>
              <a:t>Esa asignación es la exclusividad</a:t>
            </a:r>
            <a:endParaRPr lang="en-US" sz="1400" dirty="0"/>
          </a:p>
          <a:p>
            <a:pPr marL="342900" indent="-342900">
              <a:spcAft>
                <a:spcPts val="600"/>
              </a:spcAft>
              <a:buSzPct val="100000"/>
              <a:buChar char="•"/>
            </a:pPr>
            <a:r>
              <a:rPr lang="en-US" sz="1400" dirty="0">
                <a:solidFill>
                  <a:schemeClr val="bg1"/>
                </a:solidFill>
              </a:rPr>
              <a:t>Lo analítico se activa por incertidumbre</a:t>
            </a:r>
            <a:endParaRPr lang="en-US" sz="1400" dirty="0"/>
          </a:p>
          <a:p>
            <a:pPr marL="342900" indent="-342900">
              <a:spcAft>
                <a:spcPts val="600"/>
              </a:spcAft>
              <a:buSzPct val="100000"/>
              <a:buChar char="•"/>
            </a:pPr>
            <a:r>
              <a:rPr lang="en-US" sz="1400" dirty="0">
                <a:solidFill>
                  <a:schemeClr val="bg1"/>
                </a:solidFill>
              </a:rPr>
              <a:t>Deliberar a veces solo justifica la intuición</a:t>
            </a:r>
            <a:endParaRPr lang="en-US" sz="1400" dirty="0"/>
          </a:p>
        </p:txBody>
      </p:sp>
      <p:pic>
        <p:nvPicPr>
          <p:cNvPr id="12" name="Image 0" descr="Cita">    </p:cNvPr>
          <p:cNvPicPr>
            <a:picLocks noChangeAspect="1"/>
          </p:cNvPicPr>
          <p:nvPr/>
        </p:nvPicPr>
        <p:blipFill>
          <a:blip r:embed="rId1"/>
          <a:stretch>
            <a:fillRect/>
          </a:stretch>
        </p:blipFill>
        <p:spPr>
          <a:xfrm>
            <a:off x="457200" y="3639312"/>
            <a:ext cx="384048" cy="384048"/>
          </a:xfrm>
          <a:prstGeom prst="rect">
            <a:avLst/>
          </a:prstGeom>
        </p:spPr>
      </p:pic>
      <p:sp>
        <p:nvSpPr>
          <p:cNvPr id="13" name="Text 10"/>
          <p:cNvSpPr txBox="1"/>
          <p:nvPr/>
        </p:nvSpPr>
        <p:spPr>
          <a:xfrm>
            <a:off x="1005840" y="3474720"/>
            <a:ext cx="7680960" cy="1051560"/>
          </a:xfrm>
          <a:prstGeom prst="rect">
            <a:avLst/>
          </a:prstGeom>
          <a:noFill/>
          <a:ln/>
        </p:spPr>
        <p:txBody>
          <a:bodyPr wrap="square" lIns="0" tIns="0" rIns="0" bIns="0" rtlCol="0" anchor="ctr"/>
          <a:lstStyle/>
          <a:p>
            <a:pPr indent="0" marL="0">
              <a:buNone/>
            </a:pPr>
            <a:r>
              <a:rPr lang="en-US" sz="1400" i="1" dirty="0">
                <a:solidFill>
                  <a:schemeClr val="tx1"/>
                </a:solidFill>
              </a:rPr>
              <a:t>Un sistema que infiere necesita un mecanismo de control para no perderse en un sinfín de inferencias (González Labra). </a:t>
            </a:r>
            <a:pPr indent="0" marL="0">
              <a:buNone/>
            </a:pPr>
            <a:r>
              <a:rPr lang="en-US" sz="1400" dirty="0">
                <a:solidFill>
                  <a:schemeClr val="tx1"/>
                </a:solidFill>
              </a:rPr>
              <a:t>La retroalimentación es ese control: explica qué nos hace dejar de pensar.</a:t>
            </a:r>
            <a:endParaRPr lang="en-US" sz="1400" dirty="0"/>
          </a:p>
        </p:txBody>
      </p:sp>
      <p:sp>
        <p:nvSpPr>
          <p:cNvPr id="14" name="Text 0"/>
          <p:cNvSpPr/>
          <p:nvPr>
            <p:ph idx="101" type="body" hasCustomPrompt="1"/>
          </p:nvPr>
        </p:nvSpPr>
        <p:spPr>
          <a:xfrm>
            <a:off x="457200" y="4681728"/>
            <a:ext cx="7863840" cy="347472"/>
          </a:xfrm>
          <a:prstGeom prst="rect">
            <a:avLst/>
          </a:prstGeom>
          <a:noFill/>
          <a:ln/>
        </p:spPr>
        <p:txBody>
          <a:bodyPr wrap="square" lIns="0" tIns="0" rIns="0" bIns="0" rtlCol="0" anchor="ctr"/>
          <a:lstStyle/>
          <a:p>
            <a:pPr indent="0" marL="0">
              <a:buNone/>
            </a:pPr>
            <a:r>
              <a:rPr lang="en-US" sz="1000" i="1" dirty="0">
                <a:solidFill>
                  <a:schemeClr val="tx2"/>
                </a:solidFill>
              </a:rPr>
              <a:t>Valiña y Martín (2014, pp. 19-22); González Labra (s. f., p. 15); De Neys (2023a, p. 10)</a:t>
            </a:r>
            <a:endParaRPr lang="en-US" sz="1000" dirty="0"/>
          </a:p>
        </p:txBody>
      </p:sp>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Etiqueta de rol"/>
          <p:cNvSpPr/>
          <p:nvPr/>
        </p:nvSpPr>
        <p:spPr>
          <a:xfrm>
            <a:off x="457200" y="201168"/>
            <a:ext cx="1463040" cy="274320"/>
          </a:xfrm>
          <a:prstGeom prst="roundRect">
            <a:avLst>
              <a:gd name="adj" fmla="val 50000"/>
            </a:avLst>
          </a:prstGeom>
          <a:solidFill>
            <a:srgbClr val="2A8C82"/>
          </a:solidFill>
          <a:ln w="12700">
            <a:solidFill>
              <a:srgbClr val="2A8C82"/>
            </a:solidFill>
            <a:prstDash val="solid"/>
          </a:ln>
        </p:spPr>
      </p:sp>
      <p:sp>
        <p:nvSpPr>
          <p:cNvPr id="3" name="Texto de etiqueta"/>
          <p:cNvSpPr txBox="1"/>
          <p:nvPr/>
        </p:nvSpPr>
        <p:spPr>
          <a:xfrm>
            <a:off x="457200" y="201168"/>
            <a:ext cx="1463040" cy="274320"/>
          </a:xfrm>
          <a:prstGeom prst="rect">
            <a:avLst/>
          </a:prstGeom>
          <a:noFill/>
          <a:ln/>
        </p:spPr>
        <p:txBody>
          <a:bodyPr wrap="square" lIns="0" tIns="0" rIns="0" bIns="0" rtlCol="0" anchor="ctr"/>
          <a:lstStyle/>
          <a:p>
            <a:pPr algn="ctr" indent="0" marL="0">
              <a:buNone/>
            </a:pPr>
            <a:r>
              <a:rPr lang="en-US" sz="1100" b="1" spc="150" kern="0" dirty="0">
                <a:solidFill>
                  <a:schemeClr val="bg1"/>
                </a:solidFill>
              </a:rPr>
              <a:t>ACIERTO 2</a:t>
            </a:r>
            <a:endParaRPr lang="en-US" sz="1100" dirty="0"/>
          </a:p>
        </p:txBody>
      </p:sp>
      <p:sp>
        <p:nvSpPr>
          <p:cNvPr id="4" name="Marca del recorrido"/>
          <p:cNvSpPr txBox="1"/>
          <p:nvPr/>
        </p:nvSpPr>
        <p:spPr>
          <a:xfrm>
            <a:off x="4114800" y="201168"/>
            <a:ext cx="4572000" cy="274320"/>
          </a:xfrm>
          <a:prstGeom prst="rect">
            <a:avLst/>
          </a:prstGeom>
          <a:noFill/>
          <a:ln/>
        </p:spPr>
        <p:txBody>
          <a:bodyPr wrap="square" lIns="0" tIns="0" rIns="0" bIns="0" rtlCol="0" anchor="ctr"/>
          <a:lstStyle/>
          <a:p>
            <a:pPr algn="r" indent="0" marL="0">
              <a:buNone/>
            </a:pPr>
            <a:r>
              <a:rPr lang="en-US" sz="1000" b="1" spc="150" kern="0" dirty="0">
                <a:solidFill>
                  <a:schemeClr val="tx2"/>
                </a:solidFill>
              </a:rPr>
              <a:t>NUESTRA LECTURA</a:t>
            </a:r>
            <a:endParaRPr lang="en-US" sz="1000" dirty="0"/>
          </a:p>
        </p:txBody>
      </p:sp>
      <p:sp>
        <p:nvSpPr>
          <p:cNvPr id="5" name="Text 0"/>
          <p:cNvSpPr/>
          <p:nvPr>
            <p:ph idx="100" type="title" hasCustomPrompt="1"/>
          </p:nvPr>
        </p:nvSpPr>
        <p:spPr>
          <a:xfrm>
            <a:off x="457200" y="566928"/>
            <a:ext cx="8229600" cy="640080"/>
          </a:xfrm>
          <a:prstGeom prst="rect">
            <a:avLst/>
          </a:prstGeom>
          <a:noFill/>
          <a:ln/>
        </p:spPr>
        <p:txBody>
          <a:bodyPr wrap="square" lIns="0" tIns="0" rIns="0" bIns="0" rtlCol="0" anchor="t"/>
          <a:lstStyle/>
          <a:p>
            <a:pPr algn="l" indent="0" marL="0">
              <a:buNone/>
            </a:pPr>
            <a:r>
              <a:rPr lang="en-US" sz="2800" b="1" dirty="0">
                <a:solidFill>
                  <a:schemeClr val="tx1"/>
                </a:solidFill>
              </a:rPr>
              <a:t>Lo deliberado se vuelve intuitivo</a:t>
            </a:r>
            <a:endParaRPr lang="en-US" sz="2800" dirty="0"/>
          </a:p>
        </p:txBody>
      </p:sp>
      <p:sp>
        <p:nvSpPr>
          <p:cNvPr id="6" name="Intuición primaria"/>
          <p:cNvSpPr/>
          <p:nvPr/>
        </p:nvSpPr>
        <p:spPr>
          <a:xfrm>
            <a:off x="457200" y="1298448"/>
            <a:ext cx="4206240" cy="932688"/>
          </a:xfrm>
          <a:prstGeom prst="roundRect">
            <a:avLst>
              <a:gd name="adj" fmla="val 7843"/>
            </a:avLst>
          </a:prstGeom>
          <a:solidFill>
            <a:srgbClr val="F1F2F6"/>
          </a:solidFill>
          <a:ln w="12700">
            <a:solidFill>
              <a:srgbClr val="F1F2F6"/>
            </a:solidFill>
            <a:prstDash val="solid"/>
          </a:ln>
        </p:spPr>
      </p:sp>
      <p:sp>
        <p:nvSpPr>
          <p:cNvPr id="7" name="Text 5"/>
          <p:cNvSpPr txBox="1"/>
          <p:nvPr/>
        </p:nvSpPr>
        <p:spPr>
          <a:xfrm>
            <a:off x="640080" y="1371600"/>
            <a:ext cx="3840480" cy="320040"/>
          </a:xfrm>
          <a:prstGeom prst="rect">
            <a:avLst/>
          </a:prstGeom>
          <a:noFill/>
          <a:ln/>
        </p:spPr>
        <p:txBody>
          <a:bodyPr wrap="square" lIns="0" tIns="0" rIns="0" bIns="0" rtlCol="0" anchor="t"/>
          <a:lstStyle/>
          <a:p>
            <a:pPr indent="0" marL="0">
              <a:buNone/>
            </a:pPr>
            <a:r>
              <a:rPr lang="en-US" sz="1500" b="1" dirty="0">
                <a:solidFill>
                  <a:schemeClr val="tx1"/>
                </a:solidFill>
              </a:rPr>
              <a:t>Intuición primaria</a:t>
            </a:r>
            <a:endParaRPr lang="en-US" sz="1500" dirty="0"/>
          </a:p>
        </p:txBody>
      </p:sp>
      <p:sp>
        <p:nvSpPr>
          <p:cNvPr id="8" name="Text 6"/>
          <p:cNvSpPr txBox="1"/>
          <p:nvPr/>
        </p:nvSpPr>
        <p:spPr>
          <a:xfrm>
            <a:off x="640080" y="1709928"/>
            <a:ext cx="3886200" cy="475488"/>
          </a:xfrm>
          <a:prstGeom prst="rect">
            <a:avLst/>
          </a:prstGeom>
          <a:noFill/>
          <a:ln/>
        </p:spPr>
        <p:txBody>
          <a:bodyPr wrap="square" lIns="0" tIns="0" rIns="0" bIns="0" rtlCol="0" anchor="t"/>
          <a:lstStyle/>
          <a:p>
            <a:pPr indent="0" marL="0">
              <a:buNone/>
            </a:pPr>
            <a:r>
              <a:rPr lang="en-US" sz="1300" dirty="0">
                <a:solidFill>
                  <a:schemeClr val="tx1"/>
                </a:solidFill>
              </a:rPr>
              <a:t>Surge de la experiencia; se parece a los sesgos (Fischbein)</a:t>
            </a:r>
            <a:endParaRPr lang="en-US" sz="1300" dirty="0"/>
          </a:p>
        </p:txBody>
      </p:sp>
      <p:sp>
        <p:nvSpPr>
          <p:cNvPr id="9" name="Intuición secundaria"/>
          <p:cNvSpPr/>
          <p:nvPr/>
        </p:nvSpPr>
        <p:spPr>
          <a:xfrm>
            <a:off x="777240" y="2377440"/>
            <a:ext cx="4206240" cy="932688"/>
          </a:xfrm>
          <a:prstGeom prst="roundRect">
            <a:avLst>
              <a:gd name="adj" fmla="val 7843"/>
            </a:avLst>
          </a:prstGeom>
          <a:solidFill>
            <a:srgbClr val="2A8C82"/>
          </a:solidFill>
          <a:ln w="12700">
            <a:solidFill>
              <a:srgbClr val="2A8C82"/>
            </a:solidFill>
            <a:prstDash val="solid"/>
          </a:ln>
        </p:spPr>
      </p:sp>
      <p:sp>
        <p:nvSpPr>
          <p:cNvPr id="10" name="Text 8"/>
          <p:cNvSpPr txBox="1"/>
          <p:nvPr/>
        </p:nvSpPr>
        <p:spPr>
          <a:xfrm>
            <a:off x="960120" y="2450592"/>
            <a:ext cx="3840480" cy="320040"/>
          </a:xfrm>
          <a:prstGeom prst="rect">
            <a:avLst/>
          </a:prstGeom>
          <a:noFill/>
          <a:ln/>
        </p:spPr>
        <p:txBody>
          <a:bodyPr wrap="square" lIns="0" tIns="0" rIns="0" bIns="0" rtlCol="0" anchor="t"/>
          <a:lstStyle/>
          <a:p>
            <a:pPr indent="0" marL="0">
              <a:buNone/>
            </a:pPr>
            <a:r>
              <a:rPr lang="en-US" sz="1500" b="1" dirty="0">
                <a:solidFill>
                  <a:schemeClr val="bg1"/>
                </a:solidFill>
              </a:rPr>
              <a:t>Intuición secundaria</a:t>
            </a:r>
            <a:endParaRPr lang="en-US" sz="1500" dirty="0"/>
          </a:p>
        </p:txBody>
      </p:sp>
      <p:sp>
        <p:nvSpPr>
          <p:cNvPr id="11" name="Text 9"/>
          <p:cNvSpPr txBox="1"/>
          <p:nvPr/>
        </p:nvSpPr>
        <p:spPr>
          <a:xfrm>
            <a:off x="960120" y="2788920"/>
            <a:ext cx="3886200" cy="475488"/>
          </a:xfrm>
          <a:prstGeom prst="rect">
            <a:avLst/>
          </a:prstGeom>
          <a:noFill/>
          <a:ln/>
        </p:spPr>
        <p:txBody>
          <a:bodyPr wrap="square" lIns="0" tIns="0" rIns="0" bIns="0" rtlCol="0" anchor="t"/>
          <a:lstStyle/>
          <a:p>
            <a:pPr indent="0" marL="0">
              <a:buNone/>
            </a:pPr>
            <a:r>
              <a:rPr lang="en-US" sz="1300" dirty="0">
                <a:solidFill>
                  <a:schemeClr val="bg1"/>
                </a:solidFill>
              </a:rPr>
              <a:t>Se logra por instrucción: la intuición se educa (Fischbein, Hogarth)</a:t>
            </a:r>
            <a:endParaRPr lang="en-US" sz="1300" dirty="0"/>
          </a:p>
        </p:txBody>
      </p:sp>
      <p:sp>
        <p:nvSpPr>
          <p:cNvPr id="12" name="Experto"/>
          <p:cNvSpPr/>
          <p:nvPr/>
        </p:nvSpPr>
        <p:spPr>
          <a:xfrm>
            <a:off x="1097280" y="3456432"/>
            <a:ext cx="4206240" cy="932688"/>
          </a:xfrm>
          <a:prstGeom prst="roundRect">
            <a:avLst>
              <a:gd name="adj" fmla="val 7843"/>
            </a:avLst>
          </a:prstGeom>
          <a:solidFill>
            <a:srgbClr val="262A3F"/>
          </a:solidFill>
          <a:ln w="12700">
            <a:solidFill>
              <a:srgbClr val="262A3F"/>
            </a:solidFill>
            <a:prstDash val="solid"/>
          </a:ln>
        </p:spPr>
      </p:sp>
      <p:sp>
        <p:nvSpPr>
          <p:cNvPr id="13" name="Text 11"/>
          <p:cNvSpPr txBox="1"/>
          <p:nvPr/>
        </p:nvSpPr>
        <p:spPr>
          <a:xfrm>
            <a:off x="1280160" y="3529584"/>
            <a:ext cx="3840480" cy="320040"/>
          </a:xfrm>
          <a:prstGeom prst="rect">
            <a:avLst/>
          </a:prstGeom>
          <a:noFill/>
          <a:ln/>
        </p:spPr>
        <p:txBody>
          <a:bodyPr wrap="square" lIns="0" tIns="0" rIns="0" bIns="0" rtlCol="0" anchor="t"/>
          <a:lstStyle/>
          <a:p>
            <a:pPr indent="0" marL="0">
              <a:buNone/>
            </a:pPr>
            <a:r>
              <a:rPr lang="en-US" sz="1500" b="1" dirty="0">
                <a:solidFill>
                  <a:schemeClr val="bg1"/>
                </a:solidFill>
              </a:rPr>
              <a:t>Experto</a:t>
            </a:r>
            <a:endParaRPr lang="en-US" sz="1500" dirty="0"/>
          </a:p>
        </p:txBody>
      </p:sp>
      <p:sp>
        <p:nvSpPr>
          <p:cNvPr id="14" name="Text 12"/>
          <p:cNvSpPr txBox="1"/>
          <p:nvPr/>
        </p:nvSpPr>
        <p:spPr>
          <a:xfrm>
            <a:off x="1280160" y="3867912"/>
            <a:ext cx="3886200" cy="475488"/>
          </a:xfrm>
          <a:prstGeom prst="rect">
            <a:avLst/>
          </a:prstGeom>
          <a:noFill/>
          <a:ln/>
        </p:spPr>
        <p:txBody>
          <a:bodyPr wrap="square" lIns="0" tIns="0" rIns="0" bIns="0" rtlCol="0" anchor="t"/>
          <a:lstStyle/>
          <a:p>
            <a:pPr indent="0" marL="0">
              <a:buNone/>
            </a:pPr>
            <a:r>
              <a:rPr lang="en-US" sz="1300" dirty="0">
                <a:solidFill>
                  <a:schemeClr val="bg1"/>
                </a:solidFill>
              </a:rPr>
              <a:t>Lo declarativo se vuelve automático: el problema pasa a ser ejercicio (Anderson)</a:t>
            </a:r>
            <a:endParaRPr lang="en-US" sz="1300" dirty="0"/>
          </a:p>
        </p:txBody>
      </p:sp>
      <p:sp>
        <p:nvSpPr>
          <p:cNvPr id="15" name="En el artículo"/>
          <p:cNvSpPr/>
          <p:nvPr/>
        </p:nvSpPr>
        <p:spPr>
          <a:xfrm>
            <a:off x="5532120" y="1298448"/>
            <a:ext cx="3154680" cy="1920240"/>
          </a:xfrm>
          <a:prstGeom prst="roundRect">
            <a:avLst>
              <a:gd name="adj" fmla="val 3810"/>
            </a:avLst>
          </a:prstGeom>
          <a:solidFill>
            <a:srgbClr val="F1F2F6"/>
          </a:solidFill>
          <a:ln w="12700">
            <a:solidFill>
              <a:srgbClr val="F1F2F6"/>
            </a:solidFill>
            <a:prstDash val="solid"/>
          </a:ln>
        </p:spPr>
      </p:sp>
      <p:pic>
        <p:nvPicPr>
          <p:cNvPr id="16" name="Image 0" descr="Artículo">    </p:cNvPr>
          <p:cNvPicPr>
            <a:picLocks noChangeAspect="1"/>
          </p:cNvPicPr>
          <p:nvPr/>
        </p:nvPicPr>
        <p:blipFill>
          <a:blip r:embed="rId1"/>
          <a:stretch>
            <a:fillRect/>
          </a:stretch>
        </p:blipFill>
        <p:spPr>
          <a:xfrm>
            <a:off x="5715000" y="1444752"/>
            <a:ext cx="365760" cy="365760"/>
          </a:xfrm>
          <a:prstGeom prst="rect">
            <a:avLst/>
          </a:prstGeom>
        </p:spPr>
      </p:pic>
      <p:sp>
        <p:nvSpPr>
          <p:cNvPr id="17" name="Text 14"/>
          <p:cNvSpPr txBox="1"/>
          <p:nvPr/>
        </p:nvSpPr>
        <p:spPr>
          <a:xfrm>
            <a:off x="6217920" y="1444752"/>
            <a:ext cx="2377440" cy="365760"/>
          </a:xfrm>
          <a:prstGeom prst="rect">
            <a:avLst/>
          </a:prstGeom>
          <a:noFill/>
          <a:ln/>
        </p:spPr>
        <p:txBody>
          <a:bodyPr wrap="square" lIns="0" tIns="0" rIns="0" bIns="0" rtlCol="0" anchor="ctr"/>
          <a:lstStyle/>
          <a:p>
            <a:pPr indent="0" marL="0">
              <a:buNone/>
            </a:pPr>
            <a:r>
              <a:rPr lang="en-US" sz="1500" b="1" dirty="0">
                <a:solidFill>
                  <a:schemeClr val="tx1"/>
                </a:solidFill>
              </a:rPr>
              <a:t>En el artículo</a:t>
            </a:r>
            <a:endParaRPr lang="en-US" sz="1500" dirty="0"/>
          </a:p>
        </p:txBody>
      </p:sp>
      <p:sp>
        <p:nvSpPr>
          <p:cNvPr id="18" name="Text 15"/>
          <p:cNvSpPr txBox="1"/>
          <p:nvPr/>
        </p:nvSpPr>
        <p:spPr>
          <a:xfrm>
            <a:off x="5715000" y="1920240"/>
            <a:ext cx="2834640" cy="1234440"/>
          </a:xfrm>
          <a:prstGeom prst="rect">
            <a:avLst/>
          </a:prstGeom>
          <a:noFill/>
          <a:ln/>
        </p:spPr>
        <p:txBody>
          <a:bodyPr wrap="square" lIns="0" tIns="0" rIns="0" bIns="0" rtlCol="0" anchor="t"/>
          <a:lstStyle/>
          <a:p>
            <a:pPr indent="0" marL="0">
              <a:buNone/>
            </a:pPr>
            <a:r>
              <a:rPr lang="en-US" sz="1400" dirty="0">
                <a:solidFill>
                  <a:schemeClr val="tx1"/>
                </a:solidFill>
              </a:rPr>
              <a:t>Las proporciones se enseñan con fracciones: con práctica, la respuesta lógica se vuelve intuitiva.</a:t>
            </a:r>
            <a:endParaRPr lang="en-US" sz="1400" dirty="0"/>
          </a:p>
        </p:txBody>
      </p:sp>
      <p:pic>
        <p:nvPicPr>
          <p:cNvPr id="19" name="Image 1" descr="Comentario">    </p:cNvPr>
          <p:cNvPicPr>
            <a:picLocks noChangeAspect="1"/>
          </p:cNvPicPr>
          <p:nvPr/>
        </p:nvPicPr>
        <p:blipFill>
          <a:blip r:embed="rId2"/>
          <a:stretch>
            <a:fillRect/>
          </a:stretch>
        </p:blipFill>
        <p:spPr>
          <a:xfrm>
            <a:off x="5532120" y="3429000"/>
            <a:ext cx="365760" cy="365760"/>
          </a:xfrm>
          <a:prstGeom prst="rect">
            <a:avLst/>
          </a:prstGeom>
        </p:spPr>
      </p:pic>
      <p:sp>
        <p:nvSpPr>
          <p:cNvPr id="20" name="Text 16"/>
          <p:cNvSpPr txBox="1"/>
          <p:nvPr/>
        </p:nvSpPr>
        <p:spPr>
          <a:xfrm>
            <a:off x="6035040" y="3364992"/>
            <a:ext cx="2651760" cy="1005840"/>
          </a:xfrm>
          <a:prstGeom prst="rect">
            <a:avLst/>
          </a:prstGeom>
          <a:noFill/>
          <a:ln/>
        </p:spPr>
        <p:txBody>
          <a:bodyPr wrap="square" lIns="0" tIns="0" rIns="0" bIns="0" rtlCol="0" anchor="t"/>
          <a:lstStyle/>
          <a:p>
            <a:pPr indent="0" marL="0">
              <a:buNone/>
            </a:pPr>
            <a:r>
              <a:rPr lang="en-US" sz="1400" i="1" dirty="0">
                <a:solidFill>
                  <a:schemeClr val="tx1"/>
                </a:solidFill>
              </a:rPr>
              <a:t>Un comentario al artículo hace esta misma conexión y cita a Fischbein.</a:t>
            </a:r>
            <a:endParaRPr lang="en-US" sz="1400" dirty="0"/>
          </a:p>
        </p:txBody>
      </p:sp>
      <p:sp>
        <p:nvSpPr>
          <p:cNvPr id="21" name="Text 0"/>
          <p:cNvSpPr/>
          <p:nvPr>
            <p:ph idx="101" type="body" hasCustomPrompt="1"/>
          </p:nvPr>
        </p:nvSpPr>
        <p:spPr>
          <a:xfrm>
            <a:off x="457200" y="4681728"/>
            <a:ext cx="7863840" cy="347472"/>
          </a:xfrm>
          <a:prstGeom prst="rect">
            <a:avLst/>
          </a:prstGeom>
          <a:noFill/>
          <a:ln/>
        </p:spPr>
        <p:txBody>
          <a:bodyPr wrap="square" lIns="0" tIns="0" rIns="0" bIns="0" rtlCol="0" anchor="ctr"/>
          <a:lstStyle/>
          <a:p>
            <a:pPr indent="0" marL="0">
              <a:buNone/>
            </a:pPr>
            <a:r>
              <a:rPr lang="en-US" sz="1000" i="1" dirty="0">
                <a:solidFill>
                  <a:schemeClr val="tx2"/>
                </a:solidFill>
              </a:rPr>
              <a:t>De Neys (2023a, pp. 8, 13); Pérez Echeverría y Bautista (2014, pp. 7-8, 18); Pérez Echeverría (2014, p. 17); Ackerman y Morsanyi (2023, p. 20)</a:t>
            </a:r>
            <a:endParaRPr lang="en-US" sz="1000" dirty="0"/>
          </a:p>
        </p:txBody>
      </p:sp>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Etiqueta de rol"/>
          <p:cNvSpPr/>
          <p:nvPr/>
        </p:nvSpPr>
        <p:spPr>
          <a:xfrm>
            <a:off x="457200" y="201168"/>
            <a:ext cx="1463040" cy="274320"/>
          </a:xfrm>
          <a:prstGeom prst="roundRect">
            <a:avLst>
              <a:gd name="adj" fmla="val 50000"/>
            </a:avLst>
          </a:prstGeom>
          <a:solidFill>
            <a:srgbClr val="2A8C82"/>
          </a:solidFill>
          <a:ln w="12700">
            <a:solidFill>
              <a:srgbClr val="2A8C82"/>
            </a:solidFill>
            <a:prstDash val="solid"/>
          </a:ln>
        </p:spPr>
      </p:sp>
      <p:sp>
        <p:nvSpPr>
          <p:cNvPr id="3" name="Texto de etiqueta"/>
          <p:cNvSpPr txBox="1"/>
          <p:nvPr/>
        </p:nvSpPr>
        <p:spPr>
          <a:xfrm>
            <a:off x="457200" y="201168"/>
            <a:ext cx="1463040" cy="274320"/>
          </a:xfrm>
          <a:prstGeom prst="rect">
            <a:avLst/>
          </a:prstGeom>
          <a:noFill/>
          <a:ln/>
        </p:spPr>
        <p:txBody>
          <a:bodyPr wrap="square" lIns="0" tIns="0" rIns="0" bIns="0" rtlCol="0" anchor="ctr"/>
          <a:lstStyle/>
          <a:p>
            <a:pPr algn="ctr" indent="0" marL="0">
              <a:buNone/>
            </a:pPr>
            <a:r>
              <a:rPr lang="en-US" sz="1100" b="1" spc="150" kern="0" dirty="0">
                <a:solidFill>
                  <a:schemeClr val="bg1"/>
                </a:solidFill>
              </a:rPr>
              <a:t>ACIERTO 2</a:t>
            </a:r>
            <a:endParaRPr lang="en-US" sz="1100" dirty="0"/>
          </a:p>
        </p:txBody>
      </p:sp>
      <p:sp>
        <p:nvSpPr>
          <p:cNvPr id="4" name="Marca del recorrido"/>
          <p:cNvSpPr txBox="1"/>
          <p:nvPr/>
        </p:nvSpPr>
        <p:spPr>
          <a:xfrm>
            <a:off x="4114800" y="201168"/>
            <a:ext cx="4572000" cy="274320"/>
          </a:xfrm>
          <a:prstGeom prst="rect">
            <a:avLst/>
          </a:prstGeom>
          <a:noFill/>
          <a:ln/>
        </p:spPr>
        <p:txBody>
          <a:bodyPr wrap="square" lIns="0" tIns="0" rIns="0" bIns="0" rtlCol="0" anchor="ctr"/>
          <a:lstStyle/>
          <a:p>
            <a:pPr algn="r" indent="0" marL="0">
              <a:buNone/>
            </a:pPr>
            <a:r>
              <a:rPr lang="en-US" sz="1000" b="1" spc="150" kern="0" dirty="0">
                <a:solidFill>
                  <a:schemeClr val="tx2"/>
                </a:solidFill>
              </a:rPr>
              <a:t>NUESTRA LECTURA</a:t>
            </a:r>
            <a:endParaRPr lang="en-US" sz="1000" dirty="0"/>
          </a:p>
        </p:txBody>
      </p:sp>
      <p:sp>
        <p:nvSpPr>
          <p:cNvPr id="5" name="Text 0"/>
          <p:cNvSpPr/>
          <p:nvPr>
            <p:ph idx="100" type="title" hasCustomPrompt="1"/>
          </p:nvPr>
        </p:nvSpPr>
        <p:spPr>
          <a:xfrm>
            <a:off x="457200" y="566928"/>
            <a:ext cx="8229600" cy="640080"/>
          </a:xfrm>
          <a:prstGeom prst="rect">
            <a:avLst/>
          </a:prstGeom>
          <a:noFill/>
          <a:ln/>
        </p:spPr>
        <p:txBody>
          <a:bodyPr wrap="square" lIns="0" tIns="0" rIns="0" bIns="0" rtlCol="0" anchor="t"/>
          <a:lstStyle/>
          <a:p>
            <a:pPr algn="l" indent="0" marL="0">
              <a:buNone/>
            </a:pPr>
            <a:r>
              <a:rPr lang="en-US" sz="2800" b="1" dirty="0">
                <a:solidFill>
                  <a:schemeClr val="tx1"/>
                </a:solidFill>
              </a:rPr>
              <a:t>Lo intuitivo cuesta explicarse</a:t>
            </a:r>
            <a:endParaRPr lang="en-US" sz="2800" dirty="0"/>
          </a:p>
        </p:txBody>
      </p:sp>
      <p:sp>
        <p:nvSpPr>
          <p:cNvPr id="6" name="Acierto intuitivo"/>
          <p:cNvSpPr/>
          <p:nvPr/>
        </p:nvSpPr>
        <p:spPr>
          <a:xfrm>
            <a:off x="457200" y="1298448"/>
            <a:ext cx="4023360" cy="868680"/>
          </a:xfrm>
          <a:prstGeom prst="roundRect">
            <a:avLst>
              <a:gd name="adj" fmla="val 8421"/>
            </a:avLst>
          </a:prstGeom>
          <a:solidFill>
            <a:srgbClr val="F1F2F6"/>
          </a:solidFill>
          <a:ln w="12700">
            <a:solidFill>
              <a:srgbClr val="F1F2F6"/>
            </a:solidFill>
            <a:prstDash val="solid"/>
          </a:ln>
        </p:spPr>
      </p:sp>
      <p:sp>
        <p:nvSpPr>
          <p:cNvPr id="7" name="Text 5"/>
          <p:cNvSpPr txBox="1"/>
          <p:nvPr/>
        </p:nvSpPr>
        <p:spPr>
          <a:xfrm>
            <a:off x="658368" y="1298448"/>
            <a:ext cx="3657600" cy="868680"/>
          </a:xfrm>
          <a:prstGeom prst="rect">
            <a:avLst/>
          </a:prstGeom>
          <a:noFill/>
          <a:ln/>
        </p:spPr>
        <p:txBody>
          <a:bodyPr wrap="square" lIns="0" tIns="0" rIns="0" bIns="0" rtlCol="0" anchor="ctr"/>
          <a:lstStyle/>
          <a:p>
            <a:pPr indent="0" marL="0">
              <a:buNone/>
            </a:pPr>
            <a:r>
              <a:rPr lang="en-US" sz="1400" b="1" dirty="0">
                <a:solidFill>
                  <a:schemeClr val="tx1"/>
                </a:solidFill>
              </a:rPr>
              <a:t>Acierta por intuición</a:t>
            </a:r>
            <a:endParaRPr lang="en-US" sz="1400" dirty="0"/>
          </a:p>
          <a:p>
            <a:pPr indent="0" marL="0">
              <a:buNone/>
            </a:pPr>
            <a:r>
              <a:rPr lang="en-US" sz="1400" dirty="0">
                <a:solidFill>
                  <a:schemeClr val="tx1"/>
                </a:solidFill>
              </a:rPr>
              <a:t>pero no sabe justificar la respuesta</a:t>
            </a:r>
            <a:endParaRPr lang="en-US" sz="1400" dirty="0"/>
          </a:p>
        </p:txBody>
      </p:sp>
      <p:sp>
        <p:nvSpPr>
          <p:cNvPr id="8" name="Acierto deliberado"/>
          <p:cNvSpPr/>
          <p:nvPr/>
        </p:nvSpPr>
        <p:spPr>
          <a:xfrm>
            <a:off x="4663440" y="1298448"/>
            <a:ext cx="4023360" cy="868680"/>
          </a:xfrm>
          <a:prstGeom prst="roundRect">
            <a:avLst>
              <a:gd name="adj" fmla="val 8421"/>
            </a:avLst>
          </a:prstGeom>
          <a:solidFill>
            <a:srgbClr val="2A8C82"/>
          </a:solidFill>
          <a:ln w="12700">
            <a:solidFill>
              <a:srgbClr val="2A8C82"/>
            </a:solidFill>
            <a:prstDash val="solid"/>
          </a:ln>
        </p:spPr>
      </p:sp>
      <p:sp>
        <p:nvSpPr>
          <p:cNvPr id="9" name="Text 7"/>
          <p:cNvSpPr txBox="1"/>
          <p:nvPr/>
        </p:nvSpPr>
        <p:spPr>
          <a:xfrm>
            <a:off x="4864608" y="1298448"/>
            <a:ext cx="3657600" cy="868680"/>
          </a:xfrm>
          <a:prstGeom prst="rect">
            <a:avLst/>
          </a:prstGeom>
          <a:noFill/>
          <a:ln/>
        </p:spPr>
        <p:txBody>
          <a:bodyPr wrap="square" lIns="0" tIns="0" rIns="0" bIns="0" rtlCol="0" anchor="ctr"/>
          <a:lstStyle/>
          <a:p>
            <a:pPr indent="0" marL="0">
              <a:buNone/>
            </a:pPr>
            <a:r>
              <a:rPr lang="en-US" sz="1400" b="1" dirty="0">
                <a:solidFill>
                  <a:schemeClr val="bg1"/>
                </a:solidFill>
              </a:rPr>
              <a:t>Acierta tras deliberar</a:t>
            </a:r>
            <a:endParaRPr lang="en-US" sz="1400" dirty="0"/>
          </a:p>
          <a:p>
            <a:pPr indent="0" marL="0">
              <a:buNone/>
            </a:pPr>
            <a:r>
              <a:rPr lang="en-US" sz="1400" dirty="0">
                <a:solidFill>
                  <a:schemeClr val="bg1"/>
                </a:solidFill>
              </a:rPr>
              <a:t>y sí puede justificarla</a:t>
            </a:r>
            <a:endParaRPr lang="en-US" sz="1400" dirty="0"/>
          </a:p>
        </p:txBody>
      </p:sp>
      <p:sp>
        <p:nvSpPr>
          <p:cNvPr id="10" name="Text 8"/>
          <p:cNvSpPr txBox="1"/>
          <p:nvPr/>
        </p:nvSpPr>
        <p:spPr>
          <a:xfrm>
            <a:off x="457200" y="2286000"/>
            <a:ext cx="8229600" cy="320040"/>
          </a:xfrm>
          <a:prstGeom prst="rect">
            <a:avLst/>
          </a:prstGeom>
          <a:noFill/>
          <a:ln/>
        </p:spPr>
        <p:txBody>
          <a:bodyPr wrap="square" lIns="0" tIns="0" rIns="0" bIns="0" rtlCol="0" anchor="t"/>
          <a:lstStyle/>
          <a:p>
            <a:pPr indent="0" marL="0">
              <a:buNone/>
            </a:pPr>
            <a:r>
              <a:rPr lang="en-US" sz="1400" i="1" dirty="0">
                <a:solidFill>
                  <a:schemeClr val="tx2"/>
                </a:solidFill>
              </a:rPr>
              <a:t>La incertidumbre se siente, aunque uno no sepa por qué. Lo mismo vimos en la materia:</a:t>
            </a:r>
            <a:endParaRPr lang="en-US" sz="1400" dirty="0"/>
          </a:p>
        </p:txBody>
      </p:sp>
      <p:sp>
        <p:nvSpPr>
          <p:cNvPr id="11" name="Wurzburgo"/>
          <p:cNvSpPr/>
          <p:nvPr/>
        </p:nvSpPr>
        <p:spPr>
          <a:xfrm>
            <a:off x="457200" y="2743200"/>
            <a:ext cx="2606040" cy="1783080"/>
          </a:xfrm>
          <a:prstGeom prst="roundRect">
            <a:avLst>
              <a:gd name="adj" fmla="val 4103"/>
            </a:avLst>
          </a:prstGeom>
          <a:solidFill>
            <a:srgbClr val="F1F2F6"/>
          </a:solidFill>
          <a:ln w="12700">
            <a:solidFill>
              <a:srgbClr val="F1F2F6"/>
            </a:solidFill>
            <a:prstDash val="solid"/>
          </a:ln>
        </p:spPr>
      </p:sp>
      <p:pic>
        <p:nvPicPr>
          <p:cNvPr id="12" name="Image 0" descr="Wurzburgo">    </p:cNvPr>
          <p:cNvPicPr>
            <a:picLocks noChangeAspect="1"/>
          </p:cNvPicPr>
          <p:nvPr/>
        </p:nvPicPr>
        <p:blipFill>
          <a:blip r:embed="rId1"/>
          <a:stretch>
            <a:fillRect/>
          </a:stretch>
        </p:blipFill>
        <p:spPr>
          <a:xfrm>
            <a:off x="640080" y="2880360"/>
            <a:ext cx="384048" cy="384048"/>
          </a:xfrm>
          <a:prstGeom prst="rect">
            <a:avLst/>
          </a:prstGeom>
        </p:spPr>
      </p:pic>
      <p:sp>
        <p:nvSpPr>
          <p:cNvPr id="13" name="Text 10"/>
          <p:cNvSpPr txBox="1"/>
          <p:nvPr/>
        </p:nvSpPr>
        <p:spPr>
          <a:xfrm>
            <a:off x="1143000" y="2880360"/>
            <a:ext cx="1828800" cy="384048"/>
          </a:xfrm>
          <a:prstGeom prst="rect">
            <a:avLst/>
          </a:prstGeom>
          <a:noFill/>
          <a:ln/>
        </p:spPr>
        <p:txBody>
          <a:bodyPr wrap="square" lIns="0" tIns="0" rIns="0" bIns="0" rtlCol="0" anchor="ctr"/>
          <a:lstStyle/>
          <a:p>
            <a:pPr indent="0" marL="0">
              <a:buNone/>
            </a:pPr>
            <a:r>
              <a:rPr lang="en-US" sz="1500" b="1" dirty="0">
                <a:solidFill>
                  <a:schemeClr val="tx1"/>
                </a:solidFill>
              </a:rPr>
              <a:t>Wurzburgo</a:t>
            </a:r>
            <a:endParaRPr lang="en-US" sz="1500" dirty="0"/>
          </a:p>
        </p:txBody>
      </p:sp>
      <p:sp>
        <p:nvSpPr>
          <p:cNvPr id="14" name="Text 11"/>
          <p:cNvSpPr txBox="1"/>
          <p:nvPr/>
        </p:nvSpPr>
        <p:spPr>
          <a:xfrm>
            <a:off x="640080" y="3383280"/>
            <a:ext cx="2286000" cy="1097280"/>
          </a:xfrm>
          <a:prstGeom prst="rect">
            <a:avLst/>
          </a:prstGeom>
          <a:noFill/>
          <a:ln/>
        </p:spPr>
        <p:txBody>
          <a:bodyPr wrap="square" lIns="0" tIns="0" rIns="0" bIns="0" rtlCol="0" anchor="t"/>
          <a:lstStyle/>
          <a:p>
            <a:pPr indent="0" marL="0">
              <a:buNone/>
            </a:pPr>
            <a:r>
              <a:rPr lang="en-US" sz="1300" dirty="0">
                <a:solidFill>
                  <a:schemeClr val="tx1"/>
                </a:solidFill>
              </a:rPr>
              <a:t>El pensamiento es inconsciente; a la conciencia llegan sus indicadores</a:t>
            </a:r>
            <a:endParaRPr lang="en-US" sz="1300" dirty="0"/>
          </a:p>
        </p:txBody>
      </p:sp>
      <p:sp>
        <p:nvSpPr>
          <p:cNvPr id="15" name="Schoenfeld"/>
          <p:cNvSpPr/>
          <p:nvPr/>
        </p:nvSpPr>
        <p:spPr>
          <a:xfrm>
            <a:off x="3264408" y="2743200"/>
            <a:ext cx="2606040" cy="1783080"/>
          </a:xfrm>
          <a:prstGeom prst="roundRect">
            <a:avLst>
              <a:gd name="adj" fmla="val 4103"/>
            </a:avLst>
          </a:prstGeom>
          <a:solidFill>
            <a:srgbClr val="F1F2F6"/>
          </a:solidFill>
          <a:ln w="12700">
            <a:solidFill>
              <a:srgbClr val="F1F2F6"/>
            </a:solidFill>
            <a:prstDash val="solid"/>
          </a:ln>
        </p:spPr>
      </p:sp>
      <p:pic>
        <p:nvPicPr>
          <p:cNvPr id="16" name="Image 1" descr="Schoenfeld">    </p:cNvPr>
          <p:cNvPicPr>
            <a:picLocks noChangeAspect="1"/>
          </p:cNvPicPr>
          <p:nvPr/>
        </p:nvPicPr>
        <p:blipFill>
          <a:blip r:embed="rId2"/>
          <a:stretch>
            <a:fillRect/>
          </a:stretch>
        </p:blipFill>
        <p:spPr>
          <a:xfrm>
            <a:off x="3447288" y="2880360"/>
            <a:ext cx="384048" cy="384048"/>
          </a:xfrm>
          <a:prstGeom prst="rect">
            <a:avLst/>
          </a:prstGeom>
        </p:spPr>
      </p:pic>
      <p:sp>
        <p:nvSpPr>
          <p:cNvPr id="17" name="Text 13"/>
          <p:cNvSpPr txBox="1"/>
          <p:nvPr/>
        </p:nvSpPr>
        <p:spPr>
          <a:xfrm>
            <a:off x="3950208" y="2880360"/>
            <a:ext cx="1828800" cy="384048"/>
          </a:xfrm>
          <a:prstGeom prst="rect">
            <a:avLst/>
          </a:prstGeom>
          <a:noFill/>
          <a:ln/>
        </p:spPr>
        <p:txBody>
          <a:bodyPr wrap="square" lIns="0" tIns="0" rIns="0" bIns="0" rtlCol="0" anchor="ctr"/>
          <a:lstStyle/>
          <a:p>
            <a:pPr indent="0" marL="0">
              <a:buNone/>
            </a:pPr>
            <a:r>
              <a:rPr lang="en-US" sz="1500" b="1" dirty="0">
                <a:solidFill>
                  <a:schemeClr val="tx1"/>
                </a:solidFill>
              </a:rPr>
              <a:t>Schoenfeld</a:t>
            </a:r>
            <a:endParaRPr lang="en-US" sz="1500" dirty="0"/>
          </a:p>
        </p:txBody>
      </p:sp>
      <p:sp>
        <p:nvSpPr>
          <p:cNvPr id="18" name="Text 14"/>
          <p:cNvSpPr txBox="1"/>
          <p:nvPr/>
        </p:nvSpPr>
        <p:spPr>
          <a:xfrm>
            <a:off x="3447288" y="3383280"/>
            <a:ext cx="2286000" cy="1097280"/>
          </a:xfrm>
          <a:prstGeom prst="rect">
            <a:avLst/>
          </a:prstGeom>
          <a:noFill/>
          <a:ln/>
        </p:spPr>
        <p:txBody>
          <a:bodyPr wrap="square" lIns="0" tIns="0" rIns="0" bIns="0" rtlCol="0" anchor="t"/>
          <a:lstStyle/>
          <a:p>
            <a:pPr indent="0" marL="0">
              <a:buNone/>
            </a:pPr>
            <a:r>
              <a:rPr lang="en-US" sz="1300" dirty="0">
                <a:solidFill>
                  <a:schemeClr val="tx1"/>
                </a:solidFill>
              </a:rPr>
              <a:t>Los expertos sienten que «van por buen camino» sin poder explicarlo</a:t>
            </a:r>
            <a:endParaRPr lang="en-US" sz="1300" dirty="0"/>
          </a:p>
        </p:txBody>
      </p:sp>
      <p:sp>
        <p:nvSpPr>
          <p:cNvPr id="19" name="Método convergente"/>
          <p:cNvSpPr/>
          <p:nvPr/>
        </p:nvSpPr>
        <p:spPr>
          <a:xfrm>
            <a:off x="6071616" y="2743200"/>
            <a:ext cx="2606040" cy="1783080"/>
          </a:xfrm>
          <a:prstGeom prst="roundRect">
            <a:avLst>
              <a:gd name="adj" fmla="val 4103"/>
            </a:avLst>
          </a:prstGeom>
          <a:solidFill>
            <a:srgbClr val="F1F2F6"/>
          </a:solidFill>
          <a:ln w="12700">
            <a:solidFill>
              <a:srgbClr val="F1F2F6"/>
            </a:solidFill>
            <a:prstDash val="solid"/>
          </a:ln>
        </p:spPr>
      </p:sp>
      <p:pic>
        <p:nvPicPr>
          <p:cNvPr id="20" name="Image 2" descr="Método convergente">    </p:cNvPr>
          <p:cNvPicPr>
            <a:picLocks noChangeAspect="1"/>
          </p:cNvPicPr>
          <p:nvPr/>
        </p:nvPicPr>
        <p:blipFill>
          <a:blip r:embed="rId3"/>
          <a:stretch>
            <a:fillRect/>
          </a:stretch>
        </p:blipFill>
        <p:spPr>
          <a:xfrm>
            <a:off x="6254496" y="2880360"/>
            <a:ext cx="384048" cy="384048"/>
          </a:xfrm>
          <a:prstGeom prst="rect">
            <a:avLst/>
          </a:prstGeom>
        </p:spPr>
      </p:pic>
      <p:sp>
        <p:nvSpPr>
          <p:cNvPr id="21" name="Text 16"/>
          <p:cNvSpPr txBox="1"/>
          <p:nvPr/>
        </p:nvSpPr>
        <p:spPr>
          <a:xfrm>
            <a:off x="6757416" y="2880360"/>
            <a:ext cx="1828800" cy="384048"/>
          </a:xfrm>
          <a:prstGeom prst="rect">
            <a:avLst/>
          </a:prstGeom>
          <a:noFill/>
          <a:ln/>
        </p:spPr>
        <p:txBody>
          <a:bodyPr wrap="square" lIns="0" tIns="0" rIns="0" bIns="0" rtlCol="0" anchor="ctr"/>
          <a:lstStyle/>
          <a:p>
            <a:pPr indent="0" marL="0">
              <a:buNone/>
            </a:pPr>
            <a:r>
              <a:rPr lang="en-US" sz="1500" b="1" dirty="0">
                <a:solidFill>
                  <a:schemeClr val="tx1"/>
                </a:solidFill>
              </a:rPr>
              <a:t>Método convergente</a:t>
            </a:r>
            <a:endParaRPr lang="en-US" sz="1500" dirty="0"/>
          </a:p>
        </p:txBody>
      </p:sp>
      <p:sp>
        <p:nvSpPr>
          <p:cNvPr id="22" name="Text 17"/>
          <p:cNvSpPr txBox="1"/>
          <p:nvPr/>
        </p:nvSpPr>
        <p:spPr>
          <a:xfrm>
            <a:off x="6254496" y="3383280"/>
            <a:ext cx="2286000" cy="1097280"/>
          </a:xfrm>
          <a:prstGeom prst="rect">
            <a:avLst/>
          </a:prstGeom>
          <a:noFill/>
          <a:ln/>
        </p:spPr>
        <p:txBody>
          <a:bodyPr wrap="square" lIns="0" tIns="0" rIns="0" bIns="0" rtlCol="0" anchor="t"/>
          <a:lstStyle/>
          <a:p>
            <a:pPr indent="0" marL="0">
              <a:buNone/>
            </a:pPr>
            <a:r>
              <a:rPr lang="en-US" sz="1300" dirty="0">
                <a:solidFill>
                  <a:schemeClr val="tx1"/>
                </a:solidFill>
              </a:rPr>
              <a:t>Tiempos, confianza, carga y justificaciones: lo que se pedía para lo implícito</a:t>
            </a:r>
            <a:endParaRPr lang="en-US" sz="1300" dirty="0"/>
          </a:p>
        </p:txBody>
      </p:sp>
      <p:sp>
        <p:nvSpPr>
          <p:cNvPr id="23" name="Text 0"/>
          <p:cNvSpPr/>
          <p:nvPr>
            <p:ph idx="101" type="body" hasCustomPrompt="1"/>
          </p:nvPr>
        </p:nvSpPr>
        <p:spPr>
          <a:xfrm>
            <a:off x="457200" y="4681728"/>
            <a:ext cx="7863840" cy="347472"/>
          </a:xfrm>
          <a:prstGeom prst="rect">
            <a:avLst/>
          </a:prstGeom>
          <a:noFill/>
          <a:ln/>
        </p:spPr>
        <p:txBody>
          <a:bodyPr wrap="square" lIns="0" tIns="0" rIns="0" bIns="0" rtlCol="0" anchor="ctr"/>
          <a:lstStyle/>
          <a:p>
            <a:pPr indent="0" marL="0">
              <a:buNone/>
            </a:pPr>
            <a:r>
              <a:rPr lang="en-US" sz="1000" i="1" dirty="0">
                <a:solidFill>
                  <a:schemeClr val="tx2"/>
                </a:solidFill>
              </a:rPr>
              <a:t>De Neys (2023a, p. 12; 2023b, p. 70); González Labra (s. f., p. 6); Pérez Echeverría (2014, p. 18); Pérez Echeverría y Bautista (2014, pp. 18-19)</a:t>
            </a:r>
            <a:endParaRPr lang="en-US" sz="1000" dirty="0"/>
          </a:p>
        </p:txBody>
      </p:sp>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Etiqueta de rol"/>
          <p:cNvSpPr/>
          <p:nvPr/>
        </p:nvSpPr>
        <p:spPr>
          <a:xfrm>
            <a:off x="457200" y="201168"/>
            <a:ext cx="1463040" cy="274320"/>
          </a:xfrm>
          <a:prstGeom prst="roundRect">
            <a:avLst>
              <a:gd name="adj" fmla="val 50000"/>
            </a:avLst>
          </a:prstGeom>
          <a:solidFill>
            <a:srgbClr val="D2553F"/>
          </a:solidFill>
          <a:ln w="12700">
            <a:solidFill>
              <a:srgbClr val="D2553F"/>
            </a:solidFill>
            <a:prstDash val="solid"/>
          </a:ln>
        </p:spPr>
      </p:sp>
      <p:sp>
        <p:nvSpPr>
          <p:cNvPr id="3" name="Texto de etiqueta"/>
          <p:cNvSpPr txBox="1"/>
          <p:nvPr/>
        </p:nvSpPr>
        <p:spPr>
          <a:xfrm>
            <a:off x="457200" y="201168"/>
            <a:ext cx="1463040" cy="274320"/>
          </a:xfrm>
          <a:prstGeom prst="rect">
            <a:avLst/>
          </a:prstGeom>
          <a:noFill/>
          <a:ln/>
        </p:spPr>
        <p:txBody>
          <a:bodyPr wrap="square" lIns="0" tIns="0" rIns="0" bIns="0" rtlCol="0" anchor="ctr"/>
          <a:lstStyle/>
          <a:p>
            <a:pPr algn="ctr" indent="0" marL="0">
              <a:buNone/>
            </a:pPr>
            <a:r>
              <a:rPr lang="en-US" sz="1100" b="1" spc="150" kern="0" dirty="0">
                <a:solidFill>
                  <a:schemeClr val="bg1"/>
                </a:solidFill>
              </a:rPr>
              <a:t>CRÍTICA 1</a:t>
            </a:r>
            <a:endParaRPr lang="en-US" sz="1100" dirty="0"/>
          </a:p>
        </p:txBody>
      </p:sp>
      <p:sp>
        <p:nvSpPr>
          <p:cNvPr id="4" name="Marca del recorrido"/>
          <p:cNvSpPr txBox="1"/>
          <p:nvPr/>
        </p:nvSpPr>
        <p:spPr>
          <a:xfrm>
            <a:off x="4114800" y="201168"/>
            <a:ext cx="4572000" cy="274320"/>
          </a:xfrm>
          <a:prstGeom prst="rect">
            <a:avLst/>
          </a:prstGeom>
          <a:noFill/>
          <a:ln/>
        </p:spPr>
        <p:txBody>
          <a:bodyPr wrap="square" lIns="0" tIns="0" rIns="0" bIns="0" rtlCol="0" anchor="ctr"/>
          <a:lstStyle/>
          <a:p>
            <a:pPr algn="r" indent="0" marL="0">
              <a:buNone/>
            </a:pPr>
            <a:r>
              <a:rPr lang="en-US" sz="1000" b="1" spc="150" kern="0" dirty="0">
                <a:solidFill>
                  <a:schemeClr val="tx2"/>
                </a:solidFill>
              </a:rPr>
              <a:t>ARTÍCULO · SECCIÓN 4</a:t>
            </a:r>
            <a:endParaRPr lang="en-US" sz="1000" dirty="0"/>
          </a:p>
        </p:txBody>
      </p:sp>
      <p:sp>
        <p:nvSpPr>
          <p:cNvPr id="5" name="Text 0"/>
          <p:cNvSpPr/>
          <p:nvPr>
            <p:ph idx="100" type="title" hasCustomPrompt="1"/>
          </p:nvPr>
        </p:nvSpPr>
        <p:spPr>
          <a:xfrm>
            <a:off x="457200" y="566928"/>
            <a:ext cx="8229600" cy="640080"/>
          </a:xfrm>
          <a:prstGeom prst="rect">
            <a:avLst/>
          </a:prstGeom>
          <a:noFill/>
          <a:ln/>
        </p:spPr>
        <p:txBody>
          <a:bodyPr wrap="square" lIns="0" tIns="0" rIns="0" bIns="0" rtlCol="0" anchor="t"/>
          <a:lstStyle/>
          <a:p>
            <a:pPr algn="l" indent="0" marL="0">
              <a:buNone/>
            </a:pPr>
            <a:r>
              <a:rPr lang="en-US" sz="2800" b="1" dirty="0">
                <a:solidFill>
                  <a:schemeClr val="tx1"/>
                </a:solidFill>
              </a:rPr>
              <a:t>Lo que el propio autor reconoce</a:t>
            </a:r>
            <a:endParaRPr lang="en-US" sz="2800" dirty="0"/>
          </a:p>
        </p:txBody>
      </p:sp>
      <p:sp>
        <p:nvSpPr>
          <p:cNvPr id="6" name="Reconoce 1"/>
          <p:cNvSpPr/>
          <p:nvPr/>
        </p:nvSpPr>
        <p:spPr>
          <a:xfrm>
            <a:off x="457200" y="1298448"/>
            <a:ext cx="4023360" cy="1463040"/>
          </a:xfrm>
          <a:prstGeom prst="roundRect">
            <a:avLst>
              <a:gd name="adj" fmla="val 5000"/>
            </a:avLst>
          </a:prstGeom>
          <a:solidFill>
            <a:srgbClr val="F1F2F6"/>
          </a:solidFill>
          <a:ln w="12700">
            <a:solidFill>
              <a:srgbClr val="F1F2F6"/>
            </a:solidFill>
            <a:prstDash val="solid"/>
          </a:ln>
        </p:spPr>
      </p:sp>
      <p:pic>
        <p:nvPicPr>
          <p:cNvPr id="7" name="Image 0" descr="Límite">    </p:cNvPr>
          <p:cNvPicPr>
            <a:picLocks noChangeAspect="1"/>
          </p:cNvPicPr>
          <p:nvPr/>
        </p:nvPicPr>
        <p:blipFill>
          <a:blip r:embed="rId1"/>
          <a:stretch>
            <a:fillRect/>
          </a:stretch>
        </p:blipFill>
        <p:spPr>
          <a:xfrm>
            <a:off x="658368" y="1499616"/>
            <a:ext cx="347472" cy="347472"/>
          </a:xfrm>
          <a:prstGeom prst="rect">
            <a:avLst/>
          </a:prstGeom>
        </p:spPr>
      </p:pic>
      <p:sp>
        <p:nvSpPr>
          <p:cNvPr id="8" name="Text 5"/>
          <p:cNvSpPr txBox="1"/>
          <p:nvPr/>
        </p:nvSpPr>
        <p:spPr>
          <a:xfrm>
            <a:off x="1188720" y="1463040"/>
            <a:ext cx="3108960" cy="914400"/>
          </a:xfrm>
          <a:prstGeom prst="rect">
            <a:avLst/>
          </a:prstGeom>
          <a:noFill/>
          <a:ln/>
        </p:spPr>
        <p:txBody>
          <a:bodyPr wrap="square" lIns="0" tIns="0" rIns="0" bIns="0" rtlCol="0" anchor="t"/>
          <a:lstStyle/>
          <a:p>
            <a:pPr indent="0" marL="0">
              <a:buNone/>
            </a:pPr>
            <a:r>
              <a:rPr lang="en-US" sz="1500" b="1" dirty="0">
                <a:solidFill>
                  <a:schemeClr val="tx1"/>
                </a:solidFill>
              </a:rPr>
              <a:t>Es una descripción verbal, no un modelo computacional</a:t>
            </a:r>
            <a:endParaRPr lang="en-US" sz="1500" dirty="0"/>
          </a:p>
        </p:txBody>
      </p:sp>
      <p:sp>
        <p:nvSpPr>
          <p:cNvPr id="9" name="Text 6"/>
          <p:cNvSpPr txBox="1"/>
          <p:nvPr/>
        </p:nvSpPr>
        <p:spPr>
          <a:xfrm>
            <a:off x="1188720" y="2377440"/>
            <a:ext cx="3108960" cy="274320"/>
          </a:xfrm>
          <a:prstGeom prst="rect">
            <a:avLst/>
          </a:prstGeom>
          <a:noFill/>
          <a:ln/>
        </p:spPr>
        <p:txBody>
          <a:bodyPr wrap="square" lIns="0" tIns="0" rIns="0" bIns="0" rtlCol="0" anchor="t"/>
          <a:lstStyle/>
          <a:p>
            <a:pPr indent="0" marL="0">
              <a:buNone/>
            </a:pPr>
            <a:r>
              <a:rPr lang="en-US" sz="1100" dirty="0">
                <a:solidFill>
                  <a:schemeClr val="tx2"/>
                </a:solidFill>
              </a:rPr>
              <a:t>De Neys (2023a, pp. 11, 14)</a:t>
            </a:r>
            <a:endParaRPr lang="en-US" sz="1100" dirty="0"/>
          </a:p>
        </p:txBody>
      </p:sp>
      <p:sp>
        <p:nvSpPr>
          <p:cNvPr id="10" name="Reconoce 2"/>
          <p:cNvSpPr/>
          <p:nvPr/>
        </p:nvSpPr>
        <p:spPr>
          <a:xfrm>
            <a:off x="4663440" y="1298448"/>
            <a:ext cx="4023360" cy="1463040"/>
          </a:xfrm>
          <a:prstGeom prst="roundRect">
            <a:avLst>
              <a:gd name="adj" fmla="val 5000"/>
            </a:avLst>
          </a:prstGeom>
          <a:solidFill>
            <a:srgbClr val="F1F2F6"/>
          </a:solidFill>
          <a:ln w="12700">
            <a:solidFill>
              <a:srgbClr val="F1F2F6"/>
            </a:solidFill>
            <a:prstDash val="solid"/>
          </a:ln>
        </p:spPr>
      </p:sp>
      <p:pic>
        <p:nvPicPr>
          <p:cNvPr id="11" name="Image 1" descr="Límite">    </p:cNvPr>
          <p:cNvPicPr>
            <a:picLocks noChangeAspect="1"/>
          </p:cNvPicPr>
          <p:nvPr/>
        </p:nvPicPr>
        <p:blipFill>
          <a:blip r:embed="rId2"/>
          <a:stretch>
            <a:fillRect/>
          </a:stretch>
        </p:blipFill>
        <p:spPr>
          <a:xfrm>
            <a:off x="4864608" y="1499616"/>
            <a:ext cx="347472" cy="347472"/>
          </a:xfrm>
          <a:prstGeom prst="rect">
            <a:avLst/>
          </a:prstGeom>
        </p:spPr>
      </p:pic>
      <p:sp>
        <p:nvSpPr>
          <p:cNvPr id="12" name="Text 8"/>
          <p:cNvSpPr txBox="1"/>
          <p:nvPr/>
        </p:nvSpPr>
        <p:spPr>
          <a:xfrm>
            <a:off x="5394960" y="1463040"/>
            <a:ext cx="3108960" cy="914400"/>
          </a:xfrm>
          <a:prstGeom prst="rect">
            <a:avLst/>
          </a:prstGeom>
          <a:noFill/>
          <a:ln/>
        </p:spPr>
        <p:txBody>
          <a:bodyPr wrap="square" lIns="0" tIns="0" rIns="0" bIns="0" rtlCol="0" anchor="t"/>
          <a:lstStyle/>
          <a:p>
            <a:pPr indent="0" marL="0">
              <a:buNone/>
            </a:pPr>
            <a:r>
              <a:rPr lang="en-US" sz="1500" b="1" dirty="0">
                <a:solidFill>
                  <a:schemeClr val="tx1"/>
                </a:solidFill>
              </a:rPr>
              <a:t>La fórmula de la incertidumbre es probablemente una simplificación</a:t>
            </a:r>
            <a:endParaRPr lang="en-US" sz="1500" dirty="0"/>
          </a:p>
        </p:txBody>
      </p:sp>
      <p:sp>
        <p:nvSpPr>
          <p:cNvPr id="13" name="Text 9"/>
          <p:cNvSpPr txBox="1"/>
          <p:nvPr/>
        </p:nvSpPr>
        <p:spPr>
          <a:xfrm>
            <a:off x="5394960" y="2377440"/>
            <a:ext cx="3108960" cy="274320"/>
          </a:xfrm>
          <a:prstGeom prst="rect">
            <a:avLst/>
          </a:prstGeom>
          <a:noFill/>
          <a:ln/>
        </p:spPr>
        <p:txBody>
          <a:bodyPr wrap="square" lIns="0" tIns="0" rIns="0" bIns="0" rtlCol="0" anchor="t"/>
          <a:lstStyle/>
          <a:p>
            <a:pPr indent="0" marL="0">
              <a:buNone/>
            </a:pPr>
            <a:r>
              <a:rPr lang="en-US" sz="1100" dirty="0">
                <a:solidFill>
                  <a:schemeClr val="tx2"/>
                </a:solidFill>
              </a:rPr>
              <a:t>De Neys (2023a, p. 12)</a:t>
            </a:r>
            <a:endParaRPr lang="en-US" sz="1100" dirty="0"/>
          </a:p>
        </p:txBody>
      </p:sp>
      <p:sp>
        <p:nvSpPr>
          <p:cNvPr id="14" name="Reconoce 3"/>
          <p:cNvSpPr/>
          <p:nvPr/>
        </p:nvSpPr>
        <p:spPr>
          <a:xfrm>
            <a:off x="457200" y="2944368"/>
            <a:ext cx="4023360" cy="1463040"/>
          </a:xfrm>
          <a:prstGeom prst="roundRect">
            <a:avLst>
              <a:gd name="adj" fmla="val 5000"/>
            </a:avLst>
          </a:prstGeom>
          <a:solidFill>
            <a:srgbClr val="F1F2F6"/>
          </a:solidFill>
          <a:ln w="12700">
            <a:solidFill>
              <a:srgbClr val="F1F2F6"/>
            </a:solidFill>
            <a:prstDash val="solid"/>
          </a:ln>
        </p:spPr>
      </p:sp>
      <p:pic>
        <p:nvPicPr>
          <p:cNvPr id="15" name="Image 2" descr="Límite">    </p:cNvPr>
          <p:cNvPicPr>
            <a:picLocks noChangeAspect="1"/>
          </p:cNvPicPr>
          <p:nvPr/>
        </p:nvPicPr>
        <p:blipFill>
          <a:blip r:embed="rId3"/>
          <a:stretch>
            <a:fillRect/>
          </a:stretch>
        </p:blipFill>
        <p:spPr>
          <a:xfrm>
            <a:off x="658368" y="3145536"/>
            <a:ext cx="347472" cy="347472"/>
          </a:xfrm>
          <a:prstGeom prst="rect">
            <a:avLst/>
          </a:prstGeom>
        </p:spPr>
      </p:pic>
      <p:sp>
        <p:nvSpPr>
          <p:cNvPr id="16" name="Text 11"/>
          <p:cNvSpPr txBox="1"/>
          <p:nvPr/>
        </p:nvSpPr>
        <p:spPr>
          <a:xfrm>
            <a:off x="1188720" y="3108960"/>
            <a:ext cx="3108960" cy="914400"/>
          </a:xfrm>
          <a:prstGeom prst="rect">
            <a:avLst/>
          </a:prstGeom>
          <a:noFill/>
          <a:ln/>
        </p:spPr>
        <p:txBody>
          <a:bodyPr wrap="square" lIns="0" tIns="0" rIns="0" bIns="0" rtlCol="0" anchor="t"/>
          <a:lstStyle/>
          <a:p>
            <a:pPr indent="0" marL="0">
              <a:buNone/>
            </a:pPr>
            <a:r>
              <a:rPr lang="en-US" sz="1500" b="1" dirty="0">
                <a:solidFill>
                  <a:schemeClr val="tx1"/>
                </a:solidFill>
              </a:rPr>
              <a:t>Hay poca evidencia directa de la automatización</a:t>
            </a:r>
            <a:endParaRPr lang="en-US" sz="1500" dirty="0"/>
          </a:p>
        </p:txBody>
      </p:sp>
      <p:sp>
        <p:nvSpPr>
          <p:cNvPr id="17" name="Text 12"/>
          <p:cNvSpPr txBox="1"/>
          <p:nvPr/>
        </p:nvSpPr>
        <p:spPr>
          <a:xfrm>
            <a:off x="1188720" y="4023360"/>
            <a:ext cx="3108960" cy="274320"/>
          </a:xfrm>
          <a:prstGeom prst="rect">
            <a:avLst/>
          </a:prstGeom>
          <a:noFill/>
          <a:ln/>
        </p:spPr>
        <p:txBody>
          <a:bodyPr wrap="square" lIns="0" tIns="0" rIns="0" bIns="0" rtlCol="0" anchor="t"/>
          <a:lstStyle/>
          <a:p>
            <a:pPr indent="0" marL="0">
              <a:buNone/>
            </a:pPr>
            <a:r>
              <a:rPr lang="en-US" sz="1100" dirty="0">
                <a:solidFill>
                  <a:schemeClr val="tx2"/>
                </a:solidFill>
              </a:rPr>
              <a:t>De Neys (2023a, p. 13)</a:t>
            </a:r>
            <a:endParaRPr lang="en-US" sz="1100" dirty="0"/>
          </a:p>
        </p:txBody>
      </p:sp>
      <p:sp>
        <p:nvSpPr>
          <p:cNvPr id="18" name="Reconoce 4"/>
          <p:cNvSpPr/>
          <p:nvPr/>
        </p:nvSpPr>
        <p:spPr>
          <a:xfrm>
            <a:off x="4663440" y="2944368"/>
            <a:ext cx="4023360" cy="1463040"/>
          </a:xfrm>
          <a:prstGeom prst="roundRect">
            <a:avLst>
              <a:gd name="adj" fmla="val 5000"/>
            </a:avLst>
          </a:prstGeom>
          <a:solidFill>
            <a:srgbClr val="F1F2F6"/>
          </a:solidFill>
          <a:ln w="12700">
            <a:solidFill>
              <a:srgbClr val="F1F2F6"/>
            </a:solidFill>
            <a:prstDash val="solid"/>
          </a:ln>
        </p:spPr>
      </p:sp>
      <p:pic>
        <p:nvPicPr>
          <p:cNvPr id="19" name="Image 3" descr="Límite">    </p:cNvPr>
          <p:cNvPicPr>
            <a:picLocks noChangeAspect="1"/>
          </p:cNvPicPr>
          <p:nvPr/>
        </p:nvPicPr>
        <p:blipFill>
          <a:blip r:embed="rId4"/>
          <a:stretch>
            <a:fillRect/>
          </a:stretch>
        </p:blipFill>
        <p:spPr>
          <a:xfrm>
            <a:off x="4864608" y="3145536"/>
            <a:ext cx="347472" cy="347472"/>
          </a:xfrm>
          <a:prstGeom prst="rect">
            <a:avLst/>
          </a:prstGeom>
        </p:spPr>
      </p:pic>
      <p:sp>
        <p:nvSpPr>
          <p:cNvPr id="20" name="Text 14"/>
          <p:cNvSpPr txBox="1"/>
          <p:nvPr/>
        </p:nvSpPr>
        <p:spPr>
          <a:xfrm>
            <a:off x="5394960" y="3108960"/>
            <a:ext cx="3108960" cy="914400"/>
          </a:xfrm>
          <a:prstGeom prst="rect">
            <a:avLst/>
          </a:prstGeom>
          <a:noFill/>
          <a:ln/>
        </p:spPr>
        <p:txBody>
          <a:bodyPr wrap="square" lIns="0" tIns="0" rIns="0" bIns="0" rtlCol="0" anchor="t"/>
          <a:lstStyle/>
          <a:p>
            <a:pPr indent="0" marL="0">
              <a:buNone/>
            </a:pPr>
            <a:r>
              <a:rPr lang="en-US" sz="1500" b="1" dirty="0">
                <a:solidFill>
                  <a:schemeClr val="tx1"/>
                </a:solidFill>
              </a:rPr>
              <a:t>No hay un umbral que separe intuición y deliberación: la exclusividad no se puede refutar del todo</a:t>
            </a:r>
            <a:endParaRPr lang="en-US" sz="1500" dirty="0"/>
          </a:p>
        </p:txBody>
      </p:sp>
      <p:sp>
        <p:nvSpPr>
          <p:cNvPr id="21" name="Text 15"/>
          <p:cNvSpPr txBox="1"/>
          <p:nvPr/>
        </p:nvSpPr>
        <p:spPr>
          <a:xfrm>
            <a:off x="5394960" y="4023360"/>
            <a:ext cx="3108960" cy="274320"/>
          </a:xfrm>
          <a:prstGeom prst="rect">
            <a:avLst/>
          </a:prstGeom>
          <a:noFill/>
          <a:ln/>
        </p:spPr>
        <p:txBody>
          <a:bodyPr wrap="square" lIns="0" tIns="0" rIns="0" bIns="0" rtlCol="0" anchor="t"/>
          <a:lstStyle/>
          <a:p>
            <a:pPr indent="0" marL="0">
              <a:buNone/>
            </a:pPr>
            <a:r>
              <a:rPr lang="en-US" sz="1100" dirty="0">
                <a:solidFill>
                  <a:schemeClr val="tx2"/>
                </a:solidFill>
              </a:rPr>
              <a:t>De Neys (2023a, p. 5)</a:t>
            </a:r>
            <a:endParaRPr lang="en-US" sz="1100" dirty="0"/>
          </a:p>
        </p:txBody>
      </p:sp>
      <p:sp>
        <p:nvSpPr>
          <p:cNvPr id="22" name="Text 0"/>
          <p:cNvSpPr/>
          <p:nvPr>
            <p:ph idx="101" type="body" hasCustomPrompt="1"/>
          </p:nvPr>
        </p:nvSpPr>
        <p:spPr>
          <a:xfrm>
            <a:off x="457200" y="4681728"/>
            <a:ext cx="7863840" cy="347472"/>
          </a:xfrm>
          <a:prstGeom prst="rect">
            <a:avLst/>
          </a:prstGeom>
          <a:noFill/>
          <a:ln/>
        </p:spPr>
        <p:txBody>
          <a:bodyPr wrap="square" lIns="0" tIns="0" rIns="0" bIns="0" rtlCol="0" anchor="ctr"/>
          <a:lstStyle/>
          <a:p>
            <a:pPr indent="0" marL="0">
              <a:buNone/>
            </a:pPr>
            <a:r>
              <a:rPr lang="en-US" sz="1000" i="1" dirty="0">
                <a:solidFill>
                  <a:schemeClr val="tx2"/>
                </a:solidFill>
              </a:rPr>
              <a:t>Sección 4, «Perspectivas»: el modelo es «de trabajo», está en construcción</a:t>
            </a:r>
            <a:endParaRPr lang="en-US" sz="1000" dirty="0"/>
          </a:p>
        </p:txBody>
      </p:sp>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Etiqueta de rol"/>
          <p:cNvSpPr/>
          <p:nvPr/>
        </p:nvSpPr>
        <p:spPr>
          <a:xfrm>
            <a:off x="457200" y="201168"/>
            <a:ext cx="1463040" cy="274320"/>
          </a:xfrm>
          <a:prstGeom prst="roundRect">
            <a:avLst>
              <a:gd name="adj" fmla="val 50000"/>
            </a:avLst>
          </a:prstGeom>
          <a:solidFill>
            <a:srgbClr val="D2553F"/>
          </a:solidFill>
          <a:ln w="12700">
            <a:solidFill>
              <a:srgbClr val="D2553F"/>
            </a:solidFill>
            <a:prstDash val="solid"/>
          </a:ln>
        </p:spPr>
      </p:sp>
      <p:sp>
        <p:nvSpPr>
          <p:cNvPr id="3" name="Texto de etiqueta"/>
          <p:cNvSpPr txBox="1"/>
          <p:nvPr/>
        </p:nvSpPr>
        <p:spPr>
          <a:xfrm>
            <a:off x="457200" y="201168"/>
            <a:ext cx="1463040" cy="274320"/>
          </a:xfrm>
          <a:prstGeom prst="rect">
            <a:avLst/>
          </a:prstGeom>
          <a:noFill/>
          <a:ln/>
        </p:spPr>
        <p:txBody>
          <a:bodyPr wrap="square" lIns="0" tIns="0" rIns="0" bIns="0" rtlCol="0" anchor="ctr"/>
          <a:lstStyle/>
          <a:p>
            <a:pPr algn="ctr" indent="0" marL="0">
              <a:buNone/>
            </a:pPr>
            <a:r>
              <a:rPr lang="en-US" sz="1100" b="1" spc="150" kern="0" dirty="0">
                <a:solidFill>
                  <a:schemeClr val="bg1"/>
                </a:solidFill>
              </a:rPr>
              <a:t>CRÍTICA 1</a:t>
            </a:r>
            <a:endParaRPr lang="en-US" sz="1100" dirty="0"/>
          </a:p>
        </p:txBody>
      </p:sp>
      <p:sp>
        <p:nvSpPr>
          <p:cNvPr id="4" name="Marca del recorrido"/>
          <p:cNvSpPr txBox="1"/>
          <p:nvPr/>
        </p:nvSpPr>
        <p:spPr>
          <a:xfrm>
            <a:off x="4114800" y="201168"/>
            <a:ext cx="4572000" cy="274320"/>
          </a:xfrm>
          <a:prstGeom prst="rect">
            <a:avLst/>
          </a:prstGeom>
          <a:noFill/>
          <a:ln/>
        </p:spPr>
        <p:txBody>
          <a:bodyPr wrap="square" lIns="0" tIns="0" rIns="0" bIns="0" rtlCol="0" anchor="ctr"/>
          <a:lstStyle/>
          <a:p>
            <a:pPr algn="r" indent="0" marL="0">
              <a:buNone/>
            </a:pPr>
            <a:r>
              <a:rPr lang="en-US" sz="1000" b="1" spc="150" kern="0" dirty="0">
                <a:solidFill>
                  <a:schemeClr val="tx2"/>
                </a:solidFill>
              </a:rPr>
              <a:t>NUESTRA LECTURA</a:t>
            </a:r>
            <a:endParaRPr lang="en-US" sz="1000" dirty="0"/>
          </a:p>
        </p:txBody>
      </p:sp>
      <p:sp>
        <p:nvSpPr>
          <p:cNvPr id="5" name="Text 0"/>
          <p:cNvSpPr/>
          <p:nvPr>
            <p:ph idx="100" type="title" hasCustomPrompt="1"/>
          </p:nvPr>
        </p:nvSpPr>
        <p:spPr>
          <a:xfrm>
            <a:off x="457200" y="566928"/>
            <a:ext cx="8229600" cy="640080"/>
          </a:xfrm>
          <a:prstGeom prst="rect">
            <a:avLst/>
          </a:prstGeom>
          <a:noFill/>
          <a:ln/>
        </p:spPr>
        <p:txBody>
          <a:bodyPr wrap="square" lIns="0" tIns="0" rIns="0" bIns="0" rtlCol="0" anchor="t"/>
          <a:lstStyle/>
          <a:p>
            <a:pPr algn="l" indent="0" marL="0">
              <a:buNone/>
            </a:pPr>
            <a:r>
              <a:rPr lang="en-US" sz="2800" b="1" dirty="0">
                <a:solidFill>
                  <a:schemeClr val="tx1"/>
                </a:solidFill>
              </a:rPr>
              <a:t>¿Umbral o continuo?</a:t>
            </a:r>
            <a:endParaRPr lang="en-US" sz="2800" dirty="0"/>
          </a:p>
        </p:txBody>
      </p:sp>
      <p:sp>
        <p:nvSpPr>
          <p:cNvPr id="6" name="Text 4"/>
          <p:cNvSpPr txBox="1"/>
          <p:nvPr/>
        </p:nvSpPr>
        <p:spPr>
          <a:xfrm>
            <a:off x="457200" y="1298448"/>
            <a:ext cx="4023360" cy="320040"/>
          </a:xfrm>
          <a:prstGeom prst="rect">
            <a:avLst/>
          </a:prstGeom>
          <a:noFill/>
          <a:ln/>
        </p:spPr>
        <p:txBody>
          <a:bodyPr wrap="square" lIns="0" tIns="0" rIns="0" bIns="0" rtlCol="0" anchor="t"/>
          <a:lstStyle/>
          <a:p>
            <a:pPr indent="0" marL="0">
              <a:buNone/>
            </a:pPr>
            <a:r>
              <a:rPr lang="en-US" sz="1500" b="1" dirty="0">
                <a:solidFill>
                  <a:schemeClr val="tx1"/>
                </a:solidFill>
              </a:rPr>
              <a:t>Lo que vimos en la materia: un continuo</a:t>
            </a:r>
            <a:endParaRPr lang="en-US" sz="1500" dirty="0"/>
          </a:p>
        </p:txBody>
      </p:sp>
      <p:sp>
        <p:nvSpPr>
          <p:cNvPr id="7" name="Continuo 1"/>
          <p:cNvSpPr/>
          <p:nvPr/>
        </p:nvSpPr>
        <p:spPr>
          <a:xfrm>
            <a:off x="457200" y="1691640"/>
            <a:ext cx="804672" cy="384048"/>
          </a:xfrm>
          <a:prstGeom prst="rect">
            <a:avLst/>
          </a:prstGeom>
          <a:solidFill>
            <a:srgbClr val="F3C98B"/>
          </a:solidFill>
          <a:ln w="12700">
            <a:solidFill>
              <a:srgbClr val="F3C98B"/>
            </a:solidFill>
            <a:prstDash val="solid"/>
          </a:ln>
        </p:spPr>
      </p:sp>
      <p:sp>
        <p:nvSpPr>
          <p:cNvPr id="8" name="Continuo 2"/>
          <p:cNvSpPr/>
          <p:nvPr/>
        </p:nvSpPr>
        <p:spPr>
          <a:xfrm>
            <a:off x="1261872" y="1691640"/>
            <a:ext cx="804672" cy="384048"/>
          </a:xfrm>
          <a:prstGeom prst="rect">
            <a:avLst/>
          </a:prstGeom>
          <a:solidFill>
            <a:srgbClr val="E9A23B"/>
          </a:solidFill>
          <a:ln w="12700">
            <a:solidFill>
              <a:srgbClr val="E9A23B"/>
            </a:solidFill>
            <a:prstDash val="solid"/>
          </a:ln>
        </p:spPr>
      </p:sp>
      <p:sp>
        <p:nvSpPr>
          <p:cNvPr id="9" name="Continuo 3"/>
          <p:cNvSpPr/>
          <p:nvPr/>
        </p:nvSpPr>
        <p:spPr>
          <a:xfrm>
            <a:off x="2066544" y="1691640"/>
            <a:ext cx="804672" cy="384048"/>
          </a:xfrm>
          <a:prstGeom prst="rect">
            <a:avLst/>
          </a:prstGeom>
          <a:solidFill>
            <a:srgbClr val="B59A5E"/>
          </a:solidFill>
          <a:ln w="12700">
            <a:solidFill>
              <a:srgbClr val="B59A5E"/>
            </a:solidFill>
            <a:prstDash val="solid"/>
          </a:ln>
        </p:spPr>
      </p:sp>
      <p:sp>
        <p:nvSpPr>
          <p:cNvPr id="10" name="Continuo 4"/>
          <p:cNvSpPr/>
          <p:nvPr/>
        </p:nvSpPr>
        <p:spPr>
          <a:xfrm>
            <a:off x="2871216" y="1691640"/>
            <a:ext cx="804672" cy="384048"/>
          </a:xfrm>
          <a:prstGeom prst="rect">
            <a:avLst/>
          </a:prstGeom>
          <a:solidFill>
            <a:srgbClr val="6F9A85"/>
          </a:solidFill>
          <a:ln w="12700">
            <a:solidFill>
              <a:srgbClr val="6F9A85"/>
            </a:solidFill>
            <a:prstDash val="solid"/>
          </a:ln>
        </p:spPr>
      </p:sp>
      <p:sp>
        <p:nvSpPr>
          <p:cNvPr id="11" name="Continuo 5"/>
          <p:cNvSpPr/>
          <p:nvPr/>
        </p:nvSpPr>
        <p:spPr>
          <a:xfrm>
            <a:off x="3675888" y="1691640"/>
            <a:ext cx="804672" cy="384048"/>
          </a:xfrm>
          <a:prstGeom prst="rect">
            <a:avLst/>
          </a:prstGeom>
          <a:solidFill>
            <a:srgbClr val="2A8C82"/>
          </a:solidFill>
          <a:ln w="12700">
            <a:solidFill>
              <a:srgbClr val="2A8C82"/>
            </a:solidFill>
            <a:prstDash val="solid"/>
          </a:ln>
        </p:spPr>
      </p:sp>
      <p:sp>
        <p:nvSpPr>
          <p:cNvPr id="12" name="Text 10"/>
          <p:cNvSpPr txBox="1"/>
          <p:nvPr/>
        </p:nvSpPr>
        <p:spPr>
          <a:xfrm>
            <a:off x="457200" y="2121408"/>
            <a:ext cx="1371600" cy="274320"/>
          </a:xfrm>
          <a:prstGeom prst="rect">
            <a:avLst/>
          </a:prstGeom>
          <a:noFill/>
          <a:ln/>
        </p:spPr>
        <p:txBody>
          <a:bodyPr wrap="square" lIns="0" tIns="0" rIns="0" bIns="0" rtlCol="0" anchor="t"/>
          <a:lstStyle/>
          <a:p>
            <a:pPr indent="0" marL="0">
              <a:buNone/>
            </a:pPr>
            <a:r>
              <a:rPr lang="en-US" sz="1200" dirty="0">
                <a:solidFill>
                  <a:schemeClr val="tx2"/>
                </a:solidFill>
              </a:rPr>
              <a:t>implícito</a:t>
            </a:r>
            <a:endParaRPr lang="en-US" sz="1200" dirty="0"/>
          </a:p>
        </p:txBody>
      </p:sp>
      <p:sp>
        <p:nvSpPr>
          <p:cNvPr id="13" name="Text 11"/>
          <p:cNvSpPr txBox="1"/>
          <p:nvPr/>
        </p:nvSpPr>
        <p:spPr>
          <a:xfrm>
            <a:off x="3108960" y="2121408"/>
            <a:ext cx="1371600" cy="274320"/>
          </a:xfrm>
          <a:prstGeom prst="rect">
            <a:avLst/>
          </a:prstGeom>
          <a:noFill/>
          <a:ln/>
        </p:spPr>
        <p:txBody>
          <a:bodyPr wrap="square" lIns="0" tIns="0" rIns="0" bIns="0" rtlCol="0" anchor="t"/>
          <a:lstStyle/>
          <a:p>
            <a:pPr algn="r" indent="0" marL="0">
              <a:buNone/>
            </a:pPr>
            <a:r>
              <a:rPr lang="en-US" sz="1200" dirty="0">
                <a:solidFill>
                  <a:schemeClr val="tx2"/>
                </a:solidFill>
              </a:rPr>
              <a:t>explícito</a:t>
            </a:r>
            <a:endParaRPr lang="en-US" sz="1200" dirty="0"/>
          </a:p>
        </p:txBody>
      </p:sp>
      <p:sp>
        <p:nvSpPr>
          <p:cNvPr id="14" name="Text 12"/>
          <p:cNvSpPr txBox="1"/>
          <p:nvPr/>
        </p:nvSpPr>
        <p:spPr>
          <a:xfrm>
            <a:off x="457200" y="2487168"/>
            <a:ext cx="4023360" cy="320040"/>
          </a:xfrm>
          <a:prstGeom prst="rect">
            <a:avLst/>
          </a:prstGeom>
          <a:noFill/>
          <a:ln/>
        </p:spPr>
        <p:txBody>
          <a:bodyPr wrap="square" lIns="0" tIns="0" rIns="0" bIns="0" rtlCol="0" anchor="t"/>
          <a:lstStyle/>
          <a:p>
            <a:pPr indent="0" marL="0">
              <a:buNone/>
            </a:pPr>
            <a:r>
              <a:rPr lang="en-US" sz="1500" b="1" dirty="0">
                <a:solidFill>
                  <a:schemeClr val="tx1"/>
                </a:solidFill>
              </a:rPr>
              <a:t>Lo que propone De Neys: un interruptor</a:t>
            </a:r>
            <a:endParaRPr lang="en-US" sz="1500" dirty="0"/>
          </a:p>
        </p:txBody>
      </p:sp>
      <p:sp>
        <p:nvSpPr>
          <p:cNvPr id="15" name="Sistema 1"/>
          <p:cNvSpPr/>
          <p:nvPr/>
        </p:nvSpPr>
        <p:spPr>
          <a:xfrm>
            <a:off x="457200" y="2880360"/>
            <a:ext cx="2011680" cy="384048"/>
          </a:xfrm>
          <a:prstGeom prst="rect">
            <a:avLst/>
          </a:prstGeom>
          <a:solidFill>
            <a:srgbClr val="E9A23B"/>
          </a:solidFill>
          <a:ln w="12700">
            <a:solidFill>
              <a:srgbClr val="E9A23B"/>
            </a:solidFill>
            <a:prstDash val="solid"/>
          </a:ln>
        </p:spPr>
      </p:sp>
      <p:sp>
        <p:nvSpPr>
          <p:cNvPr id="16" name="Sistema 2"/>
          <p:cNvSpPr/>
          <p:nvPr/>
        </p:nvSpPr>
        <p:spPr>
          <a:xfrm>
            <a:off x="2468880" y="2880360"/>
            <a:ext cx="2011680" cy="384048"/>
          </a:xfrm>
          <a:prstGeom prst="rect">
            <a:avLst/>
          </a:prstGeom>
          <a:solidFill>
            <a:srgbClr val="2A8C82"/>
          </a:solidFill>
          <a:ln w="12700">
            <a:solidFill>
              <a:srgbClr val="2A8C82"/>
            </a:solidFill>
            <a:prstDash val="solid"/>
          </a:ln>
        </p:spPr>
      </p:sp>
      <p:sp>
        <p:nvSpPr>
          <p:cNvPr id="17" name="Umbral"/>
          <p:cNvSpPr/>
          <p:nvPr/>
        </p:nvSpPr>
        <p:spPr>
          <a:xfrm>
            <a:off x="2468880" y="2743200"/>
            <a:ext cx="0" cy="658368"/>
          </a:xfrm>
          <a:prstGeom prst="line">
            <a:avLst/>
          </a:prstGeom>
          <a:noFill/>
          <a:ln w="31750">
            <a:solidFill>
              <a:srgbClr val="D2553F"/>
            </a:solidFill>
            <a:prstDash val="dash"/>
          </a:ln>
        </p:spPr>
      </p:sp>
      <p:sp>
        <p:nvSpPr>
          <p:cNvPr id="18" name="Text 16"/>
          <p:cNvSpPr txBox="1"/>
          <p:nvPr/>
        </p:nvSpPr>
        <p:spPr>
          <a:xfrm>
            <a:off x="2011680" y="3355848"/>
            <a:ext cx="914400" cy="256032"/>
          </a:xfrm>
          <a:prstGeom prst="rect">
            <a:avLst/>
          </a:prstGeom>
          <a:noFill/>
          <a:ln/>
        </p:spPr>
        <p:txBody>
          <a:bodyPr wrap="square" lIns="0" tIns="0" rIns="0" bIns="0" rtlCol="0" anchor="t"/>
          <a:lstStyle/>
          <a:p>
            <a:pPr algn="ctr" indent="0" marL="0">
              <a:buNone/>
            </a:pPr>
            <a:r>
              <a:rPr lang="en-US" sz="1200" b="1" dirty="0">
                <a:solidFill>
                  <a:schemeClr val="accent3"/>
                </a:solidFill>
              </a:rPr>
              <a:t>umbral</a:t>
            </a:r>
            <a:endParaRPr lang="en-US" sz="1200" dirty="0"/>
          </a:p>
        </p:txBody>
      </p:sp>
      <p:sp>
        <p:nvSpPr>
          <p:cNvPr id="19" name="Text 17"/>
          <p:cNvSpPr txBox="1"/>
          <p:nvPr/>
        </p:nvSpPr>
        <p:spPr>
          <a:xfrm>
            <a:off x="457200" y="3749040"/>
            <a:ext cx="4023360" cy="731520"/>
          </a:xfrm>
          <a:prstGeom prst="rect">
            <a:avLst/>
          </a:prstGeom>
          <a:noFill/>
          <a:ln/>
        </p:spPr>
        <p:txBody>
          <a:bodyPr wrap="square" lIns="0" tIns="0" rIns="0" bIns="0" rtlCol="0" anchor="t"/>
          <a:lstStyle/>
          <a:p>
            <a:pPr indent="0" marL="0">
              <a:buNone/>
            </a:pPr>
            <a:r>
              <a:rPr lang="en-US" sz="1300" i="1" dirty="0">
                <a:solidFill>
                  <a:schemeClr val="tx1"/>
                </a:solidFill>
              </a:rPr>
              <a:t>Un comentario lo llama «el misterioso umbral de deliberación».</a:t>
            </a:r>
            <a:endParaRPr lang="en-US" sz="1300" dirty="0"/>
          </a:p>
        </p:txBody>
      </p:sp>
      <p:sp>
        <p:nvSpPr>
          <p:cNvPr id="20" name="Modelo que no predice"/>
          <p:cNvSpPr/>
          <p:nvPr/>
        </p:nvSpPr>
        <p:spPr>
          <a:xfrm>
            <a:off x="4800600" y="1298448"/>
            <a:ext cx="3886200" cy="3246120"/>
          </a:xfrm>
          <a:prstGeom prst="roundRect">
            <a:avLst>
              <a:gd name="adj" fmla="val 2254"/>
            </a:avLst>
          </a:prstGeom>
          <a:solidFill>
            <a:srgbClr val="F1F2F6"/>
          </a:solidFill>
          <a:ln w="12700">
            <a:solidFill>
              <a:srgbClr val="F1F2F6"/>
            </a:solidFill>
            <a:prstDash val="solid"/>
          </a:ln>
        </p:spPr>
      </p:sp>
      <p:sp>
        <p:nvSpPr>
          <p:cNvPr id="21" name="Text 19"/>
          <p:cNvSpPr txBox="1"/>
          <p:nvPr/>
        </p:nvSpPr>
        <p:spPr>
          <a:xfrm>
            <a:off x="4983480" y="1389888"/>
            <a:ext cx="3566160" cy="347472"/>
          </a:xfrm>
          <a:prstGeom prst="rect">
            <a:avLst/>
          </a:prstGeom>
          <a:noFill/>
          <a:ln/>
        </p:spPr>
        <p:txBody>
          <a:bodyPr wrap="square" lIns="0" tIns="0" rIns="0" bIns="0" rtlCol="0" anchor="t"/>
          <a:lstStyle/>
          <a:p>
            <a:pPr indent="0" marL="0">
              <a:buNone/>
            </a:pPr>
            <a:r>
              <a:rPr lang="en-US" sz="1500" b="1" dirty="0">
                <a:solidFill>
                  <a:schemeClr val="tx1"/>
                </a:solidFill>
              </a:rPr>
              <a:t>Un modelo que todavía no predice</a:t>
            </a:r>
            <a:endParaRPr lang="en-US" sz="1500" dirty="0"/>
          </a:p>
        </p:txBody>
      </p:sp>
      <p:sp>
        <p:nvSpPr>
          <p:cNvPr id="22" name="Text 20"/>
          <p:cNvSpPr txBox="1"/>
          <p:nvPr/>
        </p:nvSpPr>
        <p:spPr>
          <a:xfrm>
            <a:off x="4983480" y="1783080"/>
            <a:ext cx="3566160" cy="548640"/>
          </a:xfrm>
          <a:prstGeom prst="rect">
            <a:avLst/>
          </a:prstGeom>
          <a:noFill/>
          <a:ln/>
        </p:spPr>
        <p:txBody>
          <a:bodyPr wrap="square" lIns="0" tIns="0" rIns="0" bIns="0" rtlCol="0" anchor="t"/>
          <a:lstStyle/>
          <a:p>
            <a:pPr indent="0" marL="0">
              <a:buNone/>
            </a:pPr>
            <a:r>
              <a:rPr lang="en-US" sz="1300" dirty="0">
                <a:solidFill>
                  <a:schemeClr val="tx1"/>
                </a:solidFill>
              </a:rPr>
              <a:t>Sin valores para la fuerza ni para el umbral, todo se explica después:</a:t>
            </a:r>
            <a:endParaRPr lang="en-US" sz="1300" dirty="0"/>
          </a:p>
        </p:txBody>
      </p:sp>
      <p:sp>
        <p:nvSpPr>
          <p:cNvPr id="23" name="Text 21"/>
          <p:cNvSpPr txBox="1"/>
          <p:nvPr/>
        </p:nvSpPr>
        <p:spPr>
          <a:xfrm>
            <a:off x="4983480" y="2359152"/>
            <a:ext cx="3566160" cy="310896"/>
          </a:xfrm>
          <a:prstGeom prst="rect">
            <a:avLst/>
          </a:prstGeom>
          <a:noFill/>
          <a:ln/>
        </p:spPr>
        <p:txBody>
          <a:bodyPr wrap="square" lIns="0" tIns="0" rIns="0" bIns="0" rtlCol="0" anchor="ctr"/>
          <a:lstStyle/>
          <a:p>
            <a:pPr indent="0" marL="0">
              <a:buNone/>
            </a:pPr>
            <a:r>
              <a:rPr lang="en-US" sz="1400" b="1" dirty="0">
                <a:solidFill>
                  <a:schemeClr val="accent3"/>
                </a:solidFill>
              </a:rPr>
              <a:t>Acierta </a:t>
            </a:r>
            <a:pPr indent="0" marL="0">
              <a:buNone/>
            </a:pPr>
            <a:r>
              <a:rPr lang="en-US" sz="1400" dirty="0">
                <a:solidFill>
                  <a:schemeClr val="tx1"/>
                </a:solidFill>
              </a:rPr>
              <a:t>→ su intuición lógica era fuerte</a:t>
            </a:r>
            <a:endParaRPr lang="en-US" sz="1400" dirty="0"/>
          </a:p>
        </p:txBody>
      </p:sp>
      <p:sp>
        <p:nvSpPr>
          <p:cNvPr id="24" name="Text 22"/>
          <p:cNvSpPr txBox="1"/>
          <p:nvPr/>
        </p:nvSpPr>
        <p:spPr>
          <a:xfrm>
            <a:off x="4983480" y="2688336"/>
            <a:ext cx="3566160" cy="310896"/>
          </a:xfrm>
          <a:prstGeom prst="rect">
            <a:avLst/>
          </a:prstGeom>
          <a:noFill/>
          <a:ln/>
        </p:spPr>
        <p:txBody>
          <a:bodyPr wrap="square" lIns="0" tIns="0" rIns="0" bIns="0" rtlCol="0" anchor="ctr"/>
          <a:lstStyle/>
          <a:p>
            <a:pPr indent="0" marL="0">
              <a:buNone/>
            </a:pPr>
            <a:r>
              <a:rPr lang="en-US" sz="1400" b="1" dirty="0">
                <a:solidFill>
                  <a:schemeClr val="accent3"/>
                </a:solidFill>
              </a:rPr>
              <a:t>Se equivoca </a:t>
            </a:r>
            <a:pPr indent="0" marL="0">
              <a:buNone/>
            </a:pPr>
            <a:r>
              <a:rPr lang="en-US" sz="1400" dirty="0">
                <a:solidFill>
                  <a:schemeClr val="tx1"/>
                </a:solidFill>
              </a:rPr>
              <a:t>→ era débil</a:t>
            </a:r>
            <a:endParaRPr lang="en-US" sz="1400" dirty="0"/>
          </a:p>
        </p:txBody>
      </p:sp>
      <p:sp>
        <p:nvSpPr>
          <p:cNvPr id="25" name="Text 23"/>
          <p:cNvSpPr txBox="1"/>
          <p:nvPr/>
        </p:nvSpPr>
        <p:spPr>
          <a:xfrm>
            <a:off x="4983480" y="3090672"/>
            <a:ext cx="3566160" cy="566928"/>
          </a:xfrm>
          <a:prstGeom prst="rect">
            <a:avLst/>
          </a:prstGeom>
          <a:noFill/>
          <a:ln/>
        </p:spPr>
        <p:txBody>
          <a:bodyPr wrap="square" lIns="0" tIns="0" rIns="0" bIns="0" rtlCol="0" anchor="t"/>
          <a:lstStyle/>
          <a:p>
            <a:pPr indent="0" marL="0">
              <a:buNone/>
            </a:pPr>
            <a:r>
              <a:rPr lang="en-US" sz="1300" i="1" dirty="0">
                <a:solidFill>
                  <a:schemeClr val="tx1"/>
                </a:solidFill>
              </a:rPr>
              <a:t>Como a Tversky y Kahneman: no se sabe a priori qué heurístico va a actuar.</a:t>
            </a:r>
            <a:endParaRPr lang="en-US" sz="1300" dirty="0"/>
          </a:p>
        </p:txBody>
      </p:sp>
      <p:sp>
        <p:nvSpPr>
          <p:cNvPr id="26" name="Text 24"/>
          <p:cNvSpPr txBox="1"/>
          <p:nvPr/>
        </p:nvSpPr>
        <p:spPr>
          <a:xfrm>
            <a:off x="4983480" y="3730752"/>
            <a:ext cx="3566160" cy="731520"/>
          </a:xfrm>
          <a:prstGeom prst="rect">
            <a:avLst/>
          </a:prstGeom>
          <a:noFill/>
          <a:ln/>
        </p:spPr>
        <p:txBody>
          <a:bodyPr wrap="square" lIns="0" tIns="0" rIns="0" bIns="0" rtlCol="0" anchor="t"/>
          <a:lstStyle/>
          <a:p>
            <a:pPr indent="0" marL="0">
              <a:buNone/>
            </a:pPr>
            <a:r>
              <a:rPr lang="en-US" sz="1300" b="1" dirty="0">
                <a:solidFill>
                  <a:schemeClr val="tx1"/>
                </a:solidFill>
              </a:rPr>
              <a:t>Quiroga: </a:t>
            </a:r>
            <a:pPr indent="0" marL="0">
              <a:buNone/>
            </a:pPr>
            <a:r>
              <a:rPr lang="en-US" sz="1300" dirty="0">
                <a:solidFill>
                  <a:schemeClr val="tx1"/>
                </a:solidFill>
              </a:rPr>
              <a:t>ya hay redes neuronales con umbrales que calculan el razonamiento revisable.</a:t>
            </a:r>
            <a:endParaRPr lang="en-US" sz="1300" dirty="0"/>
          </a:p>
        </p:txBody>
      </p:sp>
      <p:sp>
        <p:nvSpPr>
          <p:cNvPr id="27" name="Text 0"/>
          <p:cNvSpPr/>
          <p:nvPr>
            <p:ph idx="101" type="body" hasCustomPrompt="1"/>
          </p:nvPr>
        </p:nvSpPr>
        <p:spPr>
          <a:xfrm>
            <a:off x="457200" y="4681728"/>
            <a:ext cx="7863840" cy="347472"/>
          </a:xfrm>
          <a:prstGeom prst="rect">
            <a:avLst/>
          </a:prstGeom>
          <a:noFill/>
          <a:ln/>
        </p:spPr>
        <p:txBody>
          <a:bodyPr wrap="square" lIns="0" tIns="0" rIns="0" bIns="0" rtlCol="0" anchor="ctr"/>
          <a:lstStyle/>
          <a:p>
            <a:pPr indent="0" marL="0">
              <a:buNone/>
            </a:pPr>
            <a:r>
              <a:rPr lang="en-US" sz="1000" i="1" dirty="0">
                <a:solidFill>
                  <a:schemeClr val="tx2"/>
                </a:solidFill>
              </a:rPr>
              <a:t>De Neys (2023a, pp. 5, 12, 14); Ackerman y Morsanyi (2023, p. 19); Pérez Echeverría y Bautista (2014, pp. 17-19); Quiroga (2013, pp. 87-89)</a:t>
            </a:r>
            <a:endParaRPr lang="en-US" sz="1000" dirty="0"/>
          </a:p>
        </p:txBody>
      </p:sp>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Etiqueta de rol"/>
          <p:cNvSpPr/>
          <p:nvPr/>
        </p:nvSpPr>
        <p:spPr>
          <a:xfrm>
            <a:off x="457200" y="201168"/>
            <a:ext cx="1463040" cy="274320"/>
          </a:xfrm>
          <a:prstGeom prst="roundRect">
            <a:avLst>
              <a:gd name="adj" fmla="val 50000"/>
            </a:avLst>
          </a:prstGeom>
          <a:solidFill>
            <a:srgbClr val="D2553F"/>
          </a:solidFill>
          <a:ln w="12700">
            <a:solidFill>
              <a:srgbClr val="D2553F"/>
            </a:solidFill>
            <a:prstDash val="solid"/>
          </a:ln>
        </p:spPr>
      </p:sp>
      <p:sp>
        <p:nvSpPr>
          <p:cNvPr id="3" name="Texto de etiqueta"/>
          <p:cNvSpPr txBox="1"/>
          <p:nvPr/>
        </p:nvSpPr>
        <p:spPr>
          <a:xfrm>
            <a:off x="457200" y="201168"/>
            <a:ext cx="1463040" cy="274320"/>
          </a:xfrm>
          <a:prstGeom prst="rect">
            <a:avLst/>
          </a:prstGeom>
          <a:noFill/>
          <a:ln/>
        </p:spPr>
        <p:txBody>
          <a:bodyPr wrap="square" lIns="0" tIns="0" rIns="0" bIns="0" rtlCol="0" anchor="ctr"/>
          <a:lstStyle/>
          <a:p>
            <a:pPr algn="ctr" indent="0" marL="0">
              <a:buNone/>
            </a:pPr>
            <a:r>
              <a:rPr lang="en-US" sz="1100" b="1" spc="150" kern="0" dirty="0">
                <a:solidFill>
                  <a:schemeClr val="bg1"/>
                </a:solidFill>
              </a:rPr>
              <a:t>CRÍTICA 2</a:t>
            </a:r>
            <a:endParaRPr lang="en-US" sz="1100" dirty="0"/>
          </a:p>
        </p:txBody>
      </p:sp>
      <p:sp>
        <p:nvSpPr>
          <p:cNvPr id="4" name="Marca del recorrido"/>
          <p:cNvSpPr txBox="1"/>
          <p:nvPr/>
        </p:nvSpPr>
        <p:spPr>
          <a:xfrm>
            <a:off x="4114800" y="201168"/>
            <a:ext cx="4572000" cy="274320"/>
          </a:xfrm>
          <a:prstGeom prst="rect">
            <a:avLst/>
          </a:prstGeom>
          <a:noFill/>
          <a:ln/>
        </p:spPr>
        <p:txBody>
          <a:bodyPr wrap="square" lIns="0" tIns="0" rIns="0" bIns="0" rtlCol="0" anchor="ctr"/>
          <a:lstStyle/>
          <a:p>
            <a:pPr algn="r" indent="0" marL="0">
              <a:buNone/>
            </a:pPr>
            <a:r>
              <a:rPr lang="en-US" sz="1000" b="1" spc="150" kern="0" dirty="0">
                <a:solidFill>
                  <a:schemeClr val="tx2"/>
                </a:solidFill>
              </a:rPr>
              <a:t>ARTÍCULO · COMENTARIOS Y RESPUESTA</a:t>
            </a:r>
            <a:endParaRPr lang="en-US" sz="1000" dirty="0"/>
          </a:p>
        </p:txBody>
      </p:sp>
      <p:sp>
        <p:nvSpPr>
          <p:cNvPr id="5" name="Text 0"/>
          <p:cNvSpPr/>
          <p:nvPr>
            <p:ph idx="100" type="title" hasCustomPrompt="1"/>
          </p:nvPr>
        </p:nvSpPr>
        <p:spPr>
          <a:xfrm>
            <a:off x="457200" y="566928"/>
            <a:ext cx="8229600" cy="640080"/>
          </a:xfrm>
          <a:prstGeom prst="rect">
            <a:avLst/>
          </a:prstGeom>
          <a:noFill/>
          <a:ln/>
        </p:spPr>
        <p:txBody>
          <a:bodyPr wrap="square" lIns="0" tIns="0" rIns="0" bIns="0" rtlCol="0" anchor="t"/>
          <a:lstStyle/>
          <a:p>
            <a:pPr algn="l" indent="0" marL="0">
              <a:buNone/>
            </a:pPr>
            <a:r>
              <a:rPr lang="en-US" sz="2800" b="1" dirty="0">
                <a:solidFill>
                  <a:schemeClr val="tx1"/>
                </a:solidFill>
              </a:rPr>
              <a:t>La discusión: 34 comentarios y una respuesta</a:t>
            </a:r>
            <a:endParaRPr lang="en-US" sz="2800" dirty="0"/>
          </a:p>
        </p:txBody>
      </p:sp>
      <p:sp>
        <p:nvSpPr>
          <p:cNvPr id="6" name="Text 4"/>
          <p:cNvSpPr txBox="1"/>
          <p:nvPr/>
        </p:nvSpPr>
        <p:spPr>
          <a:xfrm>
            <a:off x="457200" y="1188720"/>
            <a:ext cx="1371600" cy="914400"/>
          </a:xfrm>
          <a:prstGeom prst="rect">
            <a:avLst/>
          </a:prstGeom>
          <a:noFill/>
          <a:ln/>
        </p:spPr>
        <p:txBody>
          <a:bodyPr wrap="square" lIns="0" tIns="0" rIns="0" bIns="0" rtlCol="0" anchor="ctr"/>
          <a:lstStyle/>
          <a:p>
            <a:pPr indent="0" marL="0">
              <a:buNone/>
            </a:pPr>
            <a:r>
              <a:rPr lang="en-US" sz="6000" b="1" dirty="0">
                <a:solidFill>
                  <a:schemeClr val="accent1"/>
                </a:solidFill>
                <a:latin typeface="Cambria" pitchFamily="34" charset="0"/>
                <a:ea typeface="Cambria" pitchFamily="34" charset="-122"/>
                <a:cs typeface="Cambria" pitchFamily="34" charset="-120"/>
              </a:rPr>
              <a:t>34</a:t>
            </a:r>
            <a:endParaRPr lang="en-US" sz="6000" dirty="0"/>
          </a:p>
        </p:txBody>
      </p:sp>
      <p:sp>
        <p:nvSpPr>
          <p:cNvPr id="7" name="Text 5"/>
          <p:cNvSpPr txBox="1"/>
          <p:nvPr/>
        </p:nvSpPr>
        <p:spPr>
          <a:xfrm>
            <a:off x="1874520" y="1325880"/>
            <a:ext cx="2377440" cy="685800"/>
          </a:xfrm>
          <a:prstGeom prst="rect">
            <a:avLst/>
          </a:prstGeom>
          <a:noFill/>
          <a:ln/>
        </p:spPr>
        <p:txBody>
          <a:bodyPr wrap="square" lIns="0" tIns="0" rIns="0" bIns="0" rtlCol="0" anchor="ctr"/>
          <a:lstStyle/>
          <a:p>
            <a:pPr indent="0" marL="0">
              <a:buNone/>
            </a:pPr>
            <a:r>
              <a:rPr lang="en-US" sz="1500" b="1" dirty="0">
                <a:solidFill>
                  <a:schemeClr val="tx1"/>
                </a:solidFill>
              </a:rPr>
              <a:t>comentarios de más de 60 especialistas</a:t>
            </a:r>
            <a:endParaRPr lang="en-US" sz="1500" dirty="0"/>
          </a:p>
        </p:txBody>
      </p:sp>
      <p:sp>
        <p:nvSpPr>
          <p:cNvPr id="8" name="Text 6"/>
          <p:cNvSpPr txBox="1"/>
          <p:nvPr/>
        </p:nvSpPr>
        <p:spPr>
          <a:xfrm>
            <a:off x="457200" y="2212848"/>
            <a:ext cx="3840480" cy="292608"/>
          </a:xfrm>
          <a:prstGeom prst="rect">
            <a:avLst/>
          </a:prstGeom>
          <a:noFill/>
          <a:ln/>
        </p:spPr>
        <p:txBody>
          <a:bodyPr wrap="square" lIns="0" tIns="0" rIns="0" bIns="0" rtlCol="0" anchor="t"/>
          <a:lstStyle/>
          <a:p>
            <a:pPr indent="0" marL="0">
              <a:buNone/>
            </a:pPr>
            <a:r>
              <a:rPr lang="en-US" sz="1300" b="1" dirty="0">
                <a:solidFill>
                  <a:schemeClr val="tx2"/>
                </a:solidFill>
              </a:rPr>
              <a:t>La respuesta del autor, en 5 temas:</a:t>
            </a:r>
            <a:endParaRPr lang="en-US" sz="1300" dirty="0"/>
          </a:p>
        </p:txBody>
      </p:sp>
      <p:sp>
        <p:nvSpPr>
          <p:cNvPr id="9" name="Text 7"/>
          <p:cNvSpPr txBox="1"/>
          <p:nvPr/>
        </p:nvSpPr>
        <p:spPr>
          <a:xfrm>
            <a:off x="457200" y="2560320"/>
            <a:ext cx="3840480" cy="1965960"/>
          </a:xfrm>
          <a:prstGeom prst="rect">
            <a:avLst/>
          </a:prstGeom>
          <a:noFill/>
          <a:ln/>
        </p:spPr>
        <p:txBody>
          <a:bodyPr wrap="square" lIns="0" tIns="0" rIns="0" bIns="0" rtlCol="0" anchor="t"/>
          <a:lstStyle/>
          <a:p>
            <a:pPr marL="342900" indent="-342900">
              <a:spcAft>
                <a:spcPts val="300"/>
              </a:spcAft>
              <a:buSzPct val="100000"/>
              <a:buFont typeface="+mj-lt"/>
              <a:buAutoNum type="arabicPeriod" startAt="1"/>
            </a:pPr>
            <a:r>
              <a:rPr lang="en-US" sz="1400" dirty="0">
                <a:solidFill>
                  <a:schemeClr val="tx1"/>
                </a:solidFill>
              </a:rPr>
              <a:t>Si la evidencia se generaliza</a:t>
            </a:r>
            <a:endParaRPr lang="en-US" sz="1400" dirty="0"/>
          </a:p>
          <a:p>
            <a:pPr marL="342900" indent="-342900">
              <a:spcAft>
                <a:spcPts val="300"/>
              </a:spcAft>
              <a:buSzPct val="100000"/>
              <a:buFont typeface="+mj-lt"/>
              <a:buAutoNum type="arabicPeriod" startAt="1"/>
            </a:pPr>
            <a:r>
              <a:rPr lang="en-US" sz="1400" dirty="0">
                <a:solidFill>
                  <a:schemeClr val="tx1"/>
                </a:solidFill>
              </a:rPr>
              <a:t>Vínculos con otros modelos</a:t>
            </a:r>
            <a:endParaRPr lang="en-US" sz="1400" dirty="0"/>
          </a:p>
          <a:p>
            <a:pPr marL="342900" indent="-342900">
              <a:spcAft>
                <a:spcPts val="300"/>
              </a:spcAft>
              <a:buSzPct val="100000"/>
              <a:buFont typeface="+mj-lt"/>
              <a:buAutoNum type="arabicPeriod" startAt="1"/>
            </a:pPr>
            <a:r>
              <a:rPr lang="en-US" sz="1400" dirty="0">
                <a:solidFill>
                  <a:schemeClr val="tx1"/>
                </a:solidFill>
              </a:rPr>
              <a:t>Extensiones necesarias</a:t>
            </a:r>
            <a:endParaRPr lang="en-US" sz="1400" dirty="0"/>
          </a:p>
          <a:p>
            <a:pPr marL="342900" indent="-342900">
              <a:spcAft>
                <a:spcPts val="300"/>
              </a:spcAft>
              <a:buSzPct val="100000"/>
              <a:buFont typeface="+mj-lt"/>
              <a:buAutoNum type="arabicPeriod" startAt="1"/>
            </a:pPr>
            <a:r>
              <a:rPr lang="en-US" sz="1400" dirty="0">
                <a:solidFill>
                  <a:schemeClr val="tx1"/>
                </a:solidFill>
              </a:rPr>
              <a:t>Aclaraciones puntuales</a:t>
            </a:r>
            <a:endParaRPr lang="en-US" sz="1400" dirty="0"/>
          </a:p>
          <a:p>
            <a:pPr marL="342900" indent="-342900">
              <a:spcAft>
                <a:spcPts val="300"/>
              </a:spcAft>
              <a:buSzPct val="100000"/>
              <a:buFont typeface="+mj-lt"/>
              <a:buAutoNum type="arabicPeriod" startAt="1"/>
            </a:pPr>
            <a:r>
              <a:rPr lang="en-US" sz="1400" dirty="0">
                <a:solidFill>
                  <a:schemeClr val="tx1"/>
                </a:solidFill>
              </a:rPr>
              <a:t>La utilidad de los modelos duales</a:t>
            </a:r>
            <a:endParaRPr lang="en-US" sz="1400" dirty="0"/>
          </a:p>
        </p:txBody>
      </p:sp>
      <p:sp>
        <p:nvSpPr>
          <p:cNvPr id="10" name="Text 8"/>
          <p:cNvSpPr txBox="1"/>
          <p:nvPr/>
        </p:nvSpPr>
        <p:spPr>
          <a:xfrm>
            <a:off x="4663440" y="1298448"/>
            <a:ext cx="4023360" cy="320040"/>
          </a:xfrm>
          <a:prstGeom prst="rect">
            <a:avLst/>
          </a:prstGeom>
          <a:noFill/>
          <a:ln/>
        </p:spPr>
        <p:txBody>
          <a:bodyPr wrap="square" lIns="0" tIns="0" rIns="0" bIns="0" rtlCol="0" anchor="t"/>
          <a:lstStyle/>
          <a:p>
            <a:pPr indent="0" marL="0">
              <a:buNone/>
            </a:pPr>
            <a:r>
              <a:rPr lang="en-US" sz="1500" b="1" dirty="0">
                <a:solidFill>
                  <a:schemeClr val="tx1"/>
                </a:solidFill>
              </a:rPr>
              <a:t>Dos concesiones clave</a:t>
            </a:r>
            <a:endParaRPr lang="en-US" sz="1500" dirty="0"/>
          </a:p>
        </p:txBody>
      </p:sp>
      <p:sp>
        <p:nvSpPr>
          <p:cNvPr id="11" name="Concesión 1"/>
          <p:cNvSpPr/>
          <p:nvPr/>
        </p:nvSpPr>
        <p:spPr>
          <a:xfrm>
            <a:off x="4663440" y="1719072"/>
            <a:ext cx="4023360" cy="1261872"/>
          </a:xfrm>
          <a:prstGeom prst="roundRect">
            <a:avLst>
              <a:gd name="adj" fmla="val 5797"/>
            </a:avLst>
          </a:prstGeom>
          <a:solidFill>
            <a:srgbClr val="F1F2F6"/>
          </a:solidFill>
          <a:ln w="12700">
            <a:solidFill>
              <a:srgbClr val="F1F2F6"/>
            </a:solidFill>
            <a:prstDash val="solid"/>
          </a:ln>
        </p:spPr>
      </p:sp>
      <p:sp>
        <p:nvSpPr>
          <p:cNvPr id="12" name="Concesión 1"/>
          <p:cNvSpPr/>
          <p:nvPr/>
        </p:nvSpPr>
        <p:spPr>
          <a:xfrm>
            <a:off x="4846320" y="1901952"/>
            <a:ext cx="384048" cy="384048"/>
          </a:xfrm>
          <a:prstGeom prst="ellipse">
            <a:avLst/>
          </a:prstGeom>
          <a:solidFill>
            <a:srgbClr val="D2553F"/>
          </a:solidFill>
          <a:ln w="12700">
            <a:solidFill>
              <a:srgbClr val="D2553F"/>
            </a:solidFill>
            <a:prstDash val="solid"/>
          </a:ln>
        </p:spPr>
      </p:sp>
      <p:sp>
        <p:nvSpPr>
          <p:cNvPr id="13" name="Text 11"/>
          <p:cNvSpPr txBox="1"/>
          <p:nvPr/>
        </p:nvSpPr>
        <p:spPr>
          <a:xfrm>
            <a:off x="4846320" y="1901952"/>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4" name="Text 12"/>
          <p:cNvSpPr txBox="1"/>
          <p:nvPr/>
        </p:nvSpPr>
        <p:spPr>
          <a:xfrm>
            <a:off x="5376672" y="1847088"/>
            <a:ext cx="3154680" cy="777240"/>
          </a:xfrm>
          <a:prstGeom prst="rect">
            <a:avLst/>
          </a:prstGeom>
          <a:noFill/>
          <a:ln/>
        </p:spPr>
        <p:txBody>
          <a:bodyPr wrap="square" lIns="0" tIns="0" rIns="0" bIns="0" rtlCol="0" anchor="t"/>
          <a:lstStyle/>
          <a:p>
            <a:pPr indent="0" marL="0">
              <a:buNone/>
            </a:pPr>
            <a:r>
              <a:rPr lang="en-US" sz="1400" b="1" dirty="0">
                <a:solidFill>
                  <a:schemeClr val="tx1"/>
                </a:solidFill>
              </a:rPr>
              <a:t>Evans y Stanovich ya habían abandonado la exclusividad</a:t>
            </a:r>
            <a:endParaRPr lang="en-US" sz="1400" dirty="0"/>
          </a:p>
        </p:txBody>
      </p:sp>
      <p:sp>
        <p:nvSpPr>
          <p:cNvPr id="15" name="Text 13"/>
          <p:cNvSpPr txBox="1"/>
          <p:nvPr/>
        </p:nvSpPr>
        <p:spPr>
          <a:xfrm>
            <a:off x="5376672" y="2633472"/>
            <a:ext cx="3154680" cy="256032"/>
          </a:xfrm>
          <a:prstGeom prst="rect">
            <a:avLst/>
          </a:prstGeom>
          <a:noFill/>
          <a:ln/>
        </p:spPr>
        <p:txBody>
          <a:bodyPr wrap="square" lIns="0" tIns="0" rIns="0" bIns="0" rtlCol="0" anchor="t"/>
          <a:lstStyle/>
          <a:p>
            <a:pPr indent="0" marL="0">
              <a:buNone/>
            </a:pPr>
            <a:r>
              <a:rPr lang="en-US" sz="1100" dirty="0">
                <a:solidFill>
                  <a:schemeClr val="tx2"/>
                </a:solidFill>
              </a:rPr>
              <a:t>De Neys (2023b, p. 67)</a:t>
            </a:r>
            <a:endParaRPr lang="en-US" sz="1100" dirty="0"/>
          </a:p>
        </p:txBody>
      </p:sp>
      <p:sp>
        <p:nvSpPr>
          <p:cNvPr id="16" name="Concesión 2"/>
          <p:cNvSpPr/>
          <p:nvPr/>
        </p:nvSpPr>
        <p:spPr>
          <a:xfrm>
            <a:off x="4663440" y="3136392"/>
            <a:ext cx="4023360" cy="1261872"/>
          </a:xfrm>
          <a:prstGeom prst="roundRect">
            <a:avLst>
              <a:gd name="adj" fmla="val 5797"/>
            </a:avLst>
          </a:prstGeom>
          <a:solidFill>
            <a:srgbClr val="F1F2F6"/>
          </a:solidFill>
          <a:ln w="12700">
            <a:solidFill>
              <a:srgbClr val="F1F2F6"/>
            </a:solidFill>
            <a:prstDash val="solid"/>
          </a:ln>
        </p:spPr>
      </p:sp>
      <p:sp>
        <p:nvSpPr>
          <p:cNvPr id="17" name="Concesión 2"/>
          <p:cNvSpPr/>
          <p:nvPr/>
        </p:nvSpPr>
        <p:spPr>
          <a:xfrm>
            <a:off x="4846320" y="3319272"/>
            <a:ext cx="384048" cy="384048"/>
          </a:xfrm>
          <a:prstGeom prst="ellipse">
            <a:avLst/>
          </a:prstGeom>
          <a:solidFill>
            <a:srgbClr val="D2553F"/>
          </a:solidFill>
          <a:ln w="12700">
            <a:solidFill>
              <a:srgbClr val="D2553F"/>
            </a:solidFill>
            <a:prstDash val="solid"/>
          </a:ln>
        </p:spPr>
      </p:sp>
      <p:sp>
        <p:nvSpPr>
          <p:cNvPr id="18" name="Text 16"/>
          <p:cNvSpPr txBox="1"/>
          <p:nvPr/>
        </p:nvSpPr>
        <p:spPr>
          <a:xfrm>
            <a:off x="4846320" y="3319272"/>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9" name="Text 17"/>
          <p:cNvSpPr txBox="1"/>
          <p:nvPr/>
        </p:nvSpPr>
        <p:spPr>
          <a:xfrm>
            <a:off x="5376672" y="3264408"/>
            <a:ext cx="3154680" cy="777240"/>
          </a:xfrm>
          <a:prstGeom prst="rect">
            <a:avLst/>
          </a:prstGeom>
          <a:noFill/>
          <a:ln/>
        </p:spPr>
        <p:txBody>
          <a:bodyPr wrap="square" lIns="0" tIns="0" rIns="0" bIns="0" rtlCol="0" anchor="t"/>
          <a:lstStyle/>
          <a:p>
            <a:pPr indent="0" marL="0">
              <a:buNone/>
            </a:pPr>
            <a:r>
              <a:rPr lang="en-US" sz="1400" b="1" dirty="0">
                <a:solidFill>
                  <a:schemeClr val="tx1"/>
                </a:solidFill>
              </a:rPr>
              <a:t>El modelo no incluye el cambio por señales externas ni las diferencias individuales</a:t>
            </a:r>
            <a:endParaRPr lang="en-US" sz="1400" dirty="0"/>
          </a:p>
        </p:txBody>
      </p:sp>
      <p:sp>
        <p:nvSpPr>
          <p:cNvPr id="20" name="Text 18"/>
          <p:cNvSpPr txBox="1"/>
          <p:nvPr/>
        </p:nvSpPr>
        <p:spPr>
          <a:xfrm>
            <a:off x="5376672" y="4050792"/>
            <a:ext cx="3154680" cy="256032"/>
          </a:xfrm>
          <a:prstGeom prst="rect">
            <a:avLst/>
          </a:prstGeom>
          <a:noFill/>
          <a:ln/>
        </p:spPr>
        <p:txBody>
          <a:bodyPr wrap="square" lIns="0" tIns="0" rIns="0" bIns="0" rtlCol="0" anchor="t"/>
          <a:lstStyle/>
          <a:p>
            <a:pPr indent="0" marL="0">
              <a:buNone/>
            </a:pPr>
            <a:r>
              <a:rPr lang="en-US" sz="1100" dirty="0">
                <a:solidFill>
                  <a:schemeClr val="tx2"/>
                </a:solidFill>
              </a:rPr>
              <a:t>De Neys (2023b, p. 68)</a:t>
            </a:r>
            <a:endParaRPr lang="en-US" sz="1100" dirty="0"/>
          </a:p>
        </p:txBody>
      </p:sp>
      <p:sp>
        <p:nvSpPr>
          <p:cNvPr id="21" name="Text 0"/>
          <p:cNvSpPr/>
          <p:nvPr>
            <p:ph idx="101" type="body" hasCustomPrompt="1"/>
          </p:nvPr>
        </p:nvSpPr>
        <p:spPr>
          <a:xfrm>
            <a:off x="457200" y="4681728"/>
            <a:ext cx="7863840" cy="347472"/>
          </a:xfrm>
          <a:prstGeom prst="rect">
            <a:avLst/>
          </a:prstGeom>
          <a:noFill/>
          <a:ln/>
        </p:spPr>
        <p:txBody>
          <a:bodyPr wrap="square" lIns="0" tIns="0" rIns="0" bIns="0" rtlCol="0" anchor="ctr"/>
          <a:lstStyle/>
          <a:p>
            <a:pPr indent="0" marL="0">
              <a:buNone/>
            </a:pPr>
            <a:r>
              <a:rPr lang="en-US" sz="1000" i="1" dirty="0">
                <a:solidFill>
                  <a:schemeClr val="tx2"/>
                </a:solidFill>
              </a:rPr>
              <a:t>De Neys (2023b, pp. 66-71)</a:t>
            </a:r>
            <a:endParaRPr lang="en-US" sz="1000" dirty="0"/>
          </a:p>
        </p:txBody>
      </p:sp>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Etiqueta de rol"/>
          <p:cNvSpPr/>
          <p:nvPr/>
        </p:nvSpPr>
        <p:spPr>
          <a:xfrm>
            <a:off x="457200" y="201168"/>
            <a:ext cx="1463040" cy="274320"/>
          </a:xfrm>
          <a:prstGeom prst="roundRect">
            <a:avLst>
              <a:gd name="adj" fmla="val 50000"/>
            </a:avLst>
          </a:prstGeom>
          <a:solidFill>
            <a:srgbClr val="D2553F"/>
          </a:solidFill>
          <a:ln w="12700">
            <a:solidFill>
              <a:srgbClr val="D2553F"/>
            </a:solidFill>
            <a:prstDash val="solid"/>
          </a:ln>
        </p:spPr>
      </p:sp>
      <p:sp>
        <p:nvSpPr>
          <p:cNvPr id="3" name="Texto de etiqueta"/>
          <p:cNvSpPr txBox="1"/>
          <p:nvPr/>
        </p:nvSpPr>
        <p:spPr>
          <a:xfrm>
            <a:off x="457200" y="201168"/>
            <a:ext cx="1463040" cy="274320"/>
          </a:xfrm>
          <a:prstGeom prst="rect">
            <a:avLst/>
          </a:prstGeom>
          <a:noFill/>
          <a:ln/>
        </p:spPr>
        <p:txBody>
          <a:bodyPr wrap="square" lIns="0" tIns="0" rIns="0" bIns="0" rtlCol="0" anchor="ctr"/>
          <a:lstStyle/>
          <a:p>
            <a:pPr algn="ctr" indent="0" marL="0">
              <a:buNone/>
            </a:pPr>
            <a:r>
              <a:rPr lang="en-US" sz="1100" b="1" spc="150" kern="0" dirty="0">
                <a:solidFill>
                  <a:schemeClr val="bg1"/>
                </a:solidFill>
              </a:rPr>
              <a:t>CRÍTICA 2</a:t>
            </a:r>
            <a:endParaRPr lang="en-US" sz="1100" dirty="0"/>
          </a:p>
        </p:txBody>
      </p:sp>
      <p:sp>
        <p:nvSpPr>
          <p:cNvPr id="4" name="Marca del recorrido"/>
          <p:cNvSpPr txBox="1"/>
          <p:nvPr/>
        </p:nvSpPr>
        <p:spPr>
          <a:xfrm>
            <a:off x="4114800" y="201168"/>
            <a:ext cx="4572000" cy="274320"/>
          </a:xfrm>
          <a:prstGeom prst="rect">
            <a:avLst/>
          </a:prstGeom>
          <a:noFill/>
          <a:ln/>
        </p:spPr>
        <p:txBody>
          <a:bodyPr wrap="square" lIns="0" tIns="0" rIns="0" bIns="0" rtlCol="0" anchor="ctr"/>
          <a:lstStyle/>
          <a:p>
            <a:pPr algn="r" indent="0" marL="0">
              <a:buNone/>
            </a:pPr>
            <a:r>
              <a:rPr lang="en-US" sz="1000" b="1" spc="150" kern="0" dirty="0">
                <a:solidFill>
                  <a:schemeClr val="tx2"/>
                </a:solidFill>
              </a:rPr>
              <a:t>NUESTRA LECTURA</a:t>
            </a:r>
            <a:endParaRPr lang="en-US" sz="1000" dirty="0"/>
          </a:p>
        </p:txBody>
      </p:sp>
      <p:sp>
        <p:nvSpPr>
          <p:cNvPr id="5" name="Text 0"/>
          <p:cNvSpPr/>
          <p:nvPr>
            <p:ph idx="100" type="title" hasCustomPrompt="1"/>
          </p:nvPr>
        </p:nvSpPr>
        <p:spPr>
          <a:xfrm>
            <a:off x="457200" y="566928"/>
            <a:ext cx="8229600" cy="640080"/>
          </a:xfrm>
          <a:prstGeom prst="rect">
            <a:avLst/>
          </a:prstGeom>
          <a:noFill/>
          <a:ln/>
        </p:spPr>
        <p:txBody>
          <a:bodyPr wrap="square" lIns="0" tIns="0" rIns="0" bIns="0" rtlCol="0" anchor="t"/>
          <a:lstStyle/>
          <a:p>
            <a:pPr algn="l" indent="0" marL="0">
              <a:buNone/>
            </a:pPr>
            <a:r>
              <a:rPr lang="en-US" sz="2800" b="1" dirty="0">
                <a:solidFill>
                  <a:schemeClr val="tx1"/>
                </a:solidFill>
              </a:rPr>
              <a:t>Del laboratorio a la vida real</a:t>
            </a:r>
            <a:endParaRPr lang="en-US" sz="2800" dirty="0"/>
          </a:p>
        </p:txBody>
      </p:sp>
      <p:sp>
        <p:nvSpPr>
          <p:cNvPr id="6" name="Problemas de juguete"/>
          <p:cNvSpPr/>
          <p:nvPr/>
        </p:nvSpPr>
        <p:spPr>
          <a:xfrm>
            <a:off x="457200" y="1298448"/>
            <a:ext cx="2606040" cy="3017520"/>
          </a:xfrm>
          <a:prstGeom prst="roundRect">
            <a:avLst>
              <a:gd name="adj" fmla="val 2807"/>
            </a:avLst>
          </a:prstGeom>
          <a:solidFill>
            <a:srgbClr val="F1F2F6"/>
          </a:solidFill>
          <a:ln w="12700">
            <a:solidFill>
              <a:srgbClr val="F1F2F6"/>
            </a:solidFill>
            <a:prstDash val="solid"/>
          </a:ln>
        </p:spPr>
      </p:sp>
      <p:pic>
        <p:nvPicPr>
          <p:cNvPr id="7" name="Image 0" descr="Problemas de juguete">    </p:cNvPr>
          <p:cNvPicPr>
            <a:picLocks noChangeAspect="1"/>
          </p:cNvPicPr>
          <p:nvPr/>
        </p:nvPicPr>
        <p:blipFill>
          <a:blip r:embed="rId1"/>
          <a:stretch>
            <a:fillRect/>
          </a:stretch>
        </p:blipFill>
        <p:spPr>
          <a:xfrm>
            <a:off x="685800" y="1508760"/>
            <a:ext cx="457200" cy="457200"/>
          </a:xfrm>
          <a:prstGeom prst="rect">
            <a:avLst/>
          </a:prstGeom>
        </p:spPr>
      </p:pic>
      <p:sp>
        <p:nvSpPr>
          <p:cNvPr id="8" name="Text 5"/>
          <p:cNvSpPr txBox="1"/>
          <p:nvPr/>
        </p:nvSpPr>
        <p:spPr>
          <a:xfrm>
            <a:off x="685800" y="2103120"/>
            <a:ext cx="2240280" cy="566928"/>
          </a:xfrm>
          <a:prstGeom prst="rect">
            <a:avLst/>
          </a:prstGeom>
          <a:noFill/>
          <a:ln/>
        </p:spPr>
        <p:txBody>
          <a:bodyPr wrap="square" lIns="0" tIns="0" rIns="0" bIns="0" rtlCol="0" anchor="t"/>
          <a:lstStyle/>
          <a:p>
            <a:pPr indent="0" marL="0">
              <a:buNone/>
            </a:pPr>
            <a:r>
              <a:rPr lang="en-US" sz="1600" b="1" dirty="0">
                <a:solidFill>
                  <a:schemeClr val="tx1"/>
                </a:solidFill>
              </a:rPr>
              <a:t>Problemas de juguete</a:t>
            </a:r>
            <a:endParaRPr lang="en-US" sz="1600" dirty="0"/>
          </a:p>
        </p:txBody>
      </p:sp>
      <p:sp>
        <p:nvSpPr>
          <p:cNvPr id="9" name="Text 6"/>
          <p:cNvSpPr txBox="1"/>
          <p:nvPr/>
        </p:nvSpPr>
        <p:spPr>
          <a:xfrm>
            <a:off x="685800" y="2697480"/>
            <a:ext cx="2194560" cy="1554480"/>
          </a:xfrm>
          <a:prstGeom prst="rect">
            <a:avLst/>
          </a:prstGeom>
          <a:noFill/>
          <a:ln/>
        </p:spPr>
        <p:txBody>
          <a:bodyPr wrap="square" lIns="0" tIns="0" rIns="0" bIns="0" rtlCol="0" anchor="t"/>
          <a:lstStyle/>
          <a:p>
            <a:pPr indent="0" marL="0">
              <a:buNone/>
            </a:pPr>
            <a:r>
              <a:rPr lang="en-US" sz="1500" dirty="0">
                <a:solidFill>
                  <a:schemeClr val="tx1"/>
                </a:solidFill>
              </a:rPr>
              <a:t>Nadie razona a diario sobre un bate y una pelota. Se usan problemas sin contenido porque dan control experimental.</a:t>
            </a:r>
            <a:endParaRPr lang="en-US" sz="1500" dirty="0"/>
          </a:p>
        </p:txBody>
      </p:sp>
      <p:sp>
        <p:nvSpPr>
          <p:cNvPr id="10" name="Problemas mal definidos"/>
          <p:cNvSpPr/>
          <p:nvPr/>
        </p:nvSpPr>
        <p:spPr>
          <a:xfrm>
            <a:off x="3264408" y="1298448"/>
            <a:ext cx="2606040" cy="3017520"/>
          </a:xfrm>
          <a:prstGeom prst="roundRect">
            <a:avLst>
              <a:gd name="adj" fmla="val 2807"/>
            </a:avLst>
          </a:prstGeom>
          <a:solidFill>
            <a:srgbClr val="F1F2F6"/>
          </a:solidFill>
          <a:ln w="12700">
            <a:solidFill>
              <a:srgbClr val="F1F2F6"/>
            </a:solidFill>
            <a:prstDash val="solid"/>
          </a:ln>
        </p:spPr>
      </p:sp>
      <p:pic>
        <p:nvPicPr>
          <p:cNvPr id="11" name="Image 1" descr="Problemas mal definidos">    </p:cNvPr>
          <p:cNvPicPr>
            <a:picLocks noChangeAspect="1"/>
          </p:cNvPicPr>
          <p:nvPr/>
        </p:nvPicPr>
        <p:blipFill>
          <a:blip r:embed="rId2"/>
          <a:stretch>
            <a:fillRect/>
          </a:stretch>
        </p:blipFill>
        <p:spPr>
          <a:xfrm>
            <a:off x="3493008" y="1508760"/>
            <a:ext cx="457200" cy="457200"/>
          </a:xfrm>
          <a:prstGeom prst="rect">
            <a:avLst/>
          </a:prstGeom>
        </p:spPr>
      </p:pic>
      <p:sp>
        <p:nvSpPr>
          <p:cNvPr id="12" name="Text 8"/>
          <p:cNvSpPr txBox="1"/>
          <p:nvPr/>
        </p:nvSpPr>
        <p:spPr>
          <a:xfrm>
            <a:off x="3493008" y="2103120"/>
            <a:ext cx="2240280" cy="566928"/>
          </a:xfrm>
          <a:prstGeom prst="rect">
            <a:avLst/>
          </a:prstGeom>
          <a:noFill/>
          <a:ln/>
        </p:spPr>
        <p:txBody>
          <a:bodyPr wrap="square" lIns="0" tIns="0" rIns="0" bIns="0" rtlCol="0" anchor="t"/>
          <a:lstStyle/>
          <a:p>
            <a:pPr indent="0" marL="0">
              <a:buNone/>
            </a:pPr>
            <a:r>
              <a:rPr lang="en-US" sz="1600" b="1" dirty="0">
                <a:solidFill>
                  <a:schemeClr val="tx1"/>
                </a:solidFill>
              </a:rPr>
              <a:t>Problemas mal definidos</a:t>
            </a:r>
            <a:endParaRPr lang="en-US" sz="1600" dirty="0"/>
          </a:p>
        </p:txBody>
      </p:sp>
      <p:sp>
        <p:nvSpPr>
          <p:cNvPr id="13" name="Text 9"/>
          <p:cNvSpPr txBox="1"/>
          <p:nvPr/>
        </p:nvSpPr>
        <p:spPr>
          <a:xfrm>
            <a:off x="3493008" y="2697480"/>
            <a:ext cx="2194560" cy="1554480"/>
          </a:xfrm>
          <a:prstGeom prst="rect">
            <a:avLst/>
          </a:prstGeom>
          <a:noFill/>
          <a:ln/>
        </p:spPr>
        <p:txBody>
          <a:bodyPr wrap="square" lIns="0" tIns="0" rIns="0" bIns="0" rtlCol="0" anchor="t"/>
          <a:lstStyle/>
          <a:p>
            <a:pPr indent="0" marL="0">
              <a:buNone/>
            </a:pPr>
            <a:r>
              <a:rPr lang="en-US" sz="1500" dirty="0">
                <a:solidFill>
                  <a:schemeClr val="tx1"/>
                </a:solidFill>
              </a:rPr>
              <a:t>No hay un criterio claro de solución. Importa la racionalidad de propósito, no solo la de proceso (Evans).</a:t>
            </a:r>
            <a:endParaRPr lang="en-US" sz="1500" dirty="0"/>
          </a:p>
        </p:txBody>
      </p:sp>
      <p:sp>
        <p:nvSpPr>
          <p:cNvPr id="14" name="Razonamiento revisable"/>
          <p:cNvSpPr/>
          <p:nvPr/>
        </p:nvSpPr>
        <p:spPr>
          <a:xfrm>
            <a:off x="6071616" y="1298448"/>
            <a:ext cx="2606040" cy="3017520"/>
          </a:xfrm>
          <a:prstGeom prst="roundRect">
            <a:avLst>
              <a:gd name="adj" fmla="val 2807"/>
            </a:avLst>
          </a:prstGeom>
          <a:solidFill>
            <a:srgbClr val="F1F2F6"/>
          </a:solidFill>
          <a:ln w="12700">
            <a:solidFill>
              <a:srgbClr val="F1F2F6"/>
            </a:solidFill>
            <a:prstDash val="solid"/>
          </a:ln>
        </p:spPr>
      </p:sp>
      <p:pic>
        <p:nvPicPr>
          <p:cNvPr id="15" name="Image 2" descr="Razonamiento revisable">    </p:cNvPr>
          <p:cNvPicPr>
            <a:picLocks noChangeAspect="1"/>
          </p:cNvPicPr>
          <p:nvPr/>
        </p:nvPicPr>
        <p:blipFill>
          <a:blip r:embed="rId3"/>
          <a:stretch>
            <a:fillRect/>
          </a:stretch>
        </p:blipFill>
        <p:spPr>
          <a:xfrm>
            <a:off x="6300216" y="1508760"/>
            <a:ext cx="457200" cy="457200"/>
          </a:xfrm>
          <a:prstGeom prst="rect">
            <a:avLst/>
          </a:prstGeom>
        </p:spPr>
      </p:pic>
      <p:sp>
        <p:nvSpPr>
          <p:cNvPr id="16" name="Text 11"/>
          <p:cNvSpPr txBox="1"/>
          <p:nvPr/>
        </p:nvSpPr>
        <p:spPr>
          <a:xfrm>
            <a:off x="6300216" y="2103120"/>
            <a:ext cx="2240280" cy="566928"/>
          </a:xfrm>
          <a:prstGeom prst="rect">
            <a:avLst/>
          </a:prstGeom>
          <a:noFill/>
          <a:ln/>
        </p:spPr>
        <p:txBody>
          <a:bodyPr wrap="square" lIns="0" tIns="0" rIns="0" bIns="0" rtlCol="0" anchor="t"/>
          <a:lstStyle/>
          <a:p>
            <a:pPr indent="0" marL="0">
              <a:buNone/>
            </a:pPr>
            <a:r>
              <a:rPr lang="en-US" sz="1600" b="1" dirty="0">
                <a:solidFill>
                  <a:schemeClr val="tx1"/>
                </a:solidFill>
              </a:rPr>
              <a:t>Razonamiento revisable</a:t>
            </a:r>
            <a:endParaRPr lang="en-US" sz="1600" dirty="0"/>
          </a:p>
        </p:txBody>
      </p:sp>
      <p:sp>
        <p:nvSpPr>
          <p:cNvPr id="17" name="Text 12"/>
          <p:cNvSpPr txBox="1"/>
          <p:nvPr/>
        </p:nvSpPr>
        <p:spPr>
          <a:xfrm>
            <a:off x="6300216" y="2697480"/>
            <a:ext cx="2194560" cy="1554480"/>
          </a:xfrm>
          <a:prstGeom prst="rect">
            <a:avLst/>
          </a:prstGeom>
          <a:noFill/>
          <a:ln/>
        </p:spPr>
        <p:txBody>
          <a:bodyPr wrap="square" lIns="0" tIns="0" rIns="0" bIns="0" rtlCol="0" anchor="t"/>
          <a:lstStyle/>
          <a:p>
            <a:pPr indent="0" marL="0">
              <a:buNone/>
            </a:pPr>
            <a:r>
              <a:rPr lang="en-US" sz="1500" dirty="0">
                <a:solidFill>
                  <a:schemeClr val="tx1"/>
                </a:solidFill>
              </a:rPr>
              <a:t>Sacamos conclusiones por defecto y las retiramos con información nueva: el cambio externo que el modelo deja de lado.</a:t>
            </a:r>
            <a:endParaRPr lang="en-US" sz="1500" dirty="0"/>
          </a:p>
        </p:txBody>
      </p:sp>
      <p:sp>
        <p:nvSpPr>
          <p:cNvPr id="18" name="Text 0"/>
          <p:cNvSpPr/>
          <p:nvPr>
            <p:ph idx="101" type="body" hasCustomPrompt="1"/>
          </p:nvPr>
        </p:nvSpPr>
        <p:spPr>
          <a:xfrm>
            <a:off x="457200" y="4681728"/>
            <a:ext cx="7863840" cy="347472"/>
          </a:xfrm>
          <a:prstGeom prst="rect">
            <a:avLst/>
          </a:prstGeom>
          <a:noFill/>
          <a:ln/>
        </p:spPr>
        <p:txBody>
          <a:bodyPr wrap="square" lIns="0" tIns="0" rIns="0" bIns="0" rtlCol="0" anchor="ctr"/>
          <a:lstStyle/>
          <a:p>
            <a:pPr indent="0" marL="0">
              <a:buNone/>
            </a:pPr>
            <a:r>
              <a:rPr lang="en-US" sz="1000" i="1" dirty="0">
                <a:solidFill>
                  <a:schemeClr val="tx2"/>
                </a:solidFill>
              </a:rPr>
              <a:t>De Neys (2023b, p. 68); Postigo Angón (2014, pp. 8, 24); Pérez Echeverría (2014, p. 4); Valiña y Martín (2014, p. 21); Quiroga (2013, pp. 82-84)</a:t>
            </a:r>
            <a:endParaRPr lang="en-US" sz="1000" dirty="0"/>
          </a:p>
        </p:txBody>
      </p:sp>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Etiqueta de rol"/>
          <p:cNvSpPr/>
          <p:nvPr/>
        </p:nvSpPr>
        <p:spPr>
          <a:xfrm>
            <a:off x="457200" y="201168"/>
            <a:ext cx="1463040" cy="274320"/>
          </a:xfrm>
          <a:prstGeom prst="roundRect">
            <a:avLst>
              <a:gd name="adj" fmla="val 50000"/>
            </a:avLst>
          </a:prstGeom>
          <a:solidFill>
            <a:srgbClr val="E9A23B"/>
          </a:solidFill>
          <a:ln w="12700">
            <a:solidFill>
              <a:srgbClr val="E9A23B"/>
            </a:solidFill>
            <a:prstDash val="solid"/>
          </a:ln>
        </p:spPr>
      </p:sp>
      <p:sp>
        <p:nvSpPr>
          <p:cNvPr id="3" name="Texto de etiqueta"/>
          <p:cNvSpPr txBox="1"/>
          <p:nvPr/>
        </p:nvSpPr>
        <p:spPr>
          <a:xfrm>
            <a:off x="457200" y="201168"/>
            <a:ext cx="1463040" cy="274320"/>
          </a:xfrm>
          <a:prstGeom prst="rect">
            <a:avLst/>
          </a:prstGeom>
          <a:noFill/>
          <a:ln/>
        </p:spPr>
        <p:txBody>
          <a:bodyPr wrap="square" lIns="0" tIns="0" rIns="0" bIns="0" rtlCol="0" anchor="ctr"/>
          <a:lstStyle/>
          <a:p>
            <a:pPr algn="ctr" indent="0" marL="0">
              <a:buNone/>
            </a:pPr>
            <a:r>
              <a:rPr lang="en-US" sz="1100" b="1" spc="150" kern="0" dirty="0">
                <a:solidFill>
                  <a:schemeClr val="tx1"/>
                </a:solidFill>
              </a:rPr>
              <a:t>CONCLUSIÓN</a:t>
            </a:r>
            <a:endParaRPr lang="en-US" sz="1100" dirty="0"/>
          </a:p>
        </p:txBody>
      </p:sp>
      <p:sp>
        <p:nvSpPr>
          <p:cNvPr id="4" name="Marca del recorrido"/>
          <p:cNvSpPr txBox="1"/>
          <p:nvPr/>
        </p:nvSpPr>
        <p:spPr>
          <a:xfrm>
            <a:off x="4114800" y="201168"/>
            <a:ext cx="4572000" cy="274320"/>
          </a:xfrm>
          <a:prstGeom prst="rect">
            <a:avLst/>
          </a:prstGeom>
          <a:noFill/>
          <a:ln/>
        </p:spPr>
        <p:txBody>
          <a:bodyPr wrap="square" lIns="0" tIns="0" rIns="0" bIns="0" rtlCol="0" anchor="ctr"/>
          <a:lstStyle/>
          <a:p>
            <a:pPr algn="r" indent="0" marL="0">
              <a:buNone/>
            </a:pPr>
            <a:r>
              <a:rPr lang="en-US" sz="1000" b="1" spc="150" kern="0" dirty="0">
                <a:solidFill>
                  <a:schemeClr val="bg2"/>
                </a:solidFill>
              </a:rPr>
              <a:t>ARTÍCULO · SECCIÓN 5</a:t>
            </a:r>
            <a:endParaRPr lang="en-US" sz="1000" dirty="0"/>
          </a:p>
        </p:txBody>
      </p:sp>
      <p:sp>
        <p:nvSpPr>
          <p:cNvPr id="5" name="Text 0"/>
          <p:cNvSpPr/>
          <p:nvPr>
            <p:ph idx="100" type="title" hasCustomPrompt="1"/>
          </p:nvPr>
        </p:nvSpPr>
        <p:spPr>
          <a:xfrm>
            <a:off x="457200" y="566928"/>
            <a:ext cx="8229600" cy="640080"/>
          </a:xfrm>
          <a:prstGeom prst="rect">
            <a:avLst/>
          </a:prstGeom>
          <a:noFill/>
          <a:ln/>
        </p:spPr>
        <p:txBody>
          <a:bodyPr wrap="square" lIns="0" tIns="0" rIns="0" bIns="0" rtlCol="0" anchor="t"/>
          <a:lstStyle/>
          <a:p>
            <a:pPr algn="l" indent="0" marL="0">
              <a:buNone/>
            </a:pPr>
            <a:r>
              <a:rPr lang="en-US" sz="2800" b="1" dirty="0">
                <a:solidFill>
                  <a:schemeClr val="bg1"/>
                </a:solidFill>
              </a:rPr>
              <a:t>Un punto de partida, no un punto final</a:t>
            </a:r>
            <a:endParaRPr lang="en-US" sz="2800" dirty="0"/>
          </a:p>
        </p:txBody>
      </p:sp>
      <p:sp>
        <p:nvSpPr>
          <p:cNvPr id="6" name="Conclusión del autor"/>
          <p:cNvSpPr/>
          <p:nvPr/>
        </p:nvSpPr>
        <p:spPr>
          <a:xfrm>
            <a:off x="457200" y="1325880"/>
            <a:ext cx="3931920" cy="2926080"/>
          </a:xfrm>
          <a:prstGeom prst="roundRect">
            <a:avLst>
              <a:gd name="adj" fmla="val 2500"/>
            </a:avLst>
          </a:prstGeom>
          <a:solidFill>
            <a:srgbClr val="343954"/>
          </a:solidFill>
          <a:ln w="12700">
            <a:solidFill>
              <a:srgbClr val="343954"/>
            </a:solidFill>
            <a:prstDash val="solid"/>
          </a:ln>
        </p:spPr>
      </p:sp>
      <p:sp>
        <p:nvSpPr>
          <p:cNvPr id="7" name="Text 5"/>
          <p:cNvSpPr txBox="1"/>
          <p:nvPr/>
        </p:nvSpPr>
        <p:spPr>
          <a:xfrm>
            <a:off x="685800" y="1463040"/>
            <a:ext cx="3474720" cy="320040"/>
          </a:xfrm>
          <a:prstGeom prst="rect">
            <a:avLst/>
          </a:prstGeom>
          <a:noFill/>
          <a:ln/>
        </p:spPr>
        <p:txBody>
          <a:bodyPr wrap="square" lIns="0" tIns="0" rIns="0" bIns="0" rtlCol="0" anchor="t"/>
          <a:lstStyle/>
          <a:p>
            <a:pPr indent="0" marL="0">
              <a:buNone/>
            </a:pPr>
            <a:r>
              <a:rPr lang="en-US" sz="1300" b="1" spc="100" kern="0" dirty="0">
                <a:solidFill>
                  <a:schemeClr val="accent1"/>
                </a:solidFill>
              </a:rPr>
              <a:t>El autor concluye</a:t>
            </a:r>
            <a:endParaRPr lang="en-US" sz="1300" dirty="0"/>
          </a:p>
        </p:txBody>
      </p:sp>
      <p:sp>
        <p:nvSpPr>
          <p:cNvPr id="8" name="Text 6"/>
          <p:cNvSpPr txBox="1"/>
          <p:nvPr/>
        </p:nvSpPr>
        <p:spPr>
          <a:xfrm>
            <a:off x="685800" y="1828800"/>
            <a:ext cx="3520440" cy="2286000"/>
          </a:xfrm>
          <a:prstGeom prst="rect">
            <a:avLst/>
          </a:prstGeom>
          <a:noFill/>
          <a:ln/>
        </p:spPr>
        <p:txBody>
          <a:bodyPr wrap="square" lIns="0" tIns="0" rIns="0" bIns="0" rtlCol="0" anchor="ctr"/>
          <a:lstStyle/>
          <a:p>
            <a:pPr indent="0" marL="0">
              <a:buNone/>
            </a:pPr>
            <a:r>
              <a:rPr lang="en-US" sz="1900" dirty="0">
                <a:solidFill>
                  <a:schemeClr val="bg1"/>
                </a:solidFill>
                <a:latin typeface="Cambria" pitchFamily="34" charset="0"/>
                <a:ea typeface="Cambria" pitchFamily="34" charset="-122"/>
                <a:cs typeface="Cambria" pitchFamily="34" charset="-120"/>
              </a:rPr>
              <a:t>Hay que repensar los modelos duales. El modelo no exclusivo es un punto de partida que, por lo menos, obliga a explicar cómo cambiamos de sistema.</a:t>
            </a:r>
            <a:endParaRPr lang="en-US" sz="1900" dirty="0"/>
          </a:p>
        </p:txBody>
      </p:sp>
      <p:sp>
        <p:nvSpPr>
          <p:cNvPr id="9" name="Text 7"/>
          <p:cNvSpPr txBox="1"/>
          <p:nvPr/>
        </p:nvSpPr>
        <p:spPr>
          <a:xfrm>
            <a:off x="4754880" y="1325880"/>
            <a:ext cx="3931920" cy="320040"/>
          </a:xfrm>
          <a:prstGeom prst="rect">
            <a:avLst/>
          </a:prstGeom>
          <a:noFill/>
          <a:ln/>
        </p:spPr>
        <p:txBody>
          <a:bodyPr wrap="square" lIns="0" tIns="0" rIns="0" bIns="0" rtlCol="0" anchor="t"/>
          <a:lstStyle/>
          <a:p>
            <a:pPr indent="0" marL="0">
              <a:buNone/>
            </a:pPr>
            <a:r>
              <a:rPr lang="en-US" sz="1300" b="1" spc="100" kern="0" dirty="0">
                <a:solidFill>
                  <a:schemeClr val="accent1"/>
                </a:solidFill>
              </a:rPr>
              <a:t>Nuestra lectura</a:t>
            </a:r>
            <a:endParaRPr lang="en-US" sz="1300" dirty="0"/>
          </a:p>
        </p:txBody>
      </p:sp>
      <p:sp>
        <p:nvSpPr>
          <p:cNvPr id="10" name="Cierre Aporte"/>
          <p:cNvSpPr/>
          <p:nvPr/>
        </p:nvSpPr>
        <p:spPr>
          <a:xfrm>
            <a:off x="4754880" y="1856232"/>
            <a:ext cx="274320" cy="274320"/>
          </a:xfrm>
          <a:prstGeom prst="ellipse">
            <a:avLst/>
          </a:prstGeom>
          <a:solidFill>
            <a:srgbClr val="2A8C82"/>
          </a:solidFill>
          <a:ln w="12700">
            <a:solidFill>
              <a:srgbClr val="2A8C82"/>
            </a:solidFill>
            <a:prstDash val="solid"/>
          </a:ln>
        </p:spPr>
      </p:sp>
      <p:sp>
        <p:nvSpPr>
          <p:cNvPr id="11" name="Text 9"/>
          <p:cNvSpPr txBox="1"/>
          <p:nvPr/>
        </p:nvSpPr>
        <p:spPr>
          <a:xfrm>
            <a:off x="5166360" y="1783080"/>
            <a:ext cx="3520440" cy="365760"/>
          </a:xfrm>
          <a:prstGeom prst="rect">
            <a:avLst/>
          </a:prstGeom>
          <a:noFill/>
          <a:ln/>
        </p:spPr>
        <p:txBody>
          <a:bodyPr wrap="square" lIns="0" tIns="0" rIns="0" bIns="0" rtlCol="0" anchor="ctr"/>
          <a:lstStyle/>
          <a:p>
            <a:pPr indent="0" marL="0">
              <a:buNone/>
            </a:pPr>
            <a:r>
              <a:rPr lang="en-US" sz="1600" b="1" dirty="0">
                <a:solidFill>
                  <a:schemeClr val="bg1"/>
                </a:solidFill>
              </a:rPr>
              <a:t>Aporte</a:t>
            </a:r>
            <a:endParaRPr lang="en-US" sz="1600" dirty="0"/>
          </a:p>
        </p:txBody>
      </p:sp>
      <p:sp>
        <p:nvSpPr>
          <p:cNvPr id="12" name="Text 10"/>
          <p:cNvSpPr txBox="1"/>
          <p:nvPr/>
        </p:nvSpPr>
        <p:spPr>
          <a:xfrm>
            <a:off x="5166360" y="2148840"/>
            <a:ext cx="3520440" cy="502920"/>
          </a:xfrm>
          <a:prstGeom prst="rect">
            <a:avLst/>
          </a:prstGeom>
          <a:noFill/>
          <a:ln/>
        </p:spPr>
        <p:txBody>
          <a:bodyPr wrap="square" lIns="0" tIns="0" rIns="0" bIns="0" rtlCol="0" anchor="t"/>
          <a:lstStyle/>
          <a:p>
            <a:pPr indent="0" marL="0">
              <a:buNone/>
            </a:pPr>
            <a:r>
              <a:rPr lang="en-US" sz="1300" dirty="0">
                <a:solidFill>
                  <a:schemeClr val="bg2"/>
                </a:solidFill>
              </a:rPr>
              <a:t>Exclusividad y cambio son el mismo problema</a:t>
            </a:r>
            <a:endParaRPr lang="en-US" sz="1300" dirty="0"/>
          </a:p>
        </p:txBody>
      </p:sp>
      <p:sp>
        <p:nvSpPr>
          <p:cNvPr id="13" name="Cierre Límites"/>
          <p:cNvSpPr/>
          <p:nvPr/>
        </p:nvSpPr>
        <p:spPr>
          <a:xfrm>
            <a:off x="4754880" y="2770632"/>
            <a:ext cx="274320" cy="274320"/>
          </a:xfrm>
          <a:prstGeom prst="ellipse">
            <a:avLst/>
          </a:prstGeom>
          <a:solidFill>
            <a:srgbClr val="D2553F"/>
          </a:solidFill>
          <a:ln w="12700">
            <a:solidFill>
              <a:srgbClr val="D2553F"/>
            </a:solidFill>
            <a:prstDash val="solid"/>
          </a:ln>
        </p:spPr>
      </p:sp>
      <p:sp>
        <p:nvSpPr>
          <p:cNvPr id="14" name="Text 12"/>
          <p:cNvSpPr txBox="1"/>
          <p:nvPr/>
        </p:nvSpPr>
        <p:spPr>
          <a:xfrm>
            <a:off x="5166360" y="2697480"/>
            <a:ext cx="3520440" cy="365760"/>
          </a:xfrm>
          <a:prstGeom prst="rect">
            <a:avLst/>
          </a:prstGeom>
          <a:noFill/>
          <a:ln/>
        </p:spPr>
        <p:txBody>
          <a:bodyPr wrap="square" lIns="0" tIns="0" rIns="0" bIns="0" rtlCol="0" anchor="ctr"/>
          <a:lstStyle/>
          <a:p>
            <a:pPr indent="0" marL="0">
              <a:buNone/>
            </a:pPr>
            <a:r>
              <a:rPr lang="en-US" sz="1600" b="1" dirty="0">
                <a:solidFill>
                  <a:schemeClr val="bg1"/>
                </a:solidFill>
              </a:rPr>
              <a:t>Límites</a:t>
            </a:r>
            <a:endParaRPr lang="en-US" sz="1600" dirty="0"/>
          </a:p>
        </p:txBody>
      </p:sp>
      <p:sp>
        <p:nvSpPr>
          <p:cNvPr id="15" name="Text 13"/>
          <p:cNvSpPr txBox="1"/>
          <p:nvPr/>
        </p:nvSpPr>
        <p:spPr>
          <a:xfrm>
            <a:off x="5166360" y="3063240"/>
            <a:ext cx="3520440" cy="502920"/>
          </a:xfrm>
          <a:prstGeom prst="rect">
            <a:avLst/>
          </a:prstGeom>
          <a:noFill/>
          <a:ln/>
        </p:spPr>
        <p:txBody>
          <a:bodyPr wrap="square" lIns="0" tIns="0" rIns="0" bIns="0" rtlCol="0" anchor="t"/>
          <a:lstStyle/>
          <a:p>
            <a:pPr indent="0" marL="0">
              <a:buNone/>
            </a:pPr>
            <a:r>
              <a:rPr lang="en-US" sz="1300" dirty="0">
                <a:solidFill>
                  <a:schemeClr val="bg2"/>
                </a:solidFill>
              </a:rPr>
              <a:t>Modelo verbal · automatización poco probada · tareas artificiales</a:t>
            </a:r>
            <a:endParaRPr lang="en-US" sz="1300" dirty="0"/>
          </a:p>
        </p:txBody>
      </p:sp>
      <p:sp>
        <p:nvSpPr>
          <p:cNvPr id="16" name="Cierre Para seguir"/>
          <p:cNvSpPr/>
          <p:nvPr/>
        </p:nvSpPr>
        <p:spPr>
          <a:xfrm>
            <a:off x="4754880" y="3685032"/>
            <a:ext cx="274320" cy="274320"/>
          </a:xfrm>
          <a:prstGeom prst="ellipse">
            <a:avLst/>
          </a:prstGeom>
          <a:solidFill>
            <a:srgbClr val="E9A23B"/>
          </a:solidFill>
          <a:ln w="12700">
            <a:solidFill>
              <a:srgbClr val="E9A23B"/>
            </a:solidFill>
            <a:prstDash val="solid"/>
          </a:ln>
        </p:spPr>
      </p:sp>
      <p:sp>
        <p:nvSpPr>
          <p:cNvPr id="17" name="Text 15"/>
          <p:cNvSpPr txBox="1"/>
          <p:nvPr/>
        </p:nvSpPr>
        <p:spPr>
          <a:xfrm>
            <a:off x="5166360" y="3611880"/>
            <a:ext cx="3520440" cy="365760"/>
          </a:xfrm>
          <a:prstGeom prst="rect">
            <a:avLst/>
          </a:prstGeom>
          <a:noFill/>
          <a:ln/>
        </p:spPr>
        <p:txBody>
          <a:bodyPr wrap="square" lIns="0" tIns="0" rIns="0" bIns="0" rtlCol="0" anchor="ctr"/>
          <a:lstStyle/>
          <a:p>
            <a:pPr indent="0" marL="0">
              <a:buNone/>
            </a:pPr>
            <a:r>
              <a:rPr lang="en-US" sz="1600" b="1" dirty="0">
                <a:solidFill>
                  <a:schemeClr val="bg1"/>
                </a:solidFill>
              </a:rPr>
              <a:t>Para seguir</a:t>
            </a:r>
            <a:endParaRPr lang="en-US" sz="1600" dirty="0"/>
          </a:p>
        </p:txBody>
      </p:sp>
      <p:sp>
        <p:nvSpPr>
          <p:cNvPr id="18" name="Text 16"/>
          <p:cNvSpPr txBox="1"/>
          <p:nvPr/>
        </p:nvSpPr>
        <p:spPr>
          <a:xfrm>
            <a:off x="5166360" y="3977640"/>
            <a:ext cx="3520440" cy="502920"/>
          </a:xfrm>
          <a:prstGeom prst="rect">
            <a:avLst/>
          </a:prstGeom>
          <a:noFill/>
          <a:ln/>
        </p:spPr>
        <p:txBody>
          <a:bodyPr wrap="square" lIns="0" tIns="0" rIns="0" bIns="0" rtlCol="0" anchor="t"/>
          <a:lstStyle/>
          <a:p>
            <a:pPr indent="0" marL="0">
              <a:buNone/>
            </a:pPr>
            <a:r>
              <a:rPr lang="en-US" sz="1300" dirty="0">
                <a:solidFill>
                  <a:schemeClr val="bg2"/>
                </a:solidFill>
              </a:rPr>
              <a:t>Estudios de entrenamiento y problemas reales</a:t>
            </a:r>
            <a:endParaRPr lang="en-US" sz="1300" dirty="0"/>
          </a:p>
        </p:txBody>
      </p:sp>
      <p:sp>
        <p:nvSpPr>
          <p:cNvPr id="19" name="Text 0"/>
          <p:cNvSpPr/>
          <p:nvPr>
            <p:ph idx="101" type="body" hasCustomPrompt="1"/>
          </p:nvPr>
        </p:nvSpPr>
        <p:spPr>
          <a:xfrm>
            <a:off x="457200" y="4681728"/>
            <a:ext cx="7863840" cy="347472"/>
          </a:xfrm>
          <a:prstGeom prst="rect">
            <a:avLst/>
          </a:prstGeom>
          <a:noFill/>
          <a:ln/>
        </p:spPr>
        <p:txBody>
          <a:bodyPr wrap="square" lIns="0" tIns="0" rIns="0" bIns="0" rtlCol="0" anchor="ctr"/>
          <a:lstStyle/>
          <a:p>
            <a:pPr indent="0" marL="0">
              <a:buNone/>
            </a:pPr>
            <a:r>
              <a:rPr lang="en-US" sz="1000" i="1" dirty="0">
                <a:solidFill>
                  <a:schemeClr val="bg2"/>
                </a:solidFill>
              </a:rPr>
              <a:t>De Neys (2023a, p. 16)</a:t>
            </a:r>
            <a:endParaRPr lang="en-US" sz="1000" dirty="0"/>
          </a:p>
        </p:txBody>
      </p:sp>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Etiqueta de rol"/>
          <p:cNvSpPr/>
          <p:nvPr/>
        </p:nvSpPr>
        <p:spPr>
          <a:xfrm>
            <a:off x="457200" y="201168"/>
            <a:ext cx="1664208" cy="274320"/>
          </a:xfrm>
          <a:prstGeom prst="roundRect">
            <a:avLst>
              <a:gd name="adj" fmla="val 50000"/>
            </a:avLst>
          </a:prstGeom>
          <a:solidFill>
            <a:srgbClr val="E9A23B"/>
          </a:solidFill>
          <a:ln w="12700">
            <a:solidFill>
              <a:srgbClr val="E9A23B"/>
            </a:solidFill>
            <a:prstDash val="solid"/>
          </a:ln>
        </p:spPr>
      </p:sp>
      <p:sp>
        <p:nvSpPr>
          <p:cNvPr id="3" name="Texto de etiqueta"/>
          <p:cNvSpPr txBox="1"/>
          <p:nvPr/>
        </p:nvSpPr>
        <p:spPr>
          <a:xfrm>
            <a:off x="457200" y="201168"/>
            <a:ext cx="1664208" cy="274320"/>
          </a:xfrm>
          <a:prstGeom prst="rect">
            <a:avLst/>
          </a:prstGeom>
          <a:noFill/>
          <a:ln/>
        </p:spPr>
        <p:txBody>
          <a:bodyPr wrap="square" lIns="0" tIns="0" rIns="0" bIns="0" rtlCol="0" anchor="ctr"/>
          <a:lstStyle/>
          <a:p>
            <a:pPr algn="ctr" indent="0" marL="0">
              <a:buNone/>
            </a:pPr>
            <a:r>
              <a:rPr lang="en-US" sz="1100" b="1" spc="150" kern="0" dirty="0">
                <a:solidFill>
                  <a:schemeClr val="tx1"/>
                </a:solidFill>
              </a:rPr>
              <a:t>PARA DEBATIR</a:t>
            </a:r>
            <a:endParaRPr lang="en-US" sz="1100" dirty="0"/>
          </a:p>
        </p:txBody>
      </p:sp>
      <p:sp>
        <p:nvSpPr>
          <p:cNvPr id="4" name="Text 0"/>
          <p:cNvSpPr/>
          <p:nvPr>
            <p:ph idx="100" type="title" hasCustomPrompt="1"/>
          </p:nvPr>
        </p:nvSpPr>
        <p:spPr>
          <a:xfrm>
            <a:off x="457200" y="566928"/>
            <a:ext cx="8229600" cy="640080"/>
          </a:xfrm>
          <a:prstGeom prst="rect">
            <a:avLst/>
          </a:prstGeom>
          <a:noFill/>
          <a:ln/>
        </p:spPr>
        <p:txBody>
          <a:bodyPr wrap="square" lIns="0" tIns="0" rIns="0" bIns="0" rtlCol="0" anchor="t"/>
          <a:lstStyle/>
          <a:p>
            <a:pPr algn="l" indent="0" marL="0">
              <a:buNone/>
            </a:pPr>
            <a:r>
              <a:rPr lang="en-US" sz="2800" b="1" dirty="0">
                <a:solidFill>
                  <a:schemeClr val="bg1"/>
                </a:solidFill>
              </a:rPr>
              <a:t>¿Lo que se practica se vuelve intuición?</a:t>
            </a:r>
            <a:endParaRPr lang="en-US" sz="2800" dirty="0"/>
          </a:p>
        </p:txBody>
      </p:sp>
      <p:pic>
        <p:nvPicPr>
          <p:cNvPr id="5" name="Image 0" descr="Debate">    </p:cNvPr>
          <p:cNvPicPr>
            <a:picLocks noChangeAspect="1"/>
          </p:cNvPicPr>
          <p:nvPr/>
        </p:nvPicPr>
        <p:blipFill>
          <a:blip r:embed="rId1"/>
          <a:stretch>
            <a:fillRect/>
          </a:stretch>
        </p:blipFill>
        <p:spPr>
          <a:xfrm>
            <a:off x="457200" y="1417320"/>
            <a:ext cx="594360" cy="594360"/>
          </a:xfrm>
          <a:prstGeom prst="rect">
            <a:avLst/>
          </a:prstGeom>
        </p:spPr>
      </p:pic>
      <p:sp>
        <p:nvSpPr>
          <p:cNvPr id="6" name="Text 3"/>
          <p:cNvSpPr txBox="1"/>
          <p:nvPr/>
        </p:nvSpPr>
        <p:spPr>
          <a:xfrm>
            <a:off x="457200" y="2194560"/>
            <a:ext cx="7863840" cy="1005840"/>
          </a:xfrm>
          <a:prstGeom prst="rect">
            <a:avLst/>
          </a:prstGeom>
          <a:noFill/>
          <a:ln/>
        </p:spPr>
        <p:txBody>
          <a:bodyPr wrap="square" lIns="0" tIns="0" rIns="0" bIns="0" rtlCol="0" anchor="t"/>
          <a:lstStyle/>
          <a:p>
            <a:pPr indent="0" marL="0">
              <a:buNone/>
            </a:pPr>
            <a:r>
              <a:rPr lang="en-US" sz="2400" b="1" dirty="0">
                <a:solidFill>
                  <a:schemeClr val="bg1"/>
                </a:solidFill>
                <a:latin typeface="Cambria" pitchFamily="34" charset="0"/>
                <a:ea typeface="Cambria" pitchFamily="34" charset="-122"/>
                <a:cs typeface="Cambria" pitchFamily="34" charset="-120"/>
              </a:rPr>
              <a:t>¿Les pasó que algo que al principio tenían que pensar con esfuerzo, después les saliera «solo»?</a:t>
            </a:r>
            <a:endParaRPr lang="en-US" sz="2400" dirty="0"/>
          </a:p>
        </p:txBody>
      </p:sp>
      <p:sp>
        <p:nvSpPr>
          <p:cNvPr id="7" name="Text 4"/>
          <p:cNvSpPr txBox="1"/>
          <p:nvPr/>
        </p:nvSpPr>
        <p:spPr>
          <a:xfrm>
            <a:off x="457200" y="3383280"/>
            <a:ext cx="7863840" cy="731520"/>
          </a:xfrm>
          <a:prstGeom prst="rect">
            <a:avLst/>
          </a:prstGeom>
          <a:noFill/>
          <a:ln/>
        </p:spPr>
        <p:txBody>
          <a:bodyPr wrap="square" lIns="0" tIns="0" rIns="0" bIns="0" rtlCol="0" anchor="t"/>
          <a:lstStyle/>
          <a:p>
            <a:pPr indent="0" marL="0">
              <a:buNone/>
            </a:pPr>
            <a:r>
              <a:rPr lang="en-US" sz="1700" i="1" dirty="0">
                <a:solidFill>
                  <a:schemeClr val="accent6"/>
                </a:solidFill>
              </a:rPr>
              <a:t>Esa respuesta automática, ¿es una intuición, como dice De Neys, o pensamiento deliberado más rápido?</a:t>
            </a:r>
            <a:endParaRPr lang="en-US" sz="1700" dirty="0"/>
          </a:p>
        </p:txBody>
      </p:sp>
      <p:sp>
        <p:nvSpPr>
          <p:cNvPr id="9" name="Text 0"/>
          <p:cNvSpPr/>
          <p:nvPr>
            <p:ph idx="101" type="body" hasCustomPrompt="1"/>
          </p:nvPr>
        </p:nvSpPr>
        <p:spPr>
          <a:xfrm>
            <a:off x="457200" y="4681728"/>
            <a:ext cx="7863840" cy="347472"/>
          </a:xfrm>
          <a:prstGeom prst="rect">
            <a:avLst/>
          </a:prstGeom>
          <a:noFill/>
          <a:ln/>
        </p:spPr>
        <p:txBody>
          <a:bodyPr wrap="square" lIns="0" tIns="0" rIns="0" bIns="0" rtlCol="0" anchor="ctr"/>
          <a:lstStyle/>
          <a:p>
            <a:pPr indent="0" marL="0">
              <a:buNone/>
            </a:pPr>
            <a:endParaRPr lang="en-US" sz="1000" dirty="0"/>
          </a:p>
        </p:txBody>
      </p:sp>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566928"/>
            <a:ext cx="8229600" cy="640080"/>
          </a:xfrm>
          <a:prstGeom prst="rect">
            <a:avLst/>
          </a:prstGeom>
          <a:noFill/>
          <a:ln/>
        </p:spPr>
        <p:txBody>
          <a:bodyPr wrap="square" lIns="0" tIns="0" rIns="0" bIns="0" rtlCol="0" anchor="t"/>
          <a:lstStyle/>
          <a:p>
            <a:pPr algn="l" indent="0" marL="0">
              <a:buNone/>
            </a:pPr>
            <a:r>
              <a:rPr lang="en-US" sz="2800" b="1" dirty="0">
                <a:solidFill>
                  <a:schemeClr val="tx1"/>
                </a:solidFill>
              </a:rPr>
              <a:t>Referencias</a:t>
            </a:r>
            <a:endParaRPr lang="en-US" sz="2800" dirty="0"/>
          </a:p>
        </p:txBody>
      </p:sp>
      <p:sp>
        <p:nvSpPr>
          <p:cNvPr id="3" name="Text 1"/>
          <p:cNvSpPr txBox="1"/>
          <p:nvPr/>
        </p:nvSpPr>
        <p:spPr>
          <a:xfrm>
            <a:off x="457200" y="1234440"/>
            <a:ext cx="3977640" cy="3337560"/>
          </a:xfrm>
          <a:prstGeom prst="rect">
            <a:avLst/>
          </a:prstGeom>
          <a:noFill/>
          <a:ln/>
        </p:spPr>
        <p:txBody>
          <a:bodyPr wrap="square" lIns="0" tIns="0" rIns="0" bIns="0" rtlCol="0" anchor="t"/>
          <a:lstStyle/>
          <a:p>
            <a:pPr indent="0" marL="0">
              <a:spcAft>
                <a:spcPts val="600"/>
              </a:spcAft>
              <a:buNone/>
            </a:pPr>
            <a:r>
              <a:rPr lang="en-US" sz="1100" dirty="0">
                <a:solidFill>
                  <a:schemeClr val="tx1"/>
                </a:solidFill>
              </a:rPr>
              <a:t>Ackerman, R., y Morsanyi, K. (2023). We know what stops you from thinking forever: A metacognitive perspective. </a:t>
            </a:r>
            <a:pPr indent="0" marL="0">
              <a:spcAft>
                <a:spcPts val="600"/>
              </a:spcAft>
              <a:buNone/>
            </a:pPr>
            <a:r>
              <a:rPr lang="en-US" sz="1100" i="1" dirty="0">
                <a:solidFill>
                  <a:schemeClr val="tx1"/>
                </a:solidFill>
              </a:rPr>
              <a:t>Behavioral and Brain Sciences, 46</a:t>
            </a:r>
            <a:pPr indent="0" marL="0">
              <a:spcAft>
                <a:spcPts val="600"/>
              </a:spcAft>
              <a:buNone/>
            </a:pPr>
            <a:r>
              <a:rPr lang="en-US" sz="1100" dirty="0">
                <a:solidFill>
                  <a:schemeClr val="tx1"/>
                </a:solidFill>
              </a:rPr>
              <a:t>, e112.</a:t>
            </a:r>
            <a:endParaRPr lang="en-US" sz="1100" dirty="0"/>
          </a:p>
          <a:p>
            <a:pPr indent="0" marL="0">
              <a:spcAft>
                <a:spcPts val="600"/>
              </a:spcAft>
              <a:buNone/>
            </a:pPr>
            <a:r>
              <a:rPr lang="en-US" sz="1100" dirty="0">
                <a:solidFill>
                  <a:schemeClr val="tx1"/>
                </a:solidFill>
              </a:rPr>
              <a:t>De Neys, W. (2023a). Advancing theorizing about fast-and-slow thinking. </a:t>
            </a:r>
            <a:pPr indent="0" marL="0">
              <a:spcAft>
                <a:spcPts val="600"/>
              </a:spcAft>
              <a:buNone/>
            </a:pPr>
            <a:r>
              <a:rPr lang="en-US" sz="1100" i="1" dirty="0">
                <a:solidFill>
                  <a:schemeClr val="tx1"/>
                </a:solidFill>
              </a:rPr>
              <a:t>Behavioral and Brain Sciences, 46</a:t>
            </a:r>
            <a:pPr indent="0" marL="0">
              <a:spcAft>
                <a:spcPts val="600"/>
              </a:spcAft>
              <a:buNone/>
            </a:pPr>
            <a:r>
              <a:rPr lang="en-US" sz="1100" dirty="0">
                <a:solidFill>
                  <a:schemeClr val="tx1"/>
                </a:solidFill>
              </a:rPr>
              <a:t>, e111.</a:t>
            </a:r>
            <a:endParaRPr lang="en-US" sz="1100" dirty="0"/>
          </a:p>
          <a:p>
            <a:pPr indent="0" marL="0">
              <a:spcAft>
                <a:spcPts val="600"/>
              </a:spcAft>
              <a:buNone/>
            </a:pPr>
            <a:r>
              <a:rPr lang="en-US" sz="1100" dirty="0">
                <a:solidFill>
                  <a:schemeClr val="tx1"/>
                </a:solidFill>
              </a:rPr>
              <a:t>De Neys, W. (2023b). Further advancing fast-and-slow theorizing. </a:t>
            </a:r>
            <a:pPr indent="0" marL="0">
              <a:spcAft>
                <a:spcPts val="600"/>
              </a:spcAft>
              <a:buNone/>
            </a:pPr>
            <a:r>
              <a:rPr lang="en-US" sz="1100" i="1" dirty="0">
                <a:solidFill>
                  <a:schemeClr val="tx1"/>
                </a:solidFill>
              </a:rPr>
              <a:t>Behavioral and Brain Sciences, 46</a:t>
            </a:r>
            <a:pPr indent="0" marL="0">
              <a:spcAft>
                <a:spcPts val="600"/>
              </a:spcAft>
              <a:buNone/>
            </a:pPr>
            <a:r>
              <a:rPr lang="en-US" sz="1100" dirty="0">
                <a:solidFill>
                  <a:schemeClr val="tx1"/>
                </a:solidFill>
              </a:rPr>
              <a:t>, e146.</a:t>
            </a:r>
            <a:endParaRPr lang="en-US" sz="1100" dirty="0"/>
          </a:p>
          <a:p>
            <a:pPr indent="0" marL="0">
              <a:spcAft>
                <a:spcPts val="600"/>
              </a:spcAft>
              <a:buNone/>
            </a:pPr>
            <a:r>
              <a:rPr lang="en-US" sz="1100" dirty="0">
                <a:solidFill>
                  <a:schemeClr val="tx1"/>
                </a:solidFill>
              </a:rPr>
              <a:t>González Labra, M. J. (s. f.). Psicología del pensamiento: Esbozo histórico. En </a:t>
            </a:r>
            <a:pPr indent="0" marL="0">
              <a:spcAft>
                <a:spcPts val="600"/>
              </a:spcAft>
              <a:buNone/>
            </a:pPr>
            <a:r>
              <a:rPr lang="en-US" sz="1100" i="1" dirty="0">
                <a:solidFill>
                  <a:schemeClr val="tx1"/>
                </a:solidFill>
              </a:rPr>
              <a:t>Psicología del pensamiento</a:t>
            </a:r>
            <a:pPr indent="0" marL="0">
              <a:spcAft>
                <a:spcPts val="600"/>
              </a:spcAft>
              <a:buNone/>
            </a:pPr>
            <a:r>
              <a:rPr lang="en-US" sz="1100" dirty="0">
                <a:solidFill>
                  <a:schemeClr val="tx1"/>
                </a:solidFill>
              </a:rPr>
              <a:t> (cap. 1). UNED.</a:t>
            </a:r>
            <a:endParaRPr lang="en-US" sz="1100" dirty="0"/>
          </a:p>
          <a:p>
            <a:pPr indent="0" marL="0">
              <a:spcAft>
                <a:spcPts val="600"/>
              </a:spcAft>
              <a:buNone/>
            </a:pPr>
            <a:r>
              <a:rPr lang="en-US" sz="1100" dirty="0">
                <a:solidFill>
                  <a:schemeClr val="tx1"/>
                </a:solidFill>
              </a:rPr>
              <a:t>Pérez Echeverría, M. P. (2014). Solución de problemas. En M. Carretero y M. Asensio (Coords.), </a:t>
            </a:r>
            <a:pPr indent="0" marL="0">
              <a:spcAft>
                <a:spcPts val="600"/>
              </a:spcAft>
              <a:buNone/>
            </a:pPr>
            <a:r>
              <a:rPr lang="en-US" sz="1100" i="1" dirty="0">
                <a:solidFill>
                  <a:schemeClr val="tx1"/>
                </a:solidFill>
              </a:rPr>
              <a:t>Psicología del pensamiento</a:t>
            </a:r>
            <a:pPr indent="0" marL="0">
              <a:spcAft>
                <a:spcPts val="600"/>
              </a:spcAft>
              <a:buNone/>
            </a:pPr>
            <a:r>
              <a:rPr lang="en-US" sz="1100" dirty="0">
                <a:solidFill>
                  <a:schemeClr val="tx1"/>
                </a:solidFill>
              </a:rPr>
              <a:t> (cap. 8). Alianza.</a:t>
            </a:r>
            <a:endParaRPr lang="en-US" sz="1100" dirty="0"/>
          </a:p>
        </p:txBody>
      </p:sp>
      <p:sp>
        <p:nvSpPr>
          <p:cNvPr id="4" name="Text 2"/>
          <p:cNvSpPr txBox="1"/>
          <p:nvPr/>
        </p:nvSpPr>
        <p:spPr>
          <a:xfrm>
            <a:off x="4709160" y="1234440"/>
            <a:ext cx="3977640" cy="3337560"/>
          </a:xfrm>
          <a:prstGeom prst="rect">
            <a:avLst/>
          </a:prstGeom>
          <a:noFill/>
          <a:ln/>
        </p:spPr>
        <p:txBody>
          <a:bodyPr wrap="square" lIns="0" tIns="0" rIns="0" bIns="0" rtlCol="0" anchor="t"/>
          <a:lstStyle/>
          <a:p>
            <a:pPr indent="0" marL="0">
              <a:spcAft>
                <a:spcPts val="600"/>
              </a:spcAft>
              <a:buNone/>
            </a:pPr>
            <a:r>
              <a:rPr lang="en-US" sz="1100" dirty="0">
                <a:solidFill>
                  <a:schemeClr val="tx1"/>
                </a:solidFill>
              </a:rPr>
              <a:t>Pérez Echeverría, M. P., y Bautista, A. (2014). Pensamiento probabilístico. En M. Carretero y M. Asensio (Coords.), </a:t>
            </a:r>
            <a:pPr indent="0" marL="0">
              <a:spcAft>
                <a:spcPts val="600"/>
              </a:spcAft>
              <a:buNone/>
            </a:pPr>
            <a:r>
              <a:rPr lang="en-US" sz="1100" i="1" dirty="0">
                <a:solidFill>
                  <a:schemeClr val="tx1"/>
                </a:solidFill>
              </a:rPr>
              <a:t>Psicología del pensamiento</a:t>
            </a:r>
            <a:pPr indent="0" marL="0">
              <a:spcAft>
                <a:spcPts val="600"/>
              </a:spcAft>
              <a:buNone/>
            </a:pPr>
            <a:r>
              <a:rPr lang="en-US" sz="1100" dirty="0">
                <a:solidFill>
                  <a:schemeClr val="tx1"/>
                </a:solidFill>
              </a:rPr>
              <a:t> (cap. 7). Alianza.</a:t>
            </a:r>
            <a:endParaRPr lang="en-US" sz="1100" dirty="0"/>
          </a:p>
          <a:p>
            <a:pPr indent="0" marL="0">
              <a:spcAft>
                <a:spcPts val="600"/>
              </a:spcAft>
              <a:buNone/>
            </a:pPr>
            <a:r>
              <a:rPr lang="en-US" sz="1100" dirty="0">
                <a:solidFill>
                  <a:schemeClr val="tx1"/>
                </a:solidFill>
              </a:rPr>
              <a:t>Postigo Angón, Y. (2014). Estrategias en solución de problemas. En M. Carretero y M. Asensio (Coords.), </a:t>
            </a:r>
            <a:pPr indent="0" marL="0">
              <a:spcAft>
                <a:spcPts val="600"/>
              </a:spcAft>
              <a:buNone/>
            </a:pPr>
            <a:r>
              <a:rPr lang="en-US" sz="1100" i="1" dirty="0">
                <a:solidFill>
                  <a:schemeClr val="tx1"/>
                </a:solidFill>
              </a:rPr>
              <a:t>Psicología del pensamiento</a:t>
            </a:r>
            <a:pPr indent="0" marL="0">
              <a:spcAft>
                <a:spcPts val="600"/>
              </a:spcAft>
              <a:buNone/>
            </a:pPr>
            <a:r>
              <a:rPr lang="en-US" sz="1100" dirty="0">
                <a:solidFill>
                  <a:schemeClr val="tx1"/>
                </a:solidFill>
              </a:rPr>
              <a:t> (cap. 9). Alianza.</a:t>
            </a:r>
            <a:endParaRPr lang="en-US" sz="1100" dirty="0"/>
          </a:p>
          <a:p>
            <a:pPr indent="0" marL="0">
              <a:spcAft>
                <a:spcPts val="600"/>
              </a:spcAft>
              <a:buNone/>
            </a:pPr>
            <a:r>
              <a:rPr lang="en-US" sz="1100" dirty="0">
                <a:solidFill>
                  <a:schemeClr val="tx1"/>
                </a:solidFill>
              </a:rPr>
              <a:t>Quiroga, L. (2013). Razonamiento y representaciones mentales: Los límites entre lógica y psicología. </a:t>
            </a:r>
            <a:pPr indent="0" marL="0">
              <a:spcAft>
                <a:spcPts val="600"/>
              </a:spcAft>
              <a:buNone/>
            </a:pPr>
            <a:r>
              <a:rPr lang="en-US" sz="1100" i="1" dirty="0">
                <a:solidFill>
                  <a:schemeClr val="tx1"/>
                </a:solidFill>
              </a:rPr>
              <a:t>Praxis. Revista de Psicología, 15</a:t>
            </a:r>
            <a:pPr indent="0" marL="0">
              <a:spcAft>
                <a:spcPts val="600"/>
              </a:spcAft>
              <a:buNone/>
            </a:pPr>
            <a:r>
              <a:rPr lang="en-US" sz="1100" dirty="0">
                <a:solidFill>
                  <a:schemeClr val="tx1"/>
                </a:solidFill>
              </a:rPr>
              <a:t>(23), 69-92.</a:t>
            </a:r>
            <a:endParaRPr lang="en-US" sz="1100" dirty="0"/>
          </a:p>
          <a:p>
            <a:pPr indent="0" marL="0">
              <a:spcAft>
                <a:spcPts val="600"/>
              </a:spcAft>
              <a:buNone/>
            </a:pPr>
            <a:r>
              <a:rPr lang="en-US" sz="1100" dirty="0">
                <a:solidFill>
                  <a:schemeClr val="tx1"/>
                </a:solidFill>
              </a:rPr>
              <a:t>Valiña, M. D., y Martín, M. (2014). Razonamiento pragmático. En M. Carretero y M. Asensio (Coords.), </a:t>
            </a:r>
            <a:pPr indent="0" marL="0">
              <a:spcAft>
                <a:spcPts val="600"/>
              </a:spcAft>
              <a:buNone/>
            </a:pPr>
            <a:r>
              <a:rPr lang="en-US" sz="1100" i="1" dirty="0">
                <a:solidFill>
                  <a:schemeClr val="tx1"/>
                </a:solidFill>
              </a:rPr>
              <a:t>Psicología del pensamiento</a:t>
            </a:r>
            <a:pPr indent="0" marL="0">
              <a:spcAft>
                <a:spcPts val="600"/>
              </a:spcAft>
              <a:buNone/>
            </a:pPr>
            <a:r>
              <a:rPr lang="en-US" sz="1100" dirty="0">
                <a:solidFill>
                  <a:schemeClr val="tx1"/>
                </a:solidFill>
              </a:rPr>
              <a:t> (cap. 6). Alianza.</a:t>
            </a:r>
            <a:endParaRPr lang="en-US" sz="1100" dirty="0"/>
          </a:p>
        </p:txBody>
      </p:sp>
      <p:sp>
        <p:nvSpPr>
          <p:cNvPr id="6" name="Text 0"/>
          <p:cNvSpPr/>
          <p:nvPr>
            <p:ph idx="101" type="body" hasCustomPrompt="1"/>
          </p:nvPr>
        </p:nvSpPr>
        <p:spPr>
          <a:xfrm>
            <a:off x="457200" y="4681728"/>
            <a:ext cx="7863840" cy="347472"/>
          </a:xfrm>
          <a:prstGeom prst="rect">
            <a:avLst/>
          </a:prstGeom>
          <a:noFill/>
          <a:ln/>
        </p:spPr>
        <p:txBody>
          <a:bodyPr wrap="square" lIns="0" tIns="0" rIns="0" bIns="0" rtlCol="0" anchor="ctr"/>
          <a:lstStyle/>
          <a:p>
            <a:pPr indent="0" marL="0">
              <a:buNone/>
            </a:pPr>
            <a:endParaRPr lang="en-US" sz="1000" dirty="0"/>
          </a:p>
        </p:txBody>
      </p:sp>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Rapido y lento">
  <a:themeElements>
    <a:clrScheme name="Rapido y lento">
      <a:dk1>
        <a:srgbClr val="262A3F"/>
      </a:dk1>
      <a:lt1>
        <a:srgbClr val="FFFFFF"/>
      </a:lt1>
      <a:dk2>
        <a:srgbClr val="6B6F80"/>
      </a:dk2>
      <a:lt2>
        <a:srgbClr val="F1F2F6"/>
      </a:lt2>
      <a:accent1>
        <a:srgbClr val="E9A23B"/>
      </a:accent1>
      <a:accent2>
        <a:srgbClr val="2A8C82"/>
      </a:accent2>
      <a:accent3>
        <a:srgbClr val="D2553F"/>
      </a:accent3>
      <a:accent4>
        <a:srgbClr val="5B5F97"/>
      </a:accent4>
      <a:accent5>
        <a:srgbClr val="8FB8B2"/>
      </a:accent5>
      <a:accent6>
        <a:srgbClr val="F3C98B"/>
      </a:accent6>
      <a:hlink>
        <a:srgbClr val="2A8C82"/>
      </a:hlink>
      <a:folHlink>
        <a:srgbClr val="6B6F80"/>
      </a:folHlink>
    </a:clrScheme>
    <a:fontScheme name="Rapido y lento">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Advancing theorizing about fast-and-slow thinking (De Neys, 2023)</dc:title>
  <dc:subject>Procesos Básicos III — Presentación de artículo, Pensamiento</dc:subject>
  <dc:creator>PptxGenJS</dc:creator>
  <cp:lastModifiedBy>PptxGenJS</cp:lastModifiedBy>
  <cp:revision>1</cp:revision>
  <dcterms:created xsi:type="dcterms:W3CDTF">2026-10-27T13:52:05Z</dcterms:created>
  <dcterms:modified xsi:type="dcterms:W3CDTF">2026-10-27T13:52:05Z</dcterms:modified>
</cp:coreProperties>
</file>