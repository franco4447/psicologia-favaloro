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5143500" cx="9144000"/>
  <p:notesSz cx="6858000" cy="9144000"/>
  <p:embeddedFontLst>
    <p:embeddedFont>
      <p:font typeface="Merriweather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592CFA-82FC-4F37-B1F4-F651CDDD9860}">
  <a:tblStyle styleId="{13592CFA-82FC-4F37-B1F4-F651CDDD986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Merriweather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Merriweather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Merriweather-bold.fntdata"/><Relationship Id="rId14" Type="http://schemas.openxmlformats.org/officeDocument/2006/relationships/slide" Target="slides/slide8.xml"/><Relationship Id="rId58" Type="http://schemas.openxmlformats.org/officeDocument/2006/relationships/font" Target="fonts/Merriweather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9c83848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a9c83848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fe3ec25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fe3ec25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fe3ec25c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fe3ec25c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a9c838485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a9c838485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a9c83848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a9c83848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9c838485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a9c838485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a9c83848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a9c83848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a9c83848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a9c83848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a9c83848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a9c83848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9c838485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a9c83848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a9c838485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a9c838485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9c83848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a9c83848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a9c838485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a9c838485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a9c838485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a9c838485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f96ed94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f96ed94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ac85cc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aac85cc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fe3ec25c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fe3ec25c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a9c83848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a9c83848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a9c838485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a9c838485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850d9eb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850d9eb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a9c838485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a9c838485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850d9eb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850d9eb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a9c838485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a9c838485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a9c838485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a9c838485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a9c838485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a9c838485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850d9eb0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850d9eb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a9c838485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a9c838485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f2b6ddc3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f2b6ddc3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f2b6ddc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f2b6ddc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f2b6ddc3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f2b6ddc3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a9c83848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9a9c83848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0e9ced9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e0e9ced9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f96ed94f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df96ed94f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fe3ec25c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fe3ec25c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f96ed94f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f96ed94f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f96ed94f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f96ed94f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f96ed94f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f96ed94f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f96ed94f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df96ed94f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a9c838485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9a9c838485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fe3ec25c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fe3ec25c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fe3ec25c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fe3ec25c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a9c838485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a9c838485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a9c83848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9a9c83848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a9c838485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a9c838485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a9c838485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9a9c838485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a9c83848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9a9c83848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f96ed94f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df96ed94f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f96ed94f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df96ed94f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f96ed94f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df96ed94f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f96ed94f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df96ed94f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f96ed94f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df96ed94f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Relationship Id="rId5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Relationship Id="rId4" Type="http://schemas.openxmlformats.org/officeDocument/2006/relationships/image" Target="../media/image5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1680000"/>
            <a:ext cx="9144000" cy="25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180"/>
              <a:t>BIOLOGÍA DEL COMPORTAMIENTO</a:t>
            </a:r>
            <a:endParaRPr b="1" sz="41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3680"/>
              <a:t>Neuropsicofarmacología</a:t>
            </a:r>
            <a:endParaRPr b="1" sz="36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850"/>
              <a:t>turno vespertino 2026</a:t>
            </a:r>
            <a:endParaRPr b="1" sz="85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94200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Mariana Imperatori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Pablo Koss</a:t>
            </a:r>
            <a:endParaRPr/>
          </a:p>
        </p:txBody>
      </p:sp>
      <p:grpSp>
        <p:nvGrpSpPr>
          <p:cNvPr id="56" name="Google Shape;56;p13"/>
          <p:cNvGrpSpPr/>
          <p:nvPr/>
        </p:nvGrpSpPr>
        <p:grpSpPr>
          <a:xfrm>
            <a:off x="783225" y="338225"/>
            <a:ext cx="7817057" cy="992125"/>
            <a:chOff x="783225" y="338225"/>
            <a:chExt cx="7817057" cy="992125"/>
          </a:xfrm>
        </p:grpSpPr>
        <p:pic>
          <p:nvPicPr>
            <p:cNvPr id="57" name="Google Shape;57;p13"/>
            <p:cNvPicPr preferRelativeResize="0"/>
            <p:nvPr/>
          </p:nvPicPr>
          <p:blipFill rotWithShape="1">
            <a:blip r:embed="rId3">
              <a:alphaModFix/>
            </a:blip>
            <a:srcRect b="0" l="0" r="58910" t="0"/>
            <a:stretch/>
          </p:blipFill>
          <p:spPr>
            <a:xfrm>
              <a:off x="6279275" y="338225"/>
              <a:ext cx="2321007" cy="99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3"/>
            <p:cNvPicPr preferRelativeResize="0"/>
            <p:nvPr/>
          </p:nvPicPr>
          <p:blipFill rotWithShape="1">
            <a:blip r:embed="rId4">
              <a:alphaModFix/>
            </a:blip>
            <a:srcRect b="14842" l="6966" r="6820" t="14651"/>
            <a:stretch/>
          </p:blipFill>
          <p:spPr>
            <a:xfrm>
              <a:off x="3325650" y="338237"/>
              <a:ext cx="2724736" cy="992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83225" y="437985"/>
              <a:ext cx="2313535" cy="792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0800" y="-431700"/>
            <a:ext cx="10275048" cy="631607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type="ctrTitle"/>
          </p:nvPr>
        </p:nvSpPr>
        <p:spPr>
          <a:xfrm>
            <a:off x="0" y="3393100"/>
            <a:ext cx="4429800" cy="1575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6666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38077"/>
              <a:buFont typeface="Arial"/>
              <a:buNone/>
            </a:pPr>
            <a:r>
              <a:rPr b="1" lang="es" sz="2889">
                <a:latin typeface="Merriweather"/>
                <a:ea typeface="Merriweather"/>
                <a:cs typeface="Merriweather"/>
                <a:sym typeface="Merriweather"/>
              </a:rPr>
              <a:t>Las capacidades se manifiestan claramente </a:t>
            </a:r>
            <a:r>
              <a:rPr b="1" lang="es" sz="2889">
                <a:latin typeface="Merriweather"/>
                <a:ea typeface="Merriweather"/>
                <a:cs typeface="Merriweather"/>
                <a:sym typeface="Merriweather"/>
              </a:rPr>
              <a:t>sólo</a:t>
            </a:r>
            <a:r>
              <a:rPr b="1" lang="es" sz="2889">
                <a:latin typeface="Merriweather"/>
                <a:ea typeface="Merriweather"/>
                <a:cs typeface="Merriweather"/>
                <a:sym typeface="Merriweather"/>
              </a:rPr>
              <a:t> cuando se han realizado</a:t>
            </a:r>
            <a:endParaRPr b="1" sz="2889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24D66"/>
              </a:solidFill>
            </a:endParaRPr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88500" y="4335600"/>
            <a:ext cx="2529900" cy="1211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789">
                <a:solidFill>
                  <a:srgbClr val="524D66"/>
                </a:solidFill>
                <a:latin typeface="Merriweather"/>
                <a:ea typeface="Merriweather"/>
                <a:cs typeface="Merriweather"/>
                <a:sym typeface="Merriweather"/>
              </a:rPr>
              <a:t>Simone de Beauvoir</a:t>
            </a:r>
            <a:endParaRPr b="1" sz="1789">
              <a:solidFill>
                <a:srgbClr val="524D66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24D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Farmacología Básica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2595" l="0" r="0" t="13152"/>
          <a:stretch/>
        </p:blipFill>
        <p:spPr>
          <a:xfrm>
            <a:off x="2325825" y="534775"/>
            <a:ext cx="4114800" cy="433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554" y="975474"/>
            <a:ext cx="7150883" cy="37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81513"/>
            <a:ext cx="8600176" cy="438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325" y="318625"/>
            <a:ext cx="5464301" cy="450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18518"/>
            <a:ext cx="4907976" cy="430760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5832300" y="745825"/>
            <a:ext cx="3000000" cy="4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F1115"/>
                </a:solidFill>
                <a:highlight>
                  <a:srgbClr val="FFFFFF"/>
                </a:highlight>
              </a:rPr>
              <a:t>Ligando</a:t>
            </a:r>
            <a:br>
              <a:rPr lang="es" sz="12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</a:rPr>
              <a:t>Una sustancia que se une a receptores o moléculas, como un neurotransmisor o un fármaco que se une a receptores postsinápticos.</a:t>
            </a:r>
            <a:endParaRPr sz="12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F1115"/>
                </a:solidFill>
                <a:highlight>
                  <a:srgbClr val="FFFFFF"/>
                </a:highlight>
              </a:rPr>
              <a:t>Agonista</a:t>
            </a:r>
            <a:br>
              <a:rPr lang="es" sz="12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</a:rPr>
              <a:t>Una sustancia que imita o potencia las acciones de un transmisor u otra molécula de señalización.</a:t>
            </a:r>
            <a:endParaRPr sz="12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F1115"/>
                </a:solidFill>
                <a:highlight>
                  <a:srgbClr val="FFFFFF"/>
                </a:highlight>
              </a:rPr>
              <a:t>Antagonista</a:t>
            </a:r>
            <a:br>
              <a:rPr lang="es" sz="12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</a:rPr>
              <a:t>Una sustancia que bloquea o atenúa las acciones de un transmisor u otra molécula de señalización.</a:t>
            </a:r>
            <a:endParaRPr sz="12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rgbClr val="0F1115"/>
                </a:solidFill>
                <a:highlight>
                  <a:srgbClr val="FFFFFF"/>
                </a:highlight>
              </a:rPr>
              <a:t>Agonista parcial</a:t>
            </a:r>
            <a:br>
              <a:rPr lang="es" sz="12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</a:rPr>
              <a:t>Un fármaco que, cuando se une a un receptor, tiene un efecto menor que el que tendría el ligando endógeno.</a:t>
            </a:r>
            <a:endParaRPr sz="12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25" y="597900"/>
            <a:ext cx="8134350" cy="36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825" y="167763"/>
            <a:ext cx="5834350" cy="480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50" y="514400"/>
            <a:ext cx="5696700" cy="41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13" y="571500"/>
            <a:ext cx="8181975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075" y="249075"/>
            <a:ext cx="4799151" cy="43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75" y="400563"/>
            <a:ext cx="8244650" cy="434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550" y="802200"/>
            <a:ext cx="7698974" cy="3388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8"/>
          <p:cNvPicPr preferRelativeResize="0"/>
          <p:nvPr/>
        </p:nvPicPr>
        <p:blipFill rotWithShape="1">
          <a:blip r:embed="rId3">
            <a:alphaModFix/>
          </a:blip>
          <a:srcRect b="0" l="0" r="0" t="3744"/>
          <a:stretch/>
        </p:blipFill>
        <p:spPr>
          <a:xfrm>
            <a:off x="2204250" y="361775"/>
            <a:ext cx="4867275" cy="447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Farmacología Especial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Estado de </a:t>
            </a:r>
            <a:r>
              <a:rPr lang="es"/>
              <a:t>ánimo</a:t>
            </a:r>
            <a:r>
              <a:rPr lang="es"/>
              <a:t> - Depresión unipolar</a:t>
            </a:r>
            <a:endParaRPr/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737" y="978975"/>
            <a:ext cx="6934026" cy="376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00" y="1152475"/>
            <a:ext cx="4891550" cy="28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5762" y="-52100"/>
            <a:ext cx="38576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950" y="652463"/>
            <a:ext cx="7658100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313" y="600075"/>
            <a:ext cx="6429375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301" y="0"/>
            <a:ext cx="59573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50" y="0"/>
            <a:ext cx="83997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Acción antidepresivos</a:t>
            </a:r>
            <a:endParaRPr/>
          </a:p>
        </p:txBody>
      </p:sp>
      <p:sp>
        <p:nvSpPr>
          <p:cNvPr id="205" name="Google Shape;20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525" y="1017725"/>
            <a:ext cx="8360151" cy="39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Estado de </a:t>
            </a:r>
            <a:r>
              <a:rPr lang="es"/>
              <a:t>ánimo -  Depresión Bipolar</a:t>
            </a:r>
            <a:endParaRPr/>
          </a:p>
        </p:txBody>
      </p:sp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075" y="1095925"/>
            <a:ext cx="7185701" cy="381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600" y="0"/>
            <a:ext cx="6743099" cy="502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87" y="0"/>
            <a:ext cx="89196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638" y="269877"/>
            <a:ext cx="6444725" cy="44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type="title"/>
          </p:nvPr>
        </p:nvSpPr>
        <p:spPr>
          <a:xfrm>
            <a:off x="91500" y="106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¿Estabilizadores del humor?</a:t>
            </a:r>
            <a:endParaRPr/>
          </a:p>
        </p:txBody>
      </p:sp>
      <p:sp>
        <p:nvSpPr>
          <p:cNvPr id="240" name="Google Shape;24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1" name="Google Shape;241;p41"/>
          <p:cNvGraphicFramePr/>
          <p:nvPr/>
        </p:nvGraphicFramePr>
        <p:xfrm>
          <a:off x="41588" y="7439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{13592CFA-82FC-4F37-B1F4-F651CDDD9860}</a:tableStyleId>
              </a:tblPr>
              <a:tblGrid>
                <a:gridCol w="1535250"/>
                <a:gridCol w="1610600"/>
                <a:gridCol w="1177350"/>
                <a:gridCol w="1365725"/>
                <a:gridCol w="1149075"/>
                <a:gridCol w="1356300"/>
                <a:gridCol w="866525"/>
              </a:tblGrid>
              <a:tr h="55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0F1115"/>
                          </a:solidFill>
                        </a:rPr>
                        <a:t>Agente</a:t>
                      </a:r>
                      <a:endParaRPr b="1" sz="90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0F1115"/>
                          </a:solidFill>
                        </a:rPr>
                        <a:t>Supuestas acciones clínicas</a:t>
                      </a:r>
                      <a:endParaRPr b="1" sz="90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0F1115"/>
                          </a:solidFill>
                        </a:rPr>
                        <a:t>Orientado a manía</a:t>
                      </a:r>
                      <a:endParaRPr b="1" sz="90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900">
                          <a:solidFill>
                            <a:srgbClr val="0F1115"/>
                          </a:solidFill>
                        </a:rPr>
                        <a:t>Orientado a depresión</a:t>
                      </a:r>
                      <a:endParaRPr b="1" sz="900">
                        <a:solidFill>
                          <a:srgbClr val="0F1115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95250" marB="95250" marR="152400" marL="1524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95250" marB="95250" marR="152400" marL="1524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5250" marB="95250" marR="152400" marL="1524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42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0F1115"/>
                          </a:solidFill>
                        </a:rPr>
                        <a:t>Epilepsia</a:t>
                      </a:r>
                      <a:endParaRPr b="1" sz="90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0F1115"/>
                          </a:solidFill>
                        </a:rPr>
                        <a:t>Tratar desde arriba</a:t>
                      </a:r>
                      <a:endParaRPr b="1" sz="90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0F1115"/>
                          </a:solidFill>
                        </a:rPr>
                        <a:t>Estabilizar desde arriba</a:t>
                      </a:r>
                      <a:endParaRPr b="1" sz="90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0F1115"/>
                          </a:solidFill>
                        </a:rPr>
                        <a:t>Tratar desde abajo</a:t>
                      </a:r>
                      <a:endParaRPr b="1" sz="90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0F1115"/>
                          </a:solidFill>
                        </a:rPr>
                        <a:t>Estabilizar desde abajo</a:t>
                      </a:r>
                      <a:endParaRPr b="1" sz="90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Valproato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Carbametanfetamina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Lamotrigina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Oxcarbazepina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L</a:t>
                      </a:r>
                      <a:r>
                        <a:rPr lang="es" sz="850">
                          <a:solidFill>
                            <a:srgbClr val="0F1115"/>
                          </a:solidFill>
                        </a:rPr>
                        <a:t>icarbazepina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Riluzol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Topiramato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Gabapentina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0" marB="95250" marR="91425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Pregabalina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++++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0F1115"/>
                          </a:solidFill>
                        </a:rPr>
                        <a:t>+/-</a:t>
                      </a:r>
                      <a:endParaRPr sz="850">
                        <a:solidFill>
                          <a:srgbClr val="0F1115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5250" marB="95250" marR="152400" marL="15240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3175" y="229238"/>
            <a:ext cx="5479325" cy="468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Ansiedad</a:t>
            </a:r>
            <a:endParaRPr/>
          </a:p>
        </p:txBody>
      </p:sp>
      <p:sp>
        <p:nvSpPr>
          <p:cNvPr id="254" name="Google Shape;254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" y="835775"/>
            <a:ext cx="9144000" cy="4115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Ansiedad</a:t>
            </a:r>
            <a:endParaRPr/>
          </a:p>
        </p:txBody>
      </p:sp>
      <p:sp>
        <p:nvSpPr>
          <p:cNvPr id="261" name="Google Shape;261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950" y="785813"/>
            <a:ext cx="3848100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Ansiedad</a:t>
            </a:r>
            <a:endParaRPr/>
          </a:p>
        </p:txBody>
      </p:sp>
      <p:sp>
        <p:nvSpPr>
          <p:cNvPr id="268" name="Google Shape;268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4925" y="893750"/>
            <a:ext cx="529590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Ansiedad</a:t>
            </a:r>
            <a:endParaRPr/>
          </a:p>
        </p:txBody>
      </p:sp>
      <p:sp>
        <p:nvSpPr>
          <p:cNvPr id="275" name="Google Shape;27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2966950" cy="29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5575" y="1168450"/>
            <a:ext cx="2966950" cy="28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2527" y="1168449"/>
            <a:ext cx="3221475" cy="28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Ansiedad</a:t>
            </a:r>
            <a:endParaRPr/>
          </a:p>
        </p:txBody>
      </p:sp>
      <p:pic>
        <p:nvPicPr>
          <p:cNvPr id="284" name="Google Shape;28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0912" y="1017725"/>
            <a:ext cx="9285824" cy="365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7"/>
          <p:cNvSpPr/>
          <p:nvPr/>
        </p:nvSpPr>
        <p:spPr>
          <a:xfrm>
            <a:off x="7275975" y="2893700"/>
            <a:ext cx="177600" cy="8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7"/>
          <p:cNvSpPr/>
          <p:nvPr/>
        </p:nvSpPr>
        <p:spPr>
          <a:xfrm rot="3959304">
            <a:off x="4154427" y="2705639"/>
            <a:ext cx="177675" cy="87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48" y="-2"/>
            <a:ext cx="4405399" cy="27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8"/>
          <p:cNvPicPr preferRelativeResize="0"/>
          <p:nvPr/>
        </p:nvPicPr>
        <p:blipFill rotWithShape="1">
          <a:blip r:embed="rId4">
            <a:alphaModFix/>
          </a:blip>
          <a:srcRect b="0" l="0" r="0" t="14821"/>
          <a:stretch/>
        </p:blipFill>
        <p:spPr>
          <a:xfrm>
            <a:off x="312300" y="2703150"/>
            <a:ext cx="4728500" cy="230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4375" y="1317950"/>
            <a:ext cx="4294976" cy="29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004" y="0"/>
            <a:ext cx="531999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557" y="0"/>
            <a:ext cx="479488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Psicosis</a:t>
            </a:r>
            <a:endParaRPr/>
          </a:p>
        </p:txBody>
      </p:sp>
      <p:sp>
        <p:nvSpPr>
          <p:cNvPr id="314" name="Google Shape;314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1352550"/>
            <a:ext cx="85725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" y="1243013"/>
            <a:ext cx="874395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50" y="285750"/>
            <a:ext cx="75819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6924"/>
            <a:ext cx="9144000" cy="332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Psicosis</a:t>
            </a:r>
            <a:endParaRPr/>
          </a:p>
        </p:txBody>
      </p:sp>
      <p:sp>
        <p:nvSpPr>
          <p:cNvPr id="342" name="Google Shape;342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3" name="Google Shape;34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43" y="679525"/>
            <a:ext cx="5213109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Psicosis</a:t>
            </a:r>
            <a:endParaRPr/>
          </a:p>
        </p:txBody>
      </p:sp>
      <p:sp>
        <p:nvSpPr>
          <p:cNvPr id="349" name="Google Shape;349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0" name="Google Shape;35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647700"/>
            <a:ext cx="573405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Psicosis</a:t>
            </a:r>
            <a:endParaRPr/>
          </a:p>
        </p:txBody>
      </p:sp>
      <p:sp>
        <p:nvSpPr>
          <p:cNvPr id="356" name="Google Shape;35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7" name="Google Shape;35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992" y="0"/>
            <a:ext cx="496801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Sueño</a:t>
            </a:r>
            <a:endParaRPr/>
          </a:p>
        </p:txBody>
      </p:sp>
      <p:sp>
        <p:nvSpPr>
          <p:cNvPr id="363" name="Google Shape;363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436" y="0"/>
            <a:ext cx="545712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1" name="Google Shape;37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725" y="523875"/>
            <a:ext cx="4400550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8" name="Google Shape;37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813" y="95250"/>
            <a:ext cx="5286375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75" y="617371"/>
            <a:ext cx="4504125" cy="405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6374" y="617375"/>
            <a:ext cx="4957625" cy="41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0" y="0"/>
            <a:ext cx="55244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63"/>
          <p:cNvPicPr preferRelativeResize="0"/>
          <p:nvPr/>
        </p:nvPicPr>
        <p:blipFill rotWithShape="1">
          <a:blip r:embed="rId3">
            <a:alphaModFix/>
          </a:blip>
          <a:srcRect b="14370" l="7735" r="8281" t="5572"/>
          <a:stretch/>
        </p:blipFill>
        <p:spPr>
          <a:xfrm>
            <a:off x="1369225" y="794338"/>
            <a:ext cx="6625750" cy="35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